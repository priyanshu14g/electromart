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6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874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ElectroMart, a proposed digital marketplace for India’s electronic components ecosystem. The core idea is simple: a customer searches for a component or specification, ElectroMart matches them to verified suppliers, and the two sides compare, request quotes, discuss, and purchase — all inside one platform. Our positioning is that sourcing a component should feel as easy as ordering food online. ElectroMart is designed to connect manufacturers, distributors, traders, wholesalers, MSMEs, R&amp;D teams, OEMs, startups, repair businesses and hobbyists into one trusted ecosystem. Today we’ll walk through the market opportunity, who we serve, what makes us different, and our concept-to-prototype execution plan — moving from concept, to validation, to prototype, to pilot, to scale.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sourcing an electronic component is a fragmented, manual journey — Google search, hunting across supplier websites, WhatsApp and phone calls, manually checking specifications and datasheets, verifying suppliers, negotiating price and confirming availability, often across many separate conversations. This creates real friction: small Indian suppliers are hard to discover, product information is inconsistent, technical comparison is difficult, and credibility is hard to judge. On the opportunity side, India’s electronics ecosystem is expanding fast — production projected near US$300B by FY26, a system market near US$160B by FY25, and a 2030 target of US$500B, backed by the government’s ECMS scheme with a ₹22,919 crore outlay designed to attract ₹59,350 crore of investment and ₹4.56 lakh crore of production. To be clear — this is ecosystem context, not our addressable market. ElectroMart specifically targets the digital procurement and discovery layer sitting on top of this growth.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ElectroMart sits at the center of a two-sided ecosystem. On the customer side, R&amp;D engineers need specific components and datasheets; procurement teams need comparable quotations; OEMs need reliable bulk supply; startups and MSMEs need small MOQs and rapid prototyping support; and students and hobbyists need easy discovery and community help. On the supplier side, manufacturers gain a digital catalog and direct leads; distributors and traders gain wider reach and inventory visibility; and small businesses gain visibility and trust that they otherwise struggle to build against larger players. The key message here is that ElectroMart isn’t built for one side — it creates value simultaneously for buyers and sellers across India’s electronics ecosystem.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our most important slides. Against traditional marketplaces, ElectroMart is differentiated in thirteen ways — from mandatory verified points of contact and visible certifications, to category-specific technical specifications, parametric search, built-in community help, AI-assisted alternatives, and a core RFQ workflow. But three differentiators matter most. First, Trust — certifications, business verification, a verified point of contact, and granular reviews. Second, Technical Intelligence — component-specific specifications and true parametric search, not generic listings. Third, Community — customers, engineers and suppliers collectively solving sourcing problems together. These three pillars — Trust, Technical Intelligence and Community — are what separate ElectroMart from a generic marketplace.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customer experience actually looks like. A customer searches for “capacitor,” and ElectroMart automatically understands the category and surfaces the right technical filters — capacitance, voltage, tolerance, dielectric, ESR, ripple current, and more. For example, a customer needing a 470 microfarad, 100 volt, low-ESR capacitor under 10mm diameter gets instantly matched results. They then compare specifications, price, MOQ, stock, lead time, supplier rating, certifications and location — and verify the supplier through visible badges like GST, MSME, ISO, BIS, RoHS and CE. Finally, they connect — requesting a quote, chatting with the supplier, asking the community, or saving the product. This structured, filter-driven journey is what saves real engineering and procurement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strongest technical differentiator. Different electronic components require entirely different technical parameters — so ElectroMart does not use one generic product-registration form. Instead, every category maps to its own dynamic specification template. A capacitor listing captures capacitance, voltage rating, tolerance, dielectric, ESR and more. A resistor captures resistance, tolerance, power rating and technology. A battery captures chemistry, capacity, discharge current and cycle life. And an IC or microcontroller captures architecture, core, frequency, memory, and every relevant peripheral interface. In short, the search interface adapts to the component category — which is what makes ElectroMart feel closer to an engineering procurement platform than a generic e-commerce marketplace.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is central to ElectroMart, and it benefits both sides. When a customer can’t find an exact component, they can upload a specification, datasheet, image, circuit or BOM, and community members — including engineers and suppliers — respond with the exact part, an equivalent, an alternative manufacturer, or a technical solution, with the customer marking a Best Answer. Suppliers benefit too — by monitoring relevant requirements and responding with availability, price, MOQ, lead time or an equivalent product, which becomes a continuous lead-generation mechanism. This creates a network effect: more customers drive more technical questions, which drives more supplier participation, more useful answers, and more product discovery — which in turn brings more customers. Combined with visible certifications like GST, MSME, ISO, BIS, CE and RoHS on every supplier profile, this builds transparency before a customer even makes contact. The community is not just a support feature — it can become a genuine marketplace growth engine.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execution plan runs in five sequenced phases. Weeks one and two are about Validation — customer and supplier interviews, a competitor study, and confirming the component-search problem is real. Weeks three and four Define the MVP — features, user journeys, the component data model and search logic. Weeks five and six are Design — UX/UI for the customer interface and supplier dashboard, ending in a clickable prototype. Weeks seven through twelve are Build — authentication, the catalog with category-specific specifications, search, community, RFQ and chat. And weeks thirteen through sixteen are Pilot — starting with 10 to 20 suppliers, 100 to 500 products and 50 to 100 customers, focused initially on resistors, capacitors, batteries, connectors, sensors and ICs. Each phase has a clear deliverable, so we always know exactly what we’ve proven before moving to the next stage.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prototype is deliberately scoped. On the customer side it covers registration, search and category filters, component specifications, supplier comparison, certifications and reviews, community and chat, and RFQ. On the business side it covers registration and document upload, verification, point of contact, product registration, dynamic specifications, inventory and RFQ management. And on the admin side it covers business verification, product approval, review moderation, user management and analytics. We’ll track success across three lenses — customer metrics like search success rate and time-to-find; supplier metrics like RFQ response rate and leads generated; and marketplace metrics like active users and repeat transactions. For the pilot itself, we’re proposing initial targets — greater than 70% successful component discovery, under 5 minutes to identify suitable suppliers, and over 50% RFQ response rate — and I want to stress these are proposed targets to be validated during the pilot, not guaranteed outcomes.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this is the bigger vision. Today, sourcing is fragmented. The ElectroMart MVP brings together component search, verified suppliers, community and RFQ into one experience. From there, we expand into BOM upload, AI-driven component matching, an equivalent-part finder, and eventually inventory, ERP and logistics integration — evolving into a full AI-powered electronics procurement platform. Five pillars define our long-term competitive advantage: Discover, through intelligent parametric search; Verify, through visible certifications and a verified point of contact; Compare, across specifications, price, MOQ, lead time and supplier quality; Collaborate, through community and supplier interaction; and Procure, moving cleanly from requirement to RFQ to quotation to supplier selection. ElectroMart aims to become the trusted digital layer connecting India’s electronics component ecosystem — and we get there the same way every durable platform does: concept, prototype, pilot, and then scale.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12"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D"/>
        </a:solidFill>
        <a:effectLst/>
      </p:bgPr>
    </p:bg>
    <p:spTree>
      <p:nvGrpSpPr>
        <p:cNvPr id="1" name=""/>
        <p:cNvGrpSpPr/>
        <p:nvPr/>
      </p:nvGrpSpPr>
      <p:grpSpPr>
        <a:xfrm>
          <a:off x="0" y="0"/>
          <a:ext cx="0" cy="0"/>
          <a:chOff x="0" y="0"/>
          <a:chExt cx="0" cy="0"/>
        </a:xfrm>
      </p:grpSpPr>
      <p:sp>
        <p:nvSpPr>
          <p:cNvPr id="2" name="Shape 0"/>
          <p:cNvSpPr/>
          <p:nvPr/>
        </p:nvSpPr>
        <p:spPr>
          <a:xfrm>
            <a:off x="10698480" y="274320"/>
            <a:ext cx="54864" cy="54864"/>
          </a:xfrm>
          <a:prstGeom prst="ellipse">
            <a:avLst/>
          </a:prstGeom>
          <a:solidFill>
            <a:srgbClr val="2A4A86"/>
          </a:solidFill>
          <a:ln/>
        </p:spPr>
      </p:sp>
      <p:sp>
        <p:nvSpPr>
          <p:cNvPr id="3" name="Shape 1"/>
          <p:cNvSpPr/>
          <p:nvPr/>
        </p:nvSpPr>
        <p:spPr>
          <a:xfrm>
            <a:off x="11064240" y="274320"/>
            <a:ext cx="54864" cy="54864"/>
          </a:xfrm>
          <a:prstGeom prst="ellipse">
            <a:avLst/>
          </a:prstGeom>
          <a:solidFill>
            <a:srgbClr val="2A4A86"/>
          </a:solidFill>
          <a:ln/>
        </p:spPr>
      </p:sp>
      <p:sp>
        <p:nvSpPr>
          <p:cNvPr id="4" name="Shape 2"/>
          <p:cNvSpPr/>
          <p:nvPr/>
        </p:nvSpPr>
        <p:spPr>
          <a:xfrm>
            <a:off x="11430000" y="274320"/>
            <a:ext cx="54864" cy="54864"/>
          </a:xfrm>
          <a:prstGeom prst="ellipse">
            <a:avLst/>
          </a:prstGeom>
          <a:solidFill>
            <a:srgbClr val="2A4A86"/>
          </a:solidFill>
          <a:ln/>
        </p:spPr>
      </p:sp>
      <p:sp>
        <p:nvSpPr>
          <p:cNvPr id="5" name="Shape 3"/>
          <p:cNvSpPr/>
          <p:nvPr/>
        </p:nvSpPr>
        <p:spPr>
          <a:xfrm>
            <a:off x="10698480" y="640080"/>
            <a:ext cx="54864" cy="54864"/>
          </a:xfrm>
          <a:prstGeom prst="ellipse">
            <a:avLst/>
          </a:prstGeom>
          <a:solidFill>
            <a:srgbClr val="2A4A86"/>
          </a:solidFill>
          <a:ln/>
        </p:spPr>
      </p:sp>
      <p:sp>
        <p:nvSpPr>
          <p:cNvPr id="6" name="Shape 4"/>
          <p:cNvSpPr/>
          <p:nvPr/>
        </p:nvSpPr>
        <p:spPr>
          <a:xfrm>
            <a:off x="11064240" y="640080"/>
            <a:ext cx="54864" cy="54864"/>
          </a:xfrm>
          <a:prstGeom prst="ellipse">
            <a:avLst/>
          </a:prstGeom>
          <a:solidFill>
            <a:srgbClr val="2A4A86"/>
          </a:solidFill>
          <a:ln/>
        </p:spPr>
      </p:sp>
      <p:sp>
        <p:nvSpPr>
          <p:cNvPr id="7" name="Shape 5"/>
          <p:cNvSpPr/>
          <p:nvPr/>
        </p:nvSpPr>
        <p:spPr>
          <a:xfrm>
            <a:off x="11430000" y="640080"/>
            <a:ext cx="54864" cy="54864"/>
          </a:xfrm>
          <a:prstGeom prst="ellipse">
            <a:avLst/>
          </a:prstGeom>
          <a:solidFill>
            <a:srgbClr val="2A4A86"/>
          </a:solidFill>
          <a:ln/>
        </p:spPr>
      </p:sp>
      <p:sp>
        <p:nvSpPr>
          <p:cNvPr id="8" name="Text 6"/>
          <p:cNvSpPr/>
          <p:nvPr/>
        </p:nvSpPr>
        <p:spPr>
          <a:xfrm>
            <a:off x="548640" y="411480"/>
            <a:ext cx="11064240" cy="1051560"/>
          </a:xfrm>
          <a:prstGeom prst="rect">
            <a:avLst/>
          </a:prstGeom>
          <a:noFill/>
          <a:ln/>
        </p:spPr>
        <p:txBody>
          <a:bodyPr wrap="square" rtlCol="0" anchor="ctr"/>
          <a:lstStyle/>
          <a:p>
            <a:pPr marL="0" indent="0">
              <a:lnSpc>
                <a:spcPct val="105000"/>
              </a:lnSpc>
              <a:buNone/>
            </a:pPr>
            <a:r>
              <a:rPr lang="en-US" sz="3000" b="1" dirty="0">
                <a:solidFill>
                  <a:srgbClr val="FFFFFF"/>
                </a:solidFill>
                <a:latin typeface="Calibri" pitchFamily="34" charset="0"/>
                <a:ea typeface="Calibri" pitchFamily="34" charset="-122"/>
                <a:cs typeface="Calibri" pitchFamily="34" charset="-120"/>
              </a:rPr>
              <a:t>ELECTROMART — INDIA’S ELECTRONICS</a:t>
            </a:r>
            <a:endParaRPr lang="en-US" sz="3000" dirty="0"/>
          </a:p>
          <a:p>
            <a:pPr marL="0" indent="0">
              <a:lnSpc>
                <a:spcPct val="105000"/>
              </a:lnSpc>
              <a:buNone/>
            </a:pPr>
            <a:r>
              <a:rPr lang="en-US" sz="3000" b="1" dirty="0">
                <a:solidFill>
                  <a:srgbClr val="FFFFFF"/>
                </a:solidFill>
                <a:latin typeface="Calibri" pitchFamily="34" charset="0"/>
                <a:ea typeface="Calibri" pitchFamily="34" charset="-122"/>
                <a:cs typeface="Calibri" pitchFamily="34" charset="-120"/>
              </a:rPr>
              <a:t>COMPONENTS MARKETPLACE</a:t>
            </a:r>
            <a:endParaRPr lang="en-US" sz="3000" dirty="0"/>
          </a:p>
        </p:txBody>
      </p:sp>
      <p:sp>
        <p:nvSpPr>
          <p:cNvPr id="9" name="Text 7"/>
          <p:cNvSpPr/>
          <p:nvPr/>
        </p:nvSpPr>
        <p:spPr>
          <a:xfrm>
            <a:off x="548640" y="1481328"/>
            <a:ext cx="11064240" cy="365760"/>
          </a:xfrm>
          <a:prstGeom prst="rect">
            <a:avLst/>
          </a:prstGeom>
          <a:noFill/>
          <a:ln/>
        </p:spPr>
        <p:txBody>
          <a:bodyPr wrap="square" rtlCol="0" anchor="ctr"/>
          <a:lstStyle/>
          <a:p>
            <a:pPr marL="0" indent="0">
              <a:buNone/>
            </a:pPr>
            <a:r>
              <a:rPr lang="en-US" sz="1500" i="1" dirty="0">
                <a:solidFill>
                  <a:srgbClr val="9DB6F2"/>
                </a:solidFill>
                <a:latin typeface="Calibri" pitchFamily="34" charset="0"/>
                <a:ea typeface="Calibri" pitchFamily="34" charset="-122"/>
                <a:cs typeface="Calibri" pitchFamily="34" charset="-120"/>
              </a:rPr>
              <a:t>From Component Discovery to Procurement — One Digital Ecosystem</a:t>
            </a:r>
            <a:endParaRPr lang="en-US" sz="1500" dirty="0"/>
          </a:p>
        </p:txBody>
      </p:sp>
      <p:sp>
        <p:nvSpPr>
          <p:cNvPr id="10" name="Shape 8"/>
          <p:cNvSpPr/>
          <p:nvPr/>
        </p:nvSpPr>
        <p:spPr>
          <a:xfrm>
            <a:off x="548640" y="2011680"/>
            <a:ext cx="1678838" cy="1371600"/>
          </a:xfrm>
          <a:prstGeom prst="roundRect">
            <a:avLst>
              <a:gd name="adj" fmla="val 5333"/>
            </a:avLst>
          </a:prstGeom>
          <a:solidFill>
            <a:srgbClr val="132A54"/>
          </a:solidFill>
          <a:ln w="12700">
            <a:solidFill>
              <a:srgbClr val="2A4A86"/>
            </a:solidFill>
            <a:prstDash val="solid"/>
          </a:ln>
        </p:spPr>
      </p:sp>
      <p:sp>
        <p:nvSpPr>
          <p:cNvPr id="11" name="Shape 9"/>
          <p:cNvSpPr/>
          <p:nvPr/>
        </p:nvSpPr>
        <p:spPr>
          <a:xfrm>
            <a:off x="1077163" y="2176272"/>
            <a:ext cx="621792" cy="621792"/>
          </a:xfrm>
          <a:prstGeom prst="ellipse">
            <a:avLst/>
          </a:prstGeom>
          <a:solidFill>
            <a:srgbClr val="2F6FED"/>
          </a:solidFill>
          <a:ln/>
        </p:spPr>
      </p:sp>
      <p:pic>
        <p:nvPicPr>
          <p:cNvPr id="12" name="Image 0" descr="/home/claude/electromart/icons/users.png"/>
          <p:cNvPicPr>
            <a:picLocks noChangeAspect="1"/>
          </p:cNvPicPr>
          <p:nvPr/>
        </p:nvPicPr>
        <p:blipFill>
          <a:blip r:embed="rId3"/>
          <a:stretch>
            <a:fillRect/>
          </a:stretch>
        </p:blipFill>
        <p:spPr>
          <a:xfrm>
            <a:off x="1238829" y="2337938"/>
            <a:ext cx="298460" cy="298460"/>
          </a:xfrm>
          <a:prstGeom prst="rect">
            <a:avLst/>
          </a:prstGeom>
        </p:spPr>
      </p:pic>
      <p:sp>
        <p:nvSpPr>
          <p:cNvPr id="13" name="Text 10"/>
          <p:cNvSpPr/>
          <p:nvPr/>
        </p:nvSpPr>
        <p:spPr>
          <a:xfrm>
            <a:off x="603504" y="2889504"/>
            <a:ext cx="1569110" cy="4572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p>
        </p:txBody>
      </p:sp>
      <p:sp>
        <p:nvSpPr>
          <p:cNvPr id="14" name="Shape 11"/>
          <p:cNvSpPr/>
          <p:nvPr/>
        </p:nvSpPr>
        <p:spPr>
          <a:xfrm>
            <a:off x="2264054" y="2606040"/>
            <a:ext cx="429768" cy="182880"/>
          </a:xfrm>
          <a:prstGeom prst="rightArrow">
            <a:avLst/>
          </a:prstGeom>
          <a:solidFill>
            <a:srgbClr val="4E71B8"/>
          </a:solidFill>
          <a:ln/>
        </p:spPr>
      </p:sp>
      <p:sp>
        <p:nvSpPr>
          <p:cNvPr id="15" name="Shape 12"/>
          <p:cNvSpPr/>
          <p:nvPr/>
        </p:nvSpPr>
        <p:spPr>
          <a:xfrm>
            <a:off x="2821838" y="2011680"/>
            <a:ext cx="1678838" cy="1371600"/>
          </a:xfrm>
          <a:prstGeom prst="roundRect">
            <a:avLst>
              <a:gd name="adj" fmla="val 5333"/>
            </a:avLst>
          </a:prstGeom>
          <a:solidFill>
            <a:srgbClr val="132A54"/>
          </a:solidFill>
          <a:ln w="12700">
            <a:solidFill>
              <a:srgbClr val="2A4A86"/>
            </a:solidFill>
            <a:prstDash val="solid"/>
          </a:ln>
        </p:spPr>
      </p:sp>
      <p:sp>
        <p:nvSpPr>
          <p:cNvPr id="16" name="Shape 13"/>
          <p:cNvSpPr/>
          <p:nvPr/>
        </p:nvSpPr>
        <p:spPr>
          <a:xfrm>
            <a:off x="3350362" y="2176272"/>
            <a:ext cx="621792" cy="621792"/>
          </a:xfrm>
          <a:prstGeom prst="ellipse">
            <a:avLst/>
          </a:prstGeom>
          <a:solidFill>
            <a:srgbClr val="2F6FED"/>
          </a:solidFill>
          <a:ln/>
        </p:spPr>
      </p:sp>
      <p:pic>
        <p:nvPicPr>
          <p:cNvPr id="17" name="Image 1" descr="/home/claude/electromart/icons/search.png"/>
          <p:cNvPicPr>
            <a:picLocks noChangeAspect="1"/>
          </p:cNvPicPr>
          <p:nvPr/>
        </p:nvPicPr>
        <p:blipFill>
          <a:blip r:embed="rId4"/>
          <a:stretch>
            <a:fillRect/>
          </a:stretch>
        </p:blipFill>
        <p:spPr>
          <a:xfrm>
            <a:off x="3512028" y="2337938"/>
            <a:ext cx="298460" cy="298460"/>
          </a:xfrm>
          <a:prstGeom prst="rect">
            <a:avLst/>
          </a:prstGeom>
        </p:spPr>
      </p:pic>
      <p:sp>
        <p:nvSpPr>
          <p:cNvPr id="18" name="Text 14"/>
          <p:cNvSpPr/>
          <p:nvPr/>
        </p:nvSpPr>
        <p:spPr>
          <a:xfrm>
            <a:off x="2876702" y="2889504"/>
            <a:ext cx="1569110" cy="4572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SEARCH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SPECIFICATION</a:t>
            </a:r>
            <a:endParaRPr lang="en-US" sz="1050" dirty="0"/>
          </a:p>
        </p:txBody>
      </p:sp>
      <p:sp>
        <p:nvSpPr>
          <p:cNvPr id="19" name="Shape 15"/>
          <p:cNvSpPr/>
          <p:nvPr/>
        </p:nvSpPr>
        <p:spPr>
          <a:xfrm>
            <a:off x="4537253" y="2606040"/>
            <a:ext cx="429768" cy="182880"/>
          </a:xfrm>
          <a:prstGeom prst="rightArrow">
            <a:avLst/>
          </a:prstGeom>
          <a:solidFill>
            <a:srgbClr val="4E71B8"/>
          </a:solidFill>
          <a:ln/>
        </p:spPr>
      </p:sp>
      <p:sp>
        <p:nvSpPr>
          <p:cNvPr id="20" name="Shape 16"/>
          <p:cNvSpPr/>
          <p:nvPr/>
        </p:nvSpPr>
        <p:spPr>
          <a:xfrm>
            <a:off x="5095037" y="2011680"/>
            <a:ext cx="1678838" cy="1371600"/>
          </a:xfrm>
          <a:prstGeom prst="roundRect">
            <a:avLst>
              <a:gd name="adj" fmla="val 5333"/>
            </a:avLst>
          </a:prstGeom>
          <a:solidFill>
            <a:srgbClr val="2F6FED"/>
          </a:solidFill>
          <a:ln w="12700">
            <a:solidFill>
              <a:srgbClr val="2A4A86"/>
            </a:solidFill>
            <a:prstDash val="solid"/>
          </a:ln>
        </p:spPr>
      </p:sp>
      <p:sp>
        <p:nvSpPr>
          <p:cNvPr id="21" name="Shape 17"/>
          <p:cNvSpPr/>
          <p:nvPr/>
        </p:nvSpPr>
        <p:spPr>
          <a:xfrm>
            <a:off x="5623560" y="2176272"/>
            <a:ext cx="621792" cy="621792"/>
          </a:xfrm>
          <a:prstGeom prst="ellipse">
            <a:avLst/>
          </a:prstGeom>
          <a:solidFill>
            <a:srgbClr val="FFFFFF"/>
          </a:solidFill>
          <a:ln/>
        </p:spPr>
      </p:sp>
      <p:pic>
        <p:nvPicPr>
          <p:cNvPr id="22" name="Image 2" descr="/home/claude/electromart/icons/bolt.png"/>
          <p:cNvPicPr>
            <a:picLocks noChangeAspect="1"/>
          </p:cNvPicPr>
          <p:nvPr/>
        </p:nvPicPr>
        <p:blipFill>
          <a:blip r:embed="rId5"/>
          <a:stretch>
            <a:fillRect/>
          </a:stretch>
        </p:blipFill>
        <p:spPr>
          <a:xfrm>
            <a:off x="5785226" y="2337938"/>
            <a:ext cx="298460" cy="298460"/>
          </a:xfrm>
          <a:prstGeom prst="rect">
            <a:avLst/>
          </a:prstGeom>
        </p:spPr>
      </p:pic>
      <p:sp>
        <p:nvSpPr>
          <p:cNvPr id="23" name="Text 18"/>
          <p:cNvSpPr/>
          <p:nvPr/>
        </p:nvSpPr>
        <p:spPr>
          <a:xfrm>
            <a:off x="5149901" y="2889504"/>
            <a:ext cx="1569110" cy="4572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ELECTROMART</a:t>
            </a:r>
            <a:endParaRPr lang="en-US" sz="1050" dirty="0"/>
          </a:p>
        </p:txBody>
      </p:sp>
      <p:sp>
        <p:nvSpPr>
          <p:cNvPr id="24" name="Shape 19"/>
          <p:cNvSpPr/>
          <p:nvPr/>
        </p:nvSpPr>
        <p:spPr>
          <a:xfrm>
            <a:off x="6810451" y="2606040"/>
            <a:ext cx="429768" cy="182880"/>
          </a:xfrm>
          <a:prstGeom prst="rightArrow">
            <a:avLst/>
          </a:prstGeom>
          <a:solidFill>
            <a:srgbClr val="4E71B8"/>
          </a:solidFill>
          <a:ln/>
        </p:spPr>
      </p:sp>
      <p:sp>
        <p:nvSpPr>
          <p:cNvPr id="25" name="Shape 20"/>
          <p:cNvSpPr/>
          <p:nvPr/>
        </p:nvSpPr>
        <p:spPr>
          <a:xfrm>
            <a:off x="7368235" y="2011680"/>
            <a:ext cx="1678838" cy="1371600"/>
          </a:xfrm>
          <a:prstGeom prst="roundRect">
            <a:avLst>
              <a:gd name="adj" fmla="val 5333"/>
            </a:avLst>
          </a:prstGeom>
          <a:solidFill>
            <a:srgbClr val="132A54"/>
          </a:solidFill>
          <a:ln w="12700">
            <a:solidFill>
              <a:srgbClr val="2A4A86"/>
            </a:solidFill>
            <a:prstDash val="solid"/>
          </a:ln>
        </p:spPr>
      </p:sp>
      <p:sp>
        <p:nvSpPr>
          <p:cNvPr id="26" name="Shape 21"/>
          <p:cNvSpPr/>
          <p:nvPr/>
        </p:nvSpPr>
        <p:spPr>
          <a:xfrm>
            <a:off x="7896758" y="2176272"/>
            <a:ext cx="621792" cy="621792"/>
          </a:xfrm>
          <a:prstGeom prst="ellipse">
            <a:avLst/>
          </a:prstGeom>
          <a:solidFill>
            <a:srgbClr val="2F6FED"/>
          </a:solidFill>
          <a:ln/>
        </p:spPr>
      </p:sp>
      <p:pic>
        <p:nvPicPr>
          <p:cNvPr id="27" name="Image 3" descr="/home/claude/electromart/icons/shield.png"/>
          <p:cNvPicPr>
            <a:picLocks noChangeAspect="1"/>
          </p:cNvPicPr>
          <p:nvPr/>
        </p:nvPicPr>
        <p:blipFill>
          <a:blip r:embed="rId6"/>
          <a:stretch>
            <a:fillRect/>
          </a:stretch>
        </p:blipFill>
        <p:spPr>
          <a:xfrm>
            <a:off x="8058424" y="2337938"/>
            <a:ext cx="298460" cy="298460"/>
          </a:xfrm>
          <a:prstGeom prst="rect">
            <a:avLst/>
          </a:prstGeom>
        </p:spPr>
      </p:pic>
      <p:sp>
        <p:nvSpPr>
          <p:cNvPr id="28" name="Text 22"/>
          <p:cNvSpPr/>
          <p:nvPr/>
        </p:nvSpPr>
        <p:spPr>
          <a:xfrm>
            <a:off x="7423099" y="2889504"/>
            <a:ext cx="1569110" cy="4572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VERIFIED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SUPPLIERS</a:t>
            </a:r>
            <a:endParaRPr lang="en-US" sz="1050" dirty="0"/>
          </a:p>
        </p:txBody>
      </p:sp>
      <p:sp>
        <p:nvSpPr>
          <p:cNvPr id="29" name="Shape 23"/>
          <p:cNvSpPr/>
          <p:nvPr/>
        </p:nvSpPr>
        <p:spPr>
          <a:xfrm>
            <a:off x="9083650" y="2606040"/>
            <a:ext cx="429768" cy="182880"/>
          </a:xfrm>
          <a:prstGeom prst="rightArrow">
            <a:avLst/>
          </a:prstGeom>
          <a:solidFill>
            <a:srgbClr val="4E71B8"/>
          </a:solidFill>
          <a:ln/>
        </p:spPr>
      </p:sp>
      <p:sp>
        <p:nvSpPr>
          <p:cNvPr id="30" name="Shape 24"/>
          <p:cNvSpPr/>
          <p:nvPr/>
        </p:nvSpPr>
        <p:spPr>
          <a:xfrm>
            <a:off x="9641434" y="2011680"/>
            <a:ext cx="1678838" cy="1371600"/>
          </a:xfrm>
          <a:prstGeom prst="roundRect">
            <a:avLst>
              <a:gd name="adj" fmla="val 5333"/>
            </a:avLst>
          </a:prstGeom>
          <a:solidFill>
            <a:srgbClr val="132A54"/>
          </a:solidFill>
          <a:ln w="12700">
            <a:solidFill>
              <a:srgbClr val="2A4A86"/>
            </a:solidFill>
            <a:prstDash val="solid"/>
          </a:ln>
        </p:spPr>
      </p:sp>
      <p:sp>
        <p:nvSpPr>
          <p:cNvPr id="31" name="Shape 25"/>
          <p:cNvSpPr/>
          <p:nvPr/>
        </p:nvSpPr>
        <p:spPr>
          <a:xfrm>
            <a:off x="10169957" y="2176272"/>
            <a:ext cx="621792" cy="621792"/>
          </a:xfrm>
          <a:prstGeom prst="ellipse">
            <a:avLst/>
          </a:prstGeom>
          <a:solidFill>
            <a:srgbClr val="2F6FED"/>
          </a:solidFill>
          <a:ln/>
        </p:spPr>
      </p:sp>
      <p:pic>
        <p:nvPicPr>
          <p:cNvPr id="32" name="Image 4" descr="/home/claude/electromart/icons/handshake.png"/>
          <p:cNvPicPr>
            <a:picLocks noChangeAspect="1"/>
          </p:cNvPicPr>
          <p:nvPr/>
        </p:nvPicPr>
        <p:blipFill>
          <a:blip r:embed="rId7"/>
          <a:stretch>
            <a:fillRect/>
          </a:stretch>
        </p:blipFill>
        <p:spPr>
          <a:xfrm>
            <a:off x="10331623" y="2337938"/>
            <a:ext cx="298460" cy="298460"/>
          </a:xfrm>
          <a:prstGeom prst="rect">
            <a:avLst/>
          </a:prstGeom>
        </p:spPr>
      </p:pic>
      <p:sp>
        <p:nvSpPr>
          <p:cNvPr id="33" name="Text 26"/>
          <p:cNvSpPr/>
          <p:nvPr/>
        </p:nvSpPr>
        <p:spPr>
          <a:xfrm>
            <a:off x="9696298" y="2889504"/>
            <a:ext cx="1569110" cy="4572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COMPARE → RFQ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DISCUSS → PURCHASE</a:t>
            </a:r>
            <a:endParaRPr lang="en-US" sz="1050" dirty="0"/>
          </a:p>
        </p:txBody>
      </p:sp>
      <p:sp>
        <p:nvSpPr>
          <p:cNvPr id="34" name="Text 27"/>
          <p:cNvSpPr/>
          <p:nvPr/>
        </p:nvSpPr>
        <p:spPr>
          <a:xfrm>
            <a:off x="548640" y="3703320"/>
            <a:ext cx="1106424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“Making electronic component sourcing as simple as ordering food online.”</a:t>
            </a:r>
            <a:endParaRPr lang="en-US" sz="1600" dirty="0"/>
          </a:p>
        </p:txBody>
      </p:sp>
      <p:sp>
        <p:nvSpPr>
          <p:cNvPr id="35" name="Text 28"/>
          <p:cNvSpPr/>
          <p:nvPr/>
        </p:nvSpPr>
        <p:spPr>
          <a:xfrm>
            <a:off x="548640" y="4279392"/>
            <a:ext cx="3657600" cy="274320"/>
          </a:xfrm>
          <a:prstGeom prst="rect">
            <a:avLst/>
          </a:prstGeom>
          <a:noFill/>
          <a:ln/>
        </p:spPr>
        <p:txBody>
          <a:bodyPr wrap="square" rtlCol="0" anchor="ctr"/>
          <a:lstStyle/>
          <a:p>
            <a:pPr marL="0" indent="0">
              <a:buNone/>
            </a:pPr>
            <a:r>
              <a:rPr lang="en-US" sz="1400" b="1" kern="0" spc="150" dirty="0">
                <a:solidFill>
                  <a:srgbClr val="7FA6FF"/>
                </a:solidFill>
                <a:latin typeface="Calibri" pitchFamily="34" charset="0"/>
                <a:ea typeface="Calibri" pitchFamily="34" charset="-122"/>
                <a:cs typeface="Calibri" pitchFamily="34" charset="-120"/>
              </a:rPr>
              <a:t>ELECTROMART CONNECTS</a:t>
            </a:r>
            <a:endParaRPr lang="en-US" sz="1400" dirty="0"/>
          </a:p>
        </p:txBody>
      </p:sp>
      <p:sp>
        <p:nvSpPr>
          <p:cNvPr id="36" name="Shape 29"/>
          <p:cNvSpPr/>
          <p:nvPr/>
        </p:nvSpPr>
        <p:spPr>
          <a:xfrm>
            <a:off x="548640" y="4590288"/>
            <a:ext cx="1279246" cy="310896"/>
          </a:xfrm>
          <a:prstGeom prst="roundRect">
            <a:avLst>
              <a:gd name="adj" fmla="val 50000"/>
            </a:avLst>
          </a:prstGeom>
          <a:solidFill>
            <a:srgbClr val="132A54"/>
          </a:solidFill>
          <a:ln w="12700">
            <a:solidFill>
              <a:srgbClr val="2A4A86"/>
            </a:solidFill>
            <a:prstDash val="solid"/>
          </a:ln>
        </p:spPr>
      </p:sp>
      <p:sp>
        <p:nvSpPr>
          <p:cNvPr id="37" name="Text 30"/>
          <p:cNvSpPr/>
          <p:nvPr/>
        </p:nvSpPr>
        <p:spPr>
          <a:xfrm>
            <a:off x="548640" y="4590288"/>
            <a:ext cx="1279246"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Manufacturers</a:t>
            </a:r>
            <a:endParaRPr lang="en-US" sz="1050" dirty="0"/>
          </a:p>
        </p:txBody>
      </p:sp>
      <p:sp>
        <p:nvSpPr>
          <p:cNvPr id="38" name="Shape 31"/>
          <p:cNvSpPr/>
          <p:nvPr/>
        </p:nvSpPr>
        <p:spPr>
          <a:xfrm>
            <a:off x="1974190" y="4590288"/>
            <a:ext cx="1203350" cy="310896"/>
          </a:xfrm>
          <a:prstGeom prst="roundRect">
            <a:avLst>
              <a:gd name="adj" fmla="val 50000"/>
            </a:avLst>
          </a:prstGeom>
          <a:solidFill>
            <a:srgbClr val="132A54"/>
          </a:solidFill>
          <a:ln w="12700">
            <a:solidFill>
              <a:srgbClr val="2A4A86"/>
            </a:solidFill>
            <a:prstDash val="solid"/>
          </a:ln>
        </p:spPr>
      </p:sp>
      <p:sp>
        <p:nvSpPr>
          <p:cNvPr id="39" name="Text 32"/>
          <p:cNvSpPr/>
          <p:nvPr/>
        </p:nvSpPr>
        <p:spPr>
          <a:xfrm>
            <a:off x="1974190" y="4590288"/>
            <a:ext cx="1203350"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Distributors</a:t>
            </a:r>
            <a:endParaRPr lang="en-US" sz="1050" dirty="0"/>
          </a:p>
        </p:txBody>
      </p:sp>
      <p:sp>
        <p:nvSpPr>
          <p:cNvPr id="40" name="Shape 33"/>
          <p:cNvSpPr/>
          <p:nvPr/>
        </p:nvSpPr>
        <p:spPr>
          <a:xfrm>
            <a:off x="3323844" y="4590288"/>
            <a:ext cx="823874" cy="310896"/>
          </a:xfrm>
          <a:prstGeom prst="roundRect">
            <a:avLst>
              <a:gd name="adj" fmla="val 50000"/>
            </a:avLst>
          </a:prstGeom>
          <a:solidFill>
            <a:srgbClr val="132A54"/>
          </a:solidFill>
          <a:ln w="12700">
            <a:solidFill>
              <a:srgbClr val="2A4A86"/>
            </a:solidFill>
            <a:prstDash val="solid"/>
          </a:ln>
        </p:spPr>
      </p:sp>
      <p:sp>
        <p:nvSpPr>
          <p:cNvPr id="41" name="Text 34"/>
          <p:cNvSpPr/>
          <p:nvPr/>
        </p:nvSpPr>
        <p:spPr>
          <a:xfrm>
            <a:off x="3323844" y="4590288"/>
            <a:ext cx="823874"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Traders</a:t>
            </a:r>
            <a:endParaRPr lang="en-US" sz="1050" dirty="0"/>
          </a:p>
        </p:txBody>
      </p:sp>
      <p:sp>
        <p:nvSpPr>
          <p:cNvPr id="42" name="Shape 35"/>
          <p:cNvSpPr/>
          <p:nvPr/>
        </p:nvSpPr>
        <p:spPr>
          <a:xfrm>
            <a:off x="4294022" y="4590288"/>
            <a:ext cx="1127455" cy="310896"/>
          </a:xfrm>
          <a:prstGeom prst="roundRect">
            <a:avLst>
              <a:gd name="adj" fmla="val 50000"/>
            </a:avLst>
          </a:prstGeom>
          <a:solidFill>
            <a:srgbClr val="132A54"/>
          </a:solidFill>
          <a:ln w="12700">
            <a:solidFill>
              <a:srgbClr val="2A4A86"/>
            </a:solidFill>
            <a:prstDash val="solid"/>
          </a:ln>
        </p:spPr>
      </p:sp>
      <p:sp>
        <p:nvSpPr>
          <p:cNvPr id="43" name="Text 36"/>
          <p:cNvSpPr/>
          <p:nvPr/>
        </p:nvSpPr>
        <p:spPr>
          <a:xfrm>
            <a:off x="4294022" y="4590288"/>
            <a:ext cx="1127455"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Wholesalers</a:t>
            </a:r>
            <a:endParaRPr lang="en-US" sz="1050" dirty="0"/>
          </a:p>
        </p:txBody>
      </p:sp>
      <p:sp>
        <p:nvSpPr>
          <p:cNvPr id="44" name="Shape 37"/>
          <p:cNvSpPr/>
          <p:nvPr/>
        </p:nvSpPr>
        <p:spPr>
          <a:xfrm>
            <a:off x="5567782" y="4590288"/>
            <a:ext cx="672084" cy="310896"/>
          </a:xfrm>
          <a:prstGeom prst="roundRect">
            <a:avLst>
              <a:gd name="adj" fmla="val 50000"/>
            </a:avLst>
          </a:prstGeom>
          <a:solidFill>
            <a:srgbClr val="132A54"/>
          </a:solidFill>
          <a:ln w="12700">
            <a:solidFill>
              <a:srgbClr val="2A4A86"/>
            </a:solidFill>
            <a:prstDash val="solid"/>
          </a:ln>
        </p:spPr>
      </p:sp>
      <p:sp>
        <p:nvSpPr>
          <p:cNvPr id="45" name="Text 38"/>
          <p:cNvSpPr/>
          <p:nvPr/>
        </p:nvSpPr>
        <p:spPr>
          <a:xfrm>
            <a:off x="5567782" y="4590288"/>
            <a:ext cx="672084"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MSMEs</a:t>
            </a:r>
            <a:endParaRPr lang="en-US" sz="1050" dirty="0"/>
          </a:p>
        </p:txBody>
      </p:sp>
      <p:sp>
        <p:nvSpPr>
          <p:cNvPr id="46" name="Shape 39"/>
          <p:cNvSpPr/>
          <p:nvPr/>
        </p:nvSpPr>
        <p:spPr>
          <a:xfrm>
            <a:off x="6386170" y="4590288"/>
            <a:ext cx="975665" cy="310896"/>
          </a:xfrm>
          <a:prstGeom prst="roundRect">
            <a:avLst>
              <a:gd name="adj" fmla="val 50000"/>
            </a:avLst>
          </a:prstGeom>
          <a:solidFill>
            <a:srgbClr val="132A54"/>
          </a:solidFill>
          <a:ln w="12700">
            <a:solidFill>
              <a:srgbClr val="2A4A86"/>
            </a:solidFill>
            <a:prstDash val="solid"/>
          </a:ln>
        </p:spPr>
      </p:sp>
      <p:sp>
        <p:nvSpPr>
          <p:cNvPr id="47" name="Text 40"/>
          <p:cNvSpPr/>
          <p:nvPr/>
        </p:nvSpPr>
        <p:spPr>
          <a:xfrm>
            <a:off x="6386170" y="4590288"/>
            <a:ext cx="975665"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R&amp;D Teams</a:t>
            </a:r>
            <a:endParaRPr lang="en-US" sz="1050" dirty="0"/>
          </a:p>
        </p:txBody>
      </p:sp>
      <p:sp>
        <p:nvSpPr>
          <p:cNvPr id="48" name="Shape 41"/>
          <p:cNvSpPr/>
          <p:nvPr/>
        </p:nvSpPr>
        <p:spPr>
          <a:xfrm>
            <a:off x="7508138" y="4590288"/>
            <a:ext cx="596189" cy="310896"/>
          </a:xfrm>
          <a:prstGeom prst="roundRect">
            <a:avLst>
              <a:gd name="adj" fmla="val 50000"/>
            </a:avLst>
          </a:prstGeom>
          <a:solidFill>
            <a:srgbClr val="132A54"/>
          </a:solidFill>
          <a:ln w="12700">
            <a:solidFill>
              <a:srgbClr val="2A4A86"/>
            </a:solidFill>
            <a:prstDash val="solid"/>
          </a:ln>
        </p:spPr>
      </p:sp>
      <p:sp>
        <p:nvSpPr>
          <p:cNvPr id="49" name="Text 42"/>
          <p:cNvSpPr/>
          <p:nvPr/>
        </p:nvSpPr>
        <p:spPr>
          <a:xfrm>
            <a:off x="7508138" y="4590288"/>
            <a:ext cx="596189"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OEMs</a:t>
            </a:r>
            <a:endParaRPr lang="en-US" sz="1050" dirty="0"/>
          </a:p>
        </p:txBody>
      </p:sp>
      <p:sp>
        <p:nvSpPr>
          <p:cNvPr id="50" name="Shape 43"/>
          <p:cNvSpPr/>
          <p:nvPr/>
        </p:nvSpPr>
        <p:spPr>
          <a:xfrm>
            <a:off x="8250631" y="4590288"/>
            <a:ext cx="899770" cy="310896"/>
          </a:xfrm>
          <a:prstGeom prst="roundRect">
            <a:avLst>
              <a:gd name="adj" fmla="val 50000"/>
            </a:avLst>
          </a:prstGeom>
          <a:solidFill>
            <a:srgbClr val="132A54"/>
          </a:solidFill>
          <a:ln w="12700">
            <a:solidFill>
              <a:srgbClr val="2A4A86"/>
            </a:solidFill>
            <a:prstDash val="solid"/>
          </a:ln>
        </p:spPr>
      </p:sp>
      <p:sp>
        <p:nvSpPr>
          <p:cNvPr id="51" name="Text 44"/>
          <p:cNvSpPr/>
          <p:nvPr/>
        </p:nvSpPr>
        <p:spPr>
          <a:xfrm>
            <a:off x="8250631" y="4590288"/>
            <a:ext cx="899770"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Startups</a:t>
            </a:r>
            <a:endParaRPr lang="en-US" sz="1050" dirty="0"/>
          </a:p>
        </p:txBody>
      </p:sp>
      <p:sp>
        <p:nvSpPr>
          <p:cNvPr id="52" name="Shape 45"/>
          <p:cNvSpPr/>
          <p:nvPr/>
        </p:nvSpPr>
        <p:spPr>
          <a:xfrm>
            <a:off x="9296705" y="4590288"/>
            <a:ext cx="1582826" cy="310896"/>
          </a:xfrm>
          <a:prstGeom prst="roundRect">
            <a:avLst>
              <a:gd name="adj" fmla="val 50000"/>
            </a:avLst>
          </a:prstGeom>
          <a:solidFill>
            <a:srgbClr val="132A54"/>
          </a:solidFill>
          <a:ln w="12700">
            <a:solidFill>
              <a:srgbClr val="2A4A86"/>
            </a:solidFill>
            <a:prstDash val="solid"/>
          </a:ln>
        </p:spPr>
      </p:sp>
      <p:sp>
        <p:nvSpPr>
          <p:cNvPr id="53" name="Text 46"/>
          <p:cNvSpPr/>
          <p:nvPr/>
        </p:nvSpPr>
        <p:spPr>
          <a:xfrm>
            <a:off x="9296705" y="4590288"/>
            <a:ext cx="1582826"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Repair Businesses</a:t>
            </a:r>
            <a:endParaRPr lang="en-US" sz="1050" dirty="0"/>
          </a:p>
        </p:txBody>
      </p:sp>
      <p:sp>
        <p:nvSpPr>
          <p:cNvPr id="54" name="Shape 47"/>
          <p:cNvSpPr/>
          <p:nvPr/>
        </p:nvSpPr>
        <p:spPr>
          <a:xfrm>
            <a:off x="548640" y="4974336"/>
            <a:ext cx="1810512" cy="310896"/>
          </a:xfrm>
          <a:prstGeom prst="roundRect">
            <a:avLst>
              <a:gd name="adj" fmla="val 50000"/>
            </a:avLst>
          </a:prstGeom>
          <a:solidFill>
            <a:srgbClr val="132A54"/>
          </a:solidFill>
          <a:ln w="12700">
            <a:solidFill>
              <a:srgbClr val="2A4A86"/>
            </a:solidFill>
            <a:prstDash val="solid"/>
          </a:ln>
        </p:spPr>
      </p:sp>
      <p:sp>
        <p:nvSpPr>
          <p:cNvPr id="55" name="Text 48"/>
          <p:cNvSpPr/>
          <p:nvPr/>
        </p:nvSpPr>
        <p:spPr>
          <a:xfrm>
            <a:off x="548640" y="4974336"/>
            <a:ext cx="1810512" cy="310896"/>
          </a:xfrm>
          <a:prstGeom prst="rect">
            <a:avLst/>
          </a:prstGeom>
          <a:noFill/>
          <a:ln/>
        </p:spPr>
        <p:txBody>
          <a:bodyPr wrap="square" rtlCol="0" anchor="ctr"/>
          <a:lstStyle/>
          <a:p>
            <a:pPr marL="0" indent="0" algn="ctr">
              <a:buNone/>
            </a:pPr>
            <a:r>
              <a:rPr lang="en-US" sz="1050" dirty="0">
                <a:solidFill>
                  <a:srgbClr val="CFE0FF"/>
                </a:solidFill>
                <a:latin typeface="Calibri" pitchFamily="34" charset="0"/>
                <a:ea typeface="Calibri" pitchFamily="34" charset="-122"/>
                <a:cs typeface="Calibri" pitchFamily="34" charset="-120"/>
              </a:rPr>
              <a:t>Students / Hobbyists</a:t>
            </a:r>
            <a:endParaRPr lang="en-US" sz="1050" dirty="0"/>
          </a:p>
        </p:txBody>
      </p:sp>
      <p:sp>
        <p:nvSpPr>
          <p:cNvPr id="56" name="Text 49"/>
          <p:cNvSpPr/>
          <p:nvPr/>
        </p:nvSpPr>
        <p:spPr>
          <a:xfrm>
            <a:off x="548640" y="5477256"/>
            <a:ext cx="7315200" cy="274320"/>
          </a:xfrm>
          <a:prstGeom prst="rect">
            <a:avLst/>
          </a:prstGeom>
          <a:noFill/>
          <a:ln/>
        </p:spPr>
        <p:txBody>
          <a:bodyPr wrap="square" rtlCol="0" anchor="ctr"/>
          <a:lstStyle/>
          <a:p>
            <a:pPr marL="0" indent="0">
              <a:buNone/>
            </a:pPr>
            <a:r>
              <a:rPr lang="en-US" sz="1150" i="1" dirty="0">
                <a:solidFill>
                  <a:srgbClr val="9DB6F2"/>
                </a:solidFill>
                <a:latin typeface="Calibri" pitchFamily="34" charset="0"/>
                <a:ea typeface="Calibri" pitchFamily="34" charset="-122"/>
                <a:cs typeface="Calibri" pitchFamily="34" charset="-120"/>
              </a:rPr>
              <a:t>with one trusted digital marketplace.</a:t>
            </a:r>
            <a:endParaRPr lang="en-US" sz="1150" dirty="0"/>
          </a:p>
        </p:txBody>
      </p:sp>
      <p:sp>
        <p:nvSpPr>
          <p:cNvPr id="57" name="Shape 50"/>
          <p:cNvSpPr/>
          <p:nvPr/>
        </p:nvSpPr>
        <p:spPr>
          <a:xfrm>
            <a:off x="548640" y="6263640"/>
            <a:ext cx="1993392" cy="384048"/>
          </a:xfrm>
          <a:prstGeom prst="roundRect">
            <a:avLst>
              <a:gd name="adj" fmla="val 14286"/>
            </a:avLst>
          </a:prstGeom>
          <a:solidFill>
            <a:srgbClr val="2F6FED"/>
          </a:solidFill>
          <a:ln/>
        </p:spPr>
      </p:sp>
      <p:sp>
        <p:nvSpPr>
          <p:cNvPr id="58" name="Text 51"/>
          <p:cNvSpPr/>
          <p:nvPr/>
        </p:nvSpPr>
        <p:spPr>
          <a:xfrm>
            <a:off x="548640" y="6263640"/>
            <a:ext cx="1993392"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Concept</a:t>
            </a:r>
            <a:endParaRPr lang="en-US" sz="1400" dirty="0"/>
          </a:p>
        </p:txBody>
      </p:sp>
      <p:sp>
        <p:nvSpPr>
          <p:cNvPr id="59" name="Text 52"/>
          <p:cNvSpPr/>
          <p:nvPr/>
        </p:nvSpPr>
        <p:spPr>
          <a:xfrm>
            <a:off x="2542032" y="6263640"/>
            <a:ext cx="274320" cy="384048"/>
          </a:xfrm>
          <a:prstGeom prst="rect">
            <a:avLst/>
          </a:prstGeom>
          <a:noFill/>
          <a:ln/>
        </p:spPr>
        <p:txBody>
          <a:bodyPr wrap="square" rtlCol="0" anchor="ctr"/>
          <a:lstStyle/>
          <a:p>
            <a:pPr marL="0" indent="0" algn="ctr">
              <a:buNone/>
            </a:pPr>
            <a:r>
              <a:rPr lang="en-US" sz="1400" dirty="0">
                <a:solidFill>
                  <a:srgbClr val="5578C4"/>
                </a:solidFill>
                <a:latin typeface="Calibri" pitchFamily="34" charset="0"/>
                <a:ea typeface="Calibri" pitchFamily="34" charset="-122"/>
                <a:cs typeface="Calibri" pitchFamily="34" charset="-120"/>
              </a:rPr>
              <a:t>›</a:t>
            </a:r>
            <a:endParaRPr lang="en-US" sz="1400" dirty="0"/>
          </a:p>
        </p:txBody>
      </p:sp>
      <p:sp>
        <p:nvSpPr>
          <p:cNvPr id="60" name="Shape 53"/>
          <p:cNvSpPr/>
          <p:nvPr/>
        </p:nvSpPr>
        <p:spPr>
          <a:xfrm>
            <a:off x="2816352" y="6263640"/>
            <a:ext cx="1993392" cy="384048"/>
          </a:xfrm>
          <a:prstGeom prst="roundRect">
            <a:avLst>
              <a:gd name="adj" fmla="val 14286"/>
            </a:avLst>
          </a:prstGeom>
          <a:solidFill>
            <a:srgbClr val="FFFFFF"/>
          </a:solidFill>
          <a:ln/>
        </p:spPr>
      </p:sp>
      <p:sp>
        <p:nvSpPr>
          <p:cNvPr id="61" name="Text 54"/>
          <p:cNvSpPr/>
          <p:nvPr/>
        </p:nvSpPr>
        <p:spPr>
          <a:xfrm>
            <a:off x="2816352" y="6263640"/>
            <a:ext cx="1993392" cy="384048"/>
          </a:xfrm>
          <a:prstGeom prst="rect">
            <a:avLst/>
          </a:prstGeom>
          <a:noFill/>
          <a:ln/>
        </p:spPr>
        <p:txBody>
          <a:bodyPr wrap="square" rtlCol="0" anchor="ctr"/>
          <a:lstStyle/>
          <a:p>
            <a:pPr marL="0" indent="0" algn="ctr">
              <a:buNone/>
            </a:pPr>
            <a:r>
              <a:rPr lang="en-US" sz="1400" b="1" dirty="0">
                <a:latin typeface="Calibri" pitchFamily="34" charset="0"/>
                <a:ea typeface="Calibri" pitchFamily="34" charset="-122"/>
                <a:cs typeface="Calibri" pitchFamily="34" charset="-120"/>
              </a:rPr>
              <a:t>Validation</a:t>
            </a:r>
            <a:endParaRPr lang="en-US" sz="1400" dirty="0"/>
          </a:p>
        </p:txBody>
      </p:sp>
      <p:sp>
        <p:nvSpPr>
          <p:cNvPr id="62" name="Text 55"/>
          <p:cNvSpPr/>
          <p:nvPr/>
        </p:nvSpPr>
        <p:spPr>
          <a:xfrm>
            <a:off x="4809744" y="6263640"/>
            <a:ext cx="274320" cy="384048"/>
          </a:xfrm>
          <a:prstGeom prst="rect">
            <a:avLst/>
          </a:prstGeom>
          <a:noFill/>
          <a:ln/>
        </p:spPr>
        <p:txBody>
          <a:bodyPr wrap="square" rtlCol="0" anchor="ctr"/>
          <a:lstStyle/>
          <a:p>
            <a:pPr marL="0" indent="0" algn="ctr">
              <a:buNone/>
            </a:pPr>
            <a:r>
              <a:rPr lang="en-US" sz="1400" dirty="0">
                <a:solidFill>
                  <a:srgbClr val="5578C4"/>
                </a:solidFill>
                <a:latin typeface="Calibri" pitchFamily="34" charset="0"/>
                <a:ea typeface="Calibri" pitchFamily="34" charset="-122"/>
                <a:cs typeface="Calibri" pitchFamily="34" charset="-120"/>
              </a:rPr>
              <a:t>›</a:t>
            </a:r>
            <a:endParaRPr lang="en-US" sz="1400" dirty="0"/>
          </a:p>
        </p:txBody>
      </p:sp>
      <p:sp>
        <p:nvSpPr>
          <p:cNvPr id="63" name="Shape 56"/>
          <p:cNvSpPr/>
          <p:nvPr/>
        </p:nvSpPr>
        <p:spPr>
          <a:xfrm>
            <a:off x="5084064" y="6263640"/>
            <a:ext cx="1993392" cy="384048"/>
          </a:xfrm>
          <a:prstGeom prst="roundRect">
            <a:avLst>
              <a:gd name="adj" fmla="val 14286"/>
            </a:avLst>
          </a:prstGeom>
          <a:solidFill>
            <a:srgbClr val="FFFFFF"/>
          </a:solidFill>
          <a:ln/>
        </p:spPr>
      </p:sp>
      <p:sp>
        <p:nvSpPr>
          <p:cNvPr id="64" name="Text 57"/>
          <p:cNvSpPr/>
          <p:nvPr/>
        </p:nvSpPr>
        <p:spPr>
          <a:xfrm>
            <a:off x="5084064" y="6263640"/>
            <a:ext cx="1993392" cy="384048"/>
          </a:xfrm>
          <a:prstGeom prst="rect">
            <a:avLst/>
          </a:prstGeom>
          <a:noFill/>
          <a:ln/>
        </p:spPr>
        <p:txBody>
          <a:bodyPr wrap="square" rtlCol="0" anchor="ctr"/>
          <a:lstStyle/>
          <a:p>
            <a:pPr marL="0" indent="0" algn="ctr">
              <a:buNone/>
            </a:pPr>
            <a:r>
              <a:rPr lang="en-US" sz="1400" b="1" dirty="0">
                <a:latin typeface="Calibri" pitchFamily="34" charset="0"/>
                <a:ea typeface="Calibri" pitchFamily="34" charset="-122"/>
                <a:cs typeface="Calibri" pitchFamily="34" charset="-120"/>
              </a:rPr>
              <a:t>Prototype</a:t>
            </a:r>
            <a:endParaRPr lang="en-US" sz="1400" dirty="0"/>
          </a:p>
        </p:txBody>
      </p:sp>
      <p:sp>
        <p:nvSpPr>
          <p:cNvPr id="65" name="Text 58"/>
          <p:cNvSpPr/>
          <p:nvPr/>
        </p:nvSpPr>
        <p:spPr>
          <a:xfrm>
            <a:off x="7077456" y="6263640"/>
            <a:ext cx="274320" cy="384048"/>
          </a:xfrm>
          <a:prstGeom prst="rect">
            <a:avLst/>
          </a:prstGeom>
          <a:noFill/>
          <a:ln/>
        </p:spPr>
        <p:txBody>
          <a:bodyPr wrap="square" rtlCol="0" anchor="ctr"/>
          <a:lstStyle/>
          <a:p>
            <a:pPr marL="0" indent="0" algn="ctr">
              <a:buNone/>
            </a:pPr>
            <a:r>
              <a:rPr lang="en-US" sz="1400" dirty="0">
                <a:solidFill>
                  <a:srgbClr val="5578C4"/>
                </a:solidFill>
                <a:latin typeface="Calibri" pitchFamily="34" charset="0"/>
                <a:ea typeface="Calibri" pitchFamily="34" charset="-122"/>
                <a:cs typeface="Calibri" pitchFamily="34" charset="-120"/>
              </a:rPr>
              <a:t>›</a:t>
            </a:r>
            <a:endParaRPr lang="en-US" sz="1400" dirty="0"/>
          </a:p>
        </p:txBody>
      </p:sp>
      <p:sp>
        <p:nvSpPr>
          <p:cNvPr id="66" name="Shape 59"/>
          <p:cNvSpPr/>
          <p:nvPr/>
        </p:nvSpPr>
        <p:spPr>
          <a:xfrm>
            <a:off x="7351776" y="6263640"/>
            <a:ext cx="1993392" cy="384048"/>
          </a:xfrm>
          <a:prstGeom prst="roundRect">
            <a:avLst>
              <a:gd name="adj" fmla="val 14286"/>
            </a:avLst>
          </a:prstGeom>
          <a:solidFill>
            <a:srgbClr val="FFFFFF"/>
          </a:solidFill>
          <a:ln/>
        </p:spPr>
      </p:sp>
      <p:sp>
        <p:nvSpPr>
          <p:cNvPr id="67" name="Text 60"/>
          <p:cNvSpPr/>
          <p:nvPr/>
        </p:nvSpPr>
        <p:spPr>
          <a:xfrm>
            <a:off x="7351776" y="6263640"/>
            <a:ext cx="1993392" cy="384048"/>
          </a:xfrm>
          <a:prstGeom prst="rect">
            <a:avLst/>
          </a:prstGeom>
          <a:noFill/>
          <a:ln/>
        </p:spPr>
        <p:txBody>
          <a:bodyPr wrap="square" rtlCol="0" anchor="ctr"/>
          <a:lstStyle/>
          <a:p>
            <a:pPr marL="0" indent="0" algn="ctr">
              <a:buNone/>
            </a:pPr>
            <a:r>
              <a:rPr lang="en-US" sz="1400" b="1" dirty="0">
                <a:latin typeface="Calibri" pitchFamily="34" charset="0"/>
                <a:ea typeface="Calibri" pitchFamily="34" charset="-122"/>
                <a:cs typeface="Calibri" pitchFamily="34" charset="-120"/>
              </a:rPr>
              <a:t>Pilot</a:t>
            </a:r>
            <a:endParaRPr lang="en-US" sz="1400" dirty="0"/>
          </a:p>
        </p:txBody>
      </p:sp>
      <p:sp>
        <p:nvSpPr>
          <p:cNvPr id="68" name="Text 61"/>
          <p:cNvSpPr/>
          <p:nvPr/>
        </p:nvSpPr>
        <p:spPr>
          <a:xfrm>
            <a:off x="9345168" y="6263640"/>
            <a:ext cx="274320" cy="384048"/>
          </a:xfrm>
          <a:prstGeom prst="rect">
            <a:avLst/>
          </a:prstGeom>
          <a:noFill/>
          <a:ln/>
        </p:spPr>
        <p:txBody>
          <a:bodyPr wrap="square" rtlCol="0" anchor="ctr"/>
          <a:lstStyle/>
          <a:p>
            <a:pPr marL="0" indent="0" algn="ctr">
              <a:buNone/>
            </a:pPr>
            <a:r>
              <a:rPr lang="en-US" sz="1400" dirty="0">
                <a:solidFill>
                  <a:srgbClr val="5578C4"/>
                </a:solidFill>
                <a:latin typeface="Calibri" pitchFamily="34" charset="0"/>
                <a:ea typeface="Calibri" pitchFamily="34" charset="-122"/>
                <a:cs typeface="Calibri" pitchFamily="34" charset="-120"/>
              </a:rPr>
              <a:t>›</a:t>
            </a:r>
            <a:endParaRPr lang="en-US" sz="1400" dirty="0"/>
          </a:p>
        </p:txBody>
      </p:sp>
      <p:sp>
        <p:nvSpPr>
          <p:cNvPr id="69" name="Shape 62"/>
          <p:cNvSpPr/>
          <p:nvPr/>
        </p:nvSpPr>
        <p:spPr>
          <a:xfrm>
            <a:off x="9619488" y="6263640"/>
            <a:ext cx="1993392" cy="384048"/>
          </a:xfrm>
          <a:prstGeom prst="roundRect">
            <a:avLst>
              <a:gd name="adj" fmla="val 14286"/>
            </a:avLst>
          </a:prstGeom>
          <a:solidFill>
            <a:srgbClr val="FFFFFF"/>
          </a:solidFill>
          <a:ln/>
        </p:spPr>
      </p:sp>
      <p:sp>
        <p:nvSpPr>
          <p:cNvPr id="70" name="Text 63"/>
          <p:cNvSpPr/>
          <p:nvPr/>
        </p:nvSpPr>
        <p:spPr>
          <a:xfrm>
            <a:off x="9619488" y="6263640"/>
            <a:ext cx="1993392" cy="384048"/>
          </a:xfrm>
          <a:prstGeom prst="rect">
            <a:avLst/>
          </a:prstGeom>
          <a:noFill/>
          <a:ln/>
        </p:spPr>
        <p:txBody>
          <a:bodyPr wrap="square" rtlCol="0" anchor="ctr"/>
          <a:lstStyle/>
          <a:p>
            <a:pPr marL="0" indent="0" algn="ctr">
              <a:buNone/>
            </a:pPr>
            <a:r>
              <a:rPr lang="en-US" sz="1400" b="1" dirty="0">
                <a:latin typeface="Calibri" pitchFamily="34" charset="0"/>
                <a:ea typeface="Calibri" pitchFamily="34" charset="-122"/>
                <a:cs typeface="Calibri" pitchFamily="34" charset="-120"/>
              </a:rPr>
              <a:t>Scale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THE CASE FOR ELECTROMART</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Why Does ElectroMart Need to Exist?</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02 / 10</a:t>
            </a:r>
            <a:endParaRPr lang="en-US" sz="850" dirty="0"/>
          </a:p>
        </p:txBody>
      </p:sp>
      <p:sp>
        <p:nvSpPr>
          <p:cNvPr id="6" name="Shape 4"/>
          <p:cNvSpPr/>
          <p:nvPr/>
        </p:nvSpPr>
        <p:spPr>
          <a:xfrm>
            <a:off x="502920" y="1417320"/>
            <a:ext cx="5623560" cy="18288"/>
          </a:xfrm>
          <a:prstGeom prst="rect">
            <a:avLst/>
          </a:prstGeom>
          <a:solidFill>
            <a:srgbClr val="FFFFFF"/>
          </a:solidFill>
          <a:ln/>
        </p:spPr>
      </p:sp>
      <p:sp>
        <p:nvSpPr>
          <p:cNvPr id="7" name="Text 5"/>
          <p:cNvSpPr/>
          <p:nvPr/>
        </p:nvSpPr>
        <p:spPr>
          <a:xfrm>
            <a:off x="502920" y="1371600"/>
            <a:ext cx="5623560" cy="292608"/>
          </a:xfrm>
          <a:prstGeom prst="rect">
            <a:avLst/>
          </a:prstGeom>
          <a:noFill/>
          <a:ln/>
        </p:spPr>
        <p:txBody>
          <a:bodyPr wrap="square" rtlCol="0" anchor="ctr"/>
          <a:lstStyle/>
          <a:p>
            <a:pPr marL="0" indent="0">
              <a:buNone/>
            </a:pPr>
            <a:r>
              <a:rPr lang="en-US" sz="1600" b="1" kern="0" spc="100" dirty="0">
                <a:solidFill>
                  <a:srgbClr val="0B1F3D"/>
                </a:solidFill>
                <a:latin typeface="Calibri" pitchFamily="34" charset="0"/>
                <a:ea typeface="Calibri" pitchFamily="34" charset="-122"/>
                <a:cs typeface="Calibri" pitchFamily="34" charset="-120"/>
              </a:rPr>
              <a:t>THE CURRENT PROBLEM</a:t>
            </a:r>
            <a:endParaRPr lang="en-US" sz="1600" dirty="0"/>
          </a:p>
        </p:txBody>
      </p:sp>
      <p:sp>
        <p:nvSpPr>
          <p:cNvPr id="8" name="Shape 6"/>
          <p:cNvSpPr/>
          <p:nvPr/>
        </p:nvSpPr>
        <p:spPr>
          <a:xfrm>
            <a:off x="502920" y="1755648"/>
            <a:ext cx="5623560" cy="274320"/>
          </a:xfrm>
          <a:prstGeom prst="roundRect">
            <a:avLst>
              <a:gd name="adj" fmla="val 16667"/>
            </a:avLst>
          </a:prstGeom>
          <a:solidFill>
            <a:srgbClr val="F4F6FA"/>
          </a:solidFill>
          <a:ln w="9525">
            <a:solidFill>
              <a:srgbClr val="DDE3EE"/>
            </a:solidFill>
            <a:prstDash val="solid"/>
          </a:ln>
        </p:spPr>
      </p:sp>
      <p:sp>
        <p:nvSpPr>
          <p:cNvPr id="9" name="Text 7"/>
          <p:cNvSpPr/>
          <p:nvPr/>
        </p:nvSpPr>
        <p:spPr>
          <a:xfrm>
            <a:off x="640080" y="1755648"/>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Google Search</a:t>
            </a:r>
            <a:endParaRPr lang="en-US" sz="1400" b="1" dirty="0"/>
          </a:p>
        </p:txBody>
      </p:sp>
      <p:sp>
        <p:nvSpPr>
          <p:cNvPr id="10" name="Text 8"/>
          <p:cNvSpPr/>
          <p:nvPr/>
        </p:nvSpPr>
        <p:spPr>
          <a:xfrm>
            <a:off x="502920" y="2020824"/>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11" name="Shape 9"/>
          <p:cNvSpPr/>
          <p:nvPr/>
        </p:nvSpPr>
        <p:spPr>
          <a:xfrm>
            <a:off x="502920" y="2089404"/>
            <a:ext cx="5623560" cy="274320"/>
          </a:xfrm>
          <a:prstGeom prst="roundRect">
            <a:avLst>
              <a:gd name="adj" fmla="val 16667"/>
            </a:avLst>
          </a:prstGeom>
          <a:solidFill>
            <a:srgbClr val="F4F6FA"/>
          </a:solidFill>
          <a:ln w="9525">
            <a:solidFill>
              <a:srgbClr val="DDE3EE"/>
            </a:solidFill>
            <a:prstDash val="solid"/>
          </a:ln>
        </p:spPr>
      </p:sp>
      <p:sp>
        <p:nvSpPr>
          <p:cNvPr id="12" name="Text 10"/>
          <p:cNvSpPr/>
          <p:nvPr/>
        </p:nvSpPr>
        <p:spPr>
          <a:xfrm>
            <a:off x="640080" y="2089404"/>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Multiple Supplier Websites</a:t>
            </a:r>
            <a:endParaRPr lang="en-US" sz="1400" b="1" dirty="0"/>
          </a:p>
        </p:txBody>
      </p:sp>
      <p:sp>
        <p:nvSpPr>
          <p:cNvPr id="13" name="Text 11"/>
          <p:cNvSpPr/>
          <p:nvPr/>
        </p:nvSpPr>
        <p:spPr>
          <a:xfrm>
            <a:off x="502920" y="2354580"/>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14" name="Shape 12"/>
          <p:cNvSpPr/>
          <p:nvPr/>
        </p:nvSpPr>
        <p:spPr>
          <a:xfrm>
            <a:off x="502920" y="2423160"/>
            <a:ext cx="5623560" cy="274320"/>
          </a:xfrm>
          <a:prstGeom prst="roundRect">
            <a:avLst>
              <a:gd name="adj" fmla="val 16667"/>
            </a:avLst>
          </a:prstGeom>
          <a:solidFill>
            <a:srgbClr val="F4F6FA"/>
          </a:solidFill>
          <a:ln w="9525">
            <a:solidFill>
              <a:srgbClr val="DDE3EE"/>
            </a:solidFill>
            <a:prstDash val="solid"/>
          </a:ln>
        </p:spPr>
      </p:sp>
      <p:sp>
        <p:nvSpPr>
          <p:cNvPr id="15" name="Text 13"/>
          <p:cNvSpPr/>
          <p:nvPr/>
        </p:nvSpPr>
        <p:spPr>
          <a:xfrm>
            <a:off x="640080" y="2423160"/>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WhatsApp / Phone Calls</a:t>
            </a:r>
            <a:endParaRPr lang="en-US" sz="1400" b="1" dirty="0"/>
          </a:p>
        </p:txBody>
      </p:sp>
      <p:sp>
        <p:nvSpPr>
          <p:cNvPr id="16" name="Text 14"/>
          <p:cNvSpPr/>
          <p:nvPr/>
        </p:nvSpPr>
        <p:spPr>
          <a:xfrm>
            <a:off x="502920" y="2688336"/>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17" name="Shape 15"/>
          <p:cNvSpPr/>
          <p:nvPr/>
        </p:nvSpPr>
        <p:spPr>
          <a:xfrm>
            <a:off x="502920" y="2756916"/>
            <a:ext cx="5623560" cy="274320"/>
          </a:xfrm>
          <a:prstGeom prst="roundRect">
            <a:avLst>
              <a:gd name="adj" fmla="val 16667"/>
            </a:avLst>
          </a:prstGeom>
          <a:solidFill>
            <a:srgbClr val="F4F6FA"/>
          </a:solidFill>
          <a:ln w="9525">
            <a:solidFill>
              <a:srgbClr val="DDE3EE"/>
            </a:solidFill>
            <a:prstDash val="solid"/>
          </a:ln>
        </p:spPr>
      </p:sp>
      <p:sp>
        <p:nvSpPr>
          <p:cNvPr id="18" name="Text 16"/>
          <p:cNvSpPr/>
          <p:nvPr/>
        </p:nvSpPr>
        <p:spPr>
          <a:xfrm>
            <a:off x="640080" y="2756916"/>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Manual Specification Checking</a:t>
            </a:r>
            <a:endParaRPr lang="en-US" sz="1400" b="1" dirty="0"/>
          </a:p>
        </p:txBody>
      </p:sp>
      <p:sp>
        <p:nvSpPr>
          <p:cNvPr id="19" name="Text 17"/>
          <p:cNvSpPr/>
          <p:nvPr/>
        </p:nvSpPr>
        <p:spPr>
          <a:xfrm>
            <a:off x="502920" y="3022092"/>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502920" y="3090672"/>
            <a:ext cx="5623560" cy="274320"/>
          </a:xfrm>
          <a:prstGeom prst="roundRect">
            <a:avLst>
              <a:gd name="adj" fmla="val 16667"/>
            </a:avLst>
          </a:prstGeom>
          <a:solidFill>
            <a:srgbClr val="F4F6FA"/>
          </a:solidFill>
          <a:ln w="9525">
            <a:solidFill>
              <a:srgbClr val="DDE3EE"/>
            </a:solidFill>
            <a:prstDash val="solid"/>
          </a:ln>
        </p:spPr>
      </p:sp>
      <p:sp>
        <p:nvSpPr>
          <p:cNvPr id="21" name="Text 19"/>
          <p:cNvSpPr/>
          <p:nvPr/>
        </p:nvSpPr>
        <p:spPr>
          <a:xfrm>
            <a:off x="640080" y="3090672"/>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Datasheet Comparison</a:t>
            </a:r>
            <a:endParaRPr lang="en-US" sz="1400" b="1" dirty="0"/>
          </a:p>
        </p:txBody>
      </p:sp>
      <p:sp>
        <p:nvSpPr>
          <p:cNvPr id="22" name="Text 20"/>
          <p:cNvSpPr/>
          <p:nvPr/>
        </p:nvSpPr>
        <p:spPr>
          <a:xfrm>
            <a:off x="502920" y="3355848"/>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502920" y="3424428"/>
            <a:ext cx="5623560" cy="274320"/>
          </a:xfrm>
          <a:prstGeom prst="roundRect">
            <a:avLst>
              <a:gd name="adj" fmla="val 16667"/>
            </a:avLst>
          </a:prstGeom>
          <a:solidFill>
            <a:srgbClr val="F4F6FA"/>
          </a:solidFill>
          <a:ln w="9525">
            <a:solidFill>
              <a:srgbClr val="DDE3EE"/>
            </a:solidFill>
            <a:prstDash val="solid"/>
          </a:ln>
        </p:spPr>
      </p:sp>
      <p:sp>
        <p:nvSpPr>
          <p:cNvPr id="24" name="Text 22"/>
          <p:cNvSpPr/>
          <p:nvPr/>
        </p:nvSpPr>
        <p:spPr>
          <a:xfrm>
            <a:off x="640080" y="3424428"/>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Supplier Verification</a:t>
            </a:r>
            <a:endParaRPr lang="en-US" sz="1400" b="1" dirty="0"/>
          </a:p>
        </p:txBody>
      </p:sp>
      <p:sp>
        <p:nvSpPr>
          <p:cNvPr id="25" name="Text 23"/>
          <p:cNvSpPr/>
          <p:nvPr/>
        </p:nvSpPr>
        <p:spPr>
          <a:xfrm>
            <a:off x="502920" y="3689604"/>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26" name="Shape 24"/>
          <p:cNvSpPr/>
          <p:nvPr/>
        </p:nvSpPr>
        <p:spPr>
          <a:xfrm>
            <a:off x="502920" y="3758184"/>
            <a:ext cx="5623560" cy="274320"/>
          </a:xfrm>
          <a:prstGeom prst="roundRect">
            <a:avLst>
              <a:gd name="adj" fmla="val 16667"/>
            </a:avLst>
          </a:prstGeom>
          <a:solidFill>
            <a:srgbClr val="F4F6FA"/>
          </a:solidFill>
          <a:ln w="9525">
            <a:solidFill>
              <a:srgbClr val="DDE3EE"/>
            </a:solidFill>
            <a:prstDash val="solid"/>
          </a:ln>
        </p:spPr>
      </p:sp>
      <p:sp>
        <p:nvSpPr>
          <p:cNvPr id="27" name="Text 25"/>
          <p:cNvSpPr/>
          <p:nvPr/>
        </p:nvSpPr>
        <p:spPr>
          <a:xfrm>
            <a:off x="640080" y="3758184"/>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Price Negotiation</a:t>
            </a:r>
            <a:endParaRPr lang="en-US" sz="1400" b="1" dirty="0"/>
          </a:p>
        </p:txBody>
      </p:sp>
      <p:sp>
        <p:nvSpPr>
          <p:cNvPr id="28" name="Text 26"/>
          <p:cNvSpPr/>
          <p:nvPr/>
        </p:nvSpPr>
        <p:spPr>
          <a:xfrm>
            <a:off x="502920" y="4023360"/>
            <a:ext cx="5623560" cy="128016"/>
          </a:xfrm>
          <a:prstGeom prst="rect">
            <a:avLst/>
          </a:prstGeom>
          <a:noFill/>
          <a:ln/>
        </p:spPr>
        <p:txBody>
          <a:bodyPr wrap="square" rtlCol="0" anchor="ctr"/>
          <a:lstStyle/>
          <a:p>
            <a:pPr marL="0" indent="0" algn="ctr">
              <a:buNone/>
            </a:pPr>
            <a:r>
              <a:rPr lang="en-US" sz="900" dirty="0">
                <a:solidFill>
                  <a:srgbClr val="5A6786"/>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502920" y="4091940"/>
            <a:ext cx="5623560" cy="274320"/>
          </a:xfrm>
          <a:prstGeom prst="roundRect">
            <a:avLst>
              <a:gd name="adj" fmla="val 16667"/>
            </a:avLst>
          </a:prstGeom>
          <a:solidFill>
            <a:srgbClr val="F4F6FA"/>
          </a:solidFill>
          <a:ln w="9525">
            <a:solidFill>
              <a:srgbClr val="DDE3EE"/>
            </a:solidFill>
            <a:prstDash val="solid"/>
          </a:ln>
        </p:spPr>
      </p:sp>
      <p:sp>
        <p:nvSpPr>
          <p:cNvPr id="30" name="Text 28"/>
          <p:cNvSpPr/>
          <p:nvPr/>
        </p:nvSpPr>
        <p:spPr>
          <a:xfrm>
            <a:off x="640080" y="4091940"/>
            <a:ext cx="5349240" cy="274320"/>
          </a:xfrm>
          <a:prstGeom prst="rect">
            <a:avLst/>
          </a:prstGeom>
          <a:noFill/>
          <a:ln/>
        </p:spPr>
        <p:txBody>
          <a:bodyPr wrap="square" rtlCol="0" anchor="ctr"/>
          <a:lstStyle/>
          <a:p>
            <a:pPr marL="0" indent="0">
              <a:buNone/>
            </a:pPr>
            <a:r>
              <a:rPr lang="en-US" sz="1400" b="1" dirty="0">
                <a:solidFill>
                  <a:srgbClr val="16213E"/>
                </a:solidFill>
                <a:latin typeface="Calibri" pitchFamily="34" charset="0"/>
                <a:ea typeface="Calibri" pitchFamily="34" charset="-122"/>
                <a:cs typeface="Calibri" pitchFamily="34" charset="-120"/>
              </a:rPr>
              <a:t>Availability Confirmation</a:t>
            </a:r>
            <a:endParaRPr lang="en-US" sz="1400" b="1" dirty="0"/>
          </a:p>
        </p:txBody>
      </p:sp>
      <p:sp>
        <p:nvSpPr>
          <p:cNvPr id="31" name="Shape 29"/>
          <p:cNvSpPr/>
          <p:nvPr/>
        </p:nvSpPr>
        <p:spPr>
          <a:xfrm>
            <a:off x="502920" y="4443984"/>
            <a:ext cx="5623560" cy="1650492"/>
          </a:xfrm>
          <a:prstGeom prst="roundRect">
            <a:avLst>
              <a:gd name="adj" fmla="val 3871"/>
            </a:avLst>
          </a:prstGeom>
          <a:solidFill>
            <a:srgbClr val="FDECEC"/>
          </a:solidFill>
          <a:ln/>
        </p:spPr>
      </p:sp>
      <p:sp>
        <p:nvSpPr>
          <p:cNvPr id="32" name="Text 30"/>
          <p:cNvSpPr/>
          <p:nvPr/>
        </p:nvSpPr>
        <p:spPr>
          <a:xfrm>
            <a:off x="667512" y="4517136"/>
            <a:ext cx="5294376" cy="1280160"/>
          </a:xfrm>
          <a:prstGeom prst="rect">
            <a:avLst/>
          </a:prstGeom>
          <a:noFill/>
          <a:ln/>
        </p:spPr>
        <p:txBody>
          <a:bodyPr wrap="square" rtlCol="0" anchor="t"/>
          <a:lstStyle/>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Fragmented supplier ecosystem</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Small Indian suppliers hard to discover</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Inconsistent product information</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Difficult technical comparison</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Supplier credibility hard to judge</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Certifications not easily visible</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Manual RFQ process</a:t>
            </a:r>
            <a:endParaRPr lang="en-US" sz="1050" dirty="0"/>
          </a:p>
          <a:p>
            <a:pPr marL="152400" indent="-152400">
              <a:lnSpc>
                <a:spcPct val="112000"/>
              </a:lnSpc>
              <a:buSzPct val="100000"/>
              <a:buChar char="●"/>
            </a:pPr>
            <a:r>
              <a:rPr lang="en-US" sz="1050" dirty="0">
                <a:solidFill>
                  <a:srgbClr val="8A2A2A"/>
                </a:solidFill>
                <a:latin typeface="Calibri" pitchFamily="34" charset="0"/>
                <a:ea typeface="Calibri" pitchFamily="34" charset="-122"/>
                <a:cs typeface="Calibri" pitchFamily="34" charset="-120"/>
              </a:rPr>
              <a:t>Technical doubts need separate channels</a:t>
            </a:r>
            <a:endParaRPr lang="en-US" sz="1050" dirty="0"/>
          </a:p>
        </p:txBody>
      </p:sp>
      <p:sp>
        <p:nvSpPr>
          <p:cNvPr id="33" name="Text 31"/>
          <p:cNvSpPr/>
          <p:nvPr/>
        </p:nvSpPr>
        <p:spPr>
          <a:xfrm>
            <a:off x="6446520" y="1371600"/>
            <a:ext cx="5257800" cy="457200"/>
          </a:xfrm>
          <a:prstGeom prst="rect">
            <a:avLst/>
          </a:prstGeom>
          <a:noFill/>
          <a:ln/>
        </p:spPr>
        <p:txBody>
          <a:bodyPr wrap="square" rtlCol="0" anchor="ctr"/>
          <a:lstStyle/>
          <a:p>
            <a:pPr marL="0" indent="0">
              <a:buNone/>
            </a:pPr>
            <a:r>
              <a:rPr lang="en-US" sz="1250" b="1" kern="0" spc="50" dirty="0">
                <a:solidFill>
                  <a:srgbClr val="0B1F3D"/>
                </a:solidFill>
                <a:latin typeface="Calibri" pitchFamily="34" charset="0"/>
                <a:ea typeface="Calibri" pitchFamily="34" charset="-122"/>
                <a:cs typeface="Calibri" pitchFamily="34" charset="-120"/>
              </a:rPr>
              <a:t>INDIA ELECTRONICS ECOSYSTEM — MARKET CONTEXT / OPPORTUNITY</a:t>
            </a:r>
            <a:endParaRPr lang="en-US" sz="1250" dirty="0"/>
          </a:p>
        </p:txBody>
      </p:sp>
      <p:sp>
        <p:nvSpPr>
          <p:cNvPr id="34" name="Shape 32"/>
          <p:cNvSpPr/>
          <p:nvPr/>
        </p:nvSpPr>
        <p:spPr>
          <a:xfrm>
            <a:off x="6446520" y="1783080"/>
            <a:ext cx="1630680" cy="1234440"/>
          </a:xfrm>
          <a:prstGeom prst="roundRect">
            <a:avLst>
              <a:gd name="adj" fmla="val 5926"/>
            </a:avLst>
          </a:prstGeom>
          <a:solidFill>
            <a:srgbClr val="0B1F3D"/>
          </a:solidFill>
          <a:ln/>
        </p:spPr>
      </p:sp>
      <p:sp>
        <p:nvSpPr>
          <p:cNvPr id="35" name="Text 33"/>
          <p:cNvSpPr/>
          <p:nvPr/>
        </p:nvSpPr>
        <p:spPr>
          <a:xfrm>
            <a:off x="6519672" y="1874520"/>
            <a:ext cx="1484376" cy="502920"/>
          </a:xfrm>
          <a:prstGeom prst="rect">
            <a:avLst/>
          </a:prstGeom>
          <a:noFill/>
          <a:ln/>
        </p:spPr>
        <p:txBody>
          <a:bodyPr wrap="square"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~US$300B</a:t>
            </a:r>
            <a:endParaRPr lang="en-US" sz="2100" dirty="0"/>
          </a:p>
        </p:txBody>
      </p:sp>
      <p:sp>
        <p:nvSpPr>
          <p:cNvPr id="36" name="Text 34"/>
          <p:cNvSpPr/>
          <p:nvPr/>
        </p:nvSpPr>
        <p:spPr>
          <a:xfrm>
            <a:off x="6519672" y="2377440"/>
            <a:ext cx="1484376" cy="603504"/>
          </a:xfrm>
          <a:prstGeom prst="rect">
            <a:avLst/>
          </a:prstGeom>
          <a:noFill/>
          <a:ln/>
        </p:spPr>
        <p:txBody>
          <a:bodyPr wrap="square" rtlCol="0" anchor="t"/>
          <a:lstStyle/>
          <a:p>
            <a:pPr marL="0" indent="0" algn="l">
              <a:buNone/>
            </a:pPr>
            <a:r>
              <a:rPr lang="en-US" sz="1000" dirty="0">
                <a:solidFill>
                  <a:srgbClr val="C7D6F5"/>
                </a:solidFill>
                <a:latin typeface="Calibri" pitchFamily="34" charset="0"/>
                <a:ea typeface="Calibri" pitchFamily="34" charset="-122"/>
                <a:cs typeface="Calibri" pitchFamily="34" charset="-120"/>
              </a:rPr>
              <a:t>India electronics production, projected by FY26</a:t>
            </a:r>
            <a:endParaRPr lang="en-US" sz="1000" dirty="0"/>
          </a:p>
        </p:txBody>
      </p:sp>
      <p:sp>
        <p:nvSpPr>
          <p:cNvPr id="37" name="Shape 35"/>
          <p:cNvSpPr/>
          <p:nvPr/>
        </p:nvSpPr>
        <p:spPr>
          <a:xfrm>
            <a:off x="8260080" y="1783080"/>
            <a:ext cx="1630680" cy="1234440"/>
          </a:xfrm>
          <a:prstGeom prst="roundRect">
            <a:avLst>
              <a:gd name="adj" fmla="val 5926"/>
            </a:avLst>
          </a:prstGeom>
          <a:solidFill>
            <a:srgbClr val="0B1F3D"/>
          </a:solidFill>
          <a:ln/>
        </p:spPr>
      </p:sp>
      <p:sp>
        <p:nvSpPr>
          <p:cNvPr id="38" name="Text 36"/>
          <p:cNvSpPr/>
          <p:nvPr/>
        </p:nvSpPr>
        <p:spPr>
          <a:xfrm>
            <a:off x="8333232" y="1874520"/>
            <a:ext cx="1484376" cy="502920"/>
          </a:xfrm>
          <a:prstGeom prst="rect">
            <a:avLst/>
          </a:prstGeom>
          <a:noFill/>
          <a:ln/>
        </p:spPr>
        <p:txBody>
          <a:bodyPr wrap="square"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~US$160B</a:t>
            </a:r>
            <a:endParaRPr lang="en-US" sz="2100" dirty="0"/>
          </a:p>
        </p:txBody>
      </p:sp>
      <p:sp>
        <p:nvSpPr>
          <p:cNvPr id="39" name="Text 37"/>
          <p:cNvSpPr/>
          <p:nvPr/>
        </p:nvSpPr>
        <p:spPr>
          <a:xfrm>
            <a:off x="8333232" y="2377440"/>
            <a:ext cx="1484376" cy="603504"/>
          </a:xfrm>
          <a:prstGeom prst="rect">
            <a:avLst/>
          </a:prstGeom>
          <a:noFill/>
          <a:ln/>
        </p:spPr>
        <p:txBody>
          <a:bodyPr wrap="square" rtlCol="0" anchor="t"/>
          <a:lstStyle/>
          <a:p>
            <a:pPr marL="0" indent="0" algn="l">
              <a:buNone/>
            </a:pPr>
            <a:r>
              <a:rPr lang="en-US" sz="1000" dirty="0">
                <a:solidFill>
                  <a:srgbClr val="C7D6F5"/>
                </a:solidFill>
                <a:latin typeface="Calibri" pitchFamily="34" charset="0"/>
                <a:ea typeface="Calibri" pitchFamily="34" charset="-122"/>
                <a:cs typeface="Calibri" pitchFamily="34" charset="-120"/>
              </a:rPr>
              <a:t>India electronics system market, projected by FY25</a:t>
            </a:r>
            <a:endParaRPr lang="en-US" sz="1000" dirty="0"/>
          </a:p>
        </p:txBody>
      </p:sp>
      <p:sp>
        <p:nvSpPr>
          <p:cNvPr id="40" name="Shape 38"/>
          <p:cNvSpPr/>
          <p:nvPr/>
        </p:nvSpPr>
        <p:spPr>
          <a:xfrm>
            <a:off x="10073640" y="1783080"/>
            <a:ext cx="1630680" cy="1234440"/>
          </a:xfrm>
          <a:prstGeom prst="roundRect">
            <a:avLst>
              <a:gd name="adj" fmla="val 5926"/>
            </a:avLst>
          </a:prstGeom>
          <a:solidFill>
            <a:srgbClr val="0B1F3D"/>
          </a:solidFill>
          <a:ln/>
        </p:spPr>
      </p:sp>
      <p:sp>
        <p:nvSpPr>
          <p:cNvPr id="41" name="Text 39"/>
          <p:cNvSpPr/>
          <p:nvPr/>
        </p:nvSpPr>
        <p:spPr>
          <a:xfrm>
            <a:off x="10146792" y="1874520"/>
            <a:ext cx="1484376" cy="502920"/>
          </a:xfrm>
          <a:prstGeom prst="rect">
            <a:avLst/>
          </a:prstGeom>
          <a:noFill/>
          <a:ln/>
        </p:spPr>
        <p:txBody>
          <a:bodyPr wrap="square" rtlCol="0" anchor="ctr"/>
          <a:lstStyle/>
          <a:p>
            <a:pPr marL="0" indent="0" algn="l">
              <a:buNone/>
            </a:pPr>
            <a:r>
              <a:rPr lang="en-US" sz="2100" b="1" dirty="0">
                <a:solidFill>
                  <a:srgbClr val="FFFFFF"/>
                </a:solidFill>
                <a:latin typeface="Calibri" pitchFamily="34" charset="0"/>
                <a:ea typeface="Calibri" pitchFamily="34" charset="-122"/>
                <a:cs typeface="Calibri" pitchFamily="34" charset="-120"/>
              </a:rPr>
              <a:t>US$500B</a:t>
            </a:r>
            <a:endParaRPr lang="en-US" sz="2100" dirty="0"/>
          </a:p>
        </p:txBody>
      </p:sp>
      <p:sp>
        <p:nvSpPr>
          <p:cNvPr id="42" name="Text 40"/>
          <p:cNvSpPr/>
          <p:nvPr/>
        </p:nvSpPr>
        <p:spPr>
          <a:xfrm>
            <a:off x="10146792" y="2377440"/>
            <a:ext cx="1484376" cy="603504"/>
          </a:xfrm>
          <a:prstGeom prst="rect">
            <a:avLst/>
          </a:prstGeom>
          <a:noFill/>
          <a:ln/>
        </p:spPr>
        <p:txBody>
          <a:bodyPr wrap="square" rtlCol="0" anchor="t"/>
          <a:lstStyle/>
          <a:p>
            <a:pPr marL="0" indent="0" algn="l">
              <a:buNone/>
            </a:pPr>
            <a:r>
              <a:rPr lang="en-US" sz="1000" dirty="0">
                <a:solidFill>
                  <a:srgbClr val="C7D6F5"/>
                </a:solidFill>
                <a:latin typeface="Calibri" pitchFamily="34" charset="0"/>
                <a:ea typeface="Calibri" pitchFamily="34" charset="-122"/>
                <a:cs typeface="Calibri" pitchFamily="34" charset="-120"/>
              </a:rPr>
              <a:t>Targeted electronics manufacturing output by 2030</a:t>
            </a:r>
            <a:endParaRPr lang="en-US" sz="1000" dirty="0"/>
          </a:p>
        </p:txBody>
      </p:sp>
      <p:sp>
        <p:nvSpPr>
          <p:cNvPr id="43" name="Shape 41"/>
          <p:cNvSpPr/>
          <p:nvPr/>
        </p:nvSpPr>
        <p:spPr>
          <a:xfrm>
            <a:off x="6446520" y="3200400"/>
            <a:ext cx="5257800" cy="1554480"/>
          </a:xfrm>
          <a:prstGeom prst="roundRect">
            <a:avLst>
              <a:gd name="adj" fmla="val 4706"/>
            </a:avLst>
          </a:prstGeom>
          <a:solidFill>
            <a:srgbClr val="E4F5EE"/>
          </a:solidFill>
          <a:ln/>
        </p:spPr>
      </p:sp>
      <p:sp>
        <p:nvSpPr>
          <p:cNvPr id="44" name="Text 42"/>
          <p:cNvSpPr/>
          <p:nvPr/>
        </p:nvSpPr>
        <p:spPr>
          <a:xfrm>
            <a:off x="6594566" y="3310128"/>
            <a:ext cx="4892040" cy="274320"/>
          </a:xfrm>
          <a:prstGeom prst="rect">
            <a:avLst/>
          </a:prstGeom>
          <a:noFill/>
          <a:ln/>
        </p:spPr>
        <p:txBody>
          <a:bodyPr wrap="square" rtlCol="0" anchor="ctr"/>
          <a:lstStyle/>
          <a:p>
            <a:pPr marL="0" indent="0">
              <a:buNone/>
            </a:pPr>
            <a:r>
              <a:rPr lang="en-US" sz="1600" b="1" dirty="0">
                <a:solidFill>
                  <a:srgbClr val="145C41"/>
                </a:solidFill>
                <a:latin typeface="Calibri" pitchFamily="34" charset="0"/>
                <a:ea typeface="Calibri" pitchFamily="34" charset="-122"/>
                <a:cs typeface="Calibri" pitchFamily="34" charset="-120"/>
              </a:rPr>
              <a:t>Electronics Component Manufacturing Scheme (ECMS)</a:t>
            </a:r>
            <a:endParaRPr lang="en-US" sz="1600" dirty="0"/>
          </a:p>
        </p:txBody>
      </p:sp>
      <p:sp>
        <p:nvSpPr>
          <p:cNvPr id="45" name="Text 43"/>
          <p:cNvSpPr/>
          <p:nvPr/>
        </p:nvSpPr>
        <p:spPr>
          <a:xfrm>
            <a:off x="6629400" y="3639312"/>
            <a:ext cx="1539240" cy="365760"/>
          </a:xfrm>
          <a:prstGeom prst="rect">
            <a:avLst/>
          </a:prstGeom>
          <a:noFill/>
          <a:ln/>
        </p:spPr>
        <p:txBody>
          <a:bodyPr wrap="square" rtlCol="0" anchor="ctr"/>
          <a:lstStyle/>
          <a:p>
            <a:pPr marL="0" indent="0" algn="l">
              <a:buNone/>
            </a:pPr>
            <a:r>
              <a:rPr lang="en-US" sz="1500" b="1" dirty="0">
                <a:solidFill>
                  <a:srgbClr val="1FA97A"/>
                </a:solidFill>
                <a:latin typeface="Calibri" pitchFamily="34" charset="0"/>
                <a:ea typeface="Calibri" pitchFamily="34" charset="-122"/>
                <a:cs typeface="Calibri" pitchFamily="34" charset="-120"/>
              </a:rPr>
              <a:t>₹22,919 Cr</a:t>
            </a:r>
            <a:endParaRPr lang="en-US" sz="1500" dirty="0"/>
          </a:p>
        </p:txBody>
      </p:sp>
      <p:sp>
        <p:nvSpPr>
          <p:cNvPr id="46" name="Text 44"/>
          <p:cNvSpPr/>
          <p:nvPr/>
        </p:nvSpPr>
        <p:spPr>
          <a:xfrm>
            <a:off x="6629400" y="3986784"/>
            <a:ext cx="1539240" cy="502920"/>
          </a:xfrm>
          <a:prstGeom prst="rect">
            <a:avLst/>
          </a:prstGeom>
          <a:noFill/>
          <a:ln/>
        </p:spPr>
        <p:txBody>
          <a:bodyPr wrap="square" rtlCol="0" anchor="t"/>
          <a:lstStyle/>
          <a:p>
            <a:pPr marL="0" indent="0" algn="l">
              <a:buNone/>
            </a:pPr>
            <a:r>
              <a:rPr lang="en-US" sz="1000" dirty="0">
                <a:solidFill>
                  <a:srgbClr val="2E6E52"/>
                </a:solidFill>
                <a:latin typeface="Calibri" pitchFamily="34" charset="0"/>
                <a:ea typeface="Calibri" pitchFamily="34" charset="-122"/>
                <a:cs typeface="Calibri" pitchFamily="34" charset="-120"/>
              </a:rPr>
              <a:t>Government Outlay</a:t>
            </a:r>
            <a:endParaRPr lang="en-US" sz="1000" dirty="0"/>
          </a:p>
        </p:txBody>
      </p:sp>
      <p:sp>
        <p:nvSpPr>
          <p:cNvPr id="47" name="Text 45"/>
          <p:cNvSpPr/>
          <p:nvPr/>
        </p:nvSpPr>
        <p:spPr>
          <a:xfrm>
            <a:off x="8305800" y="3639312"/>
            <a:ext cx="1539240" cy="365760"/>
          </a:xfrm>
          <a:prstGeom prst="rect">
            <a:avLst/>
          </a:prstGeom>
          <a:noFill/>
          <a:ln/>
        </p:spPr>
        <p:txBody>
          <a:bodyPr wrap="square" rtlCol="0" anchor="ctr"/>
          <a:lstStyle/>
          <a:p>
            <a:pPr marL="0" indent="0" algn="l">
              <a:buNone/>
            </a:pPr>
            <a:r>
              <a:rPr lang="en-US" sz="1500" b="1" dirty="0">
                <a:solidFill>
                  <a:srgbClr val="1FA97A"/>
                </a:solidFill>
                <a:latin typeface="Calibri" pitchFamily="34" charset="0"/>
                <a:ea typeface="Calibri" pitchFamily="34" charset="-122"/>
                <a:cs typeface="Calibri" pitchFamily="34" charset="-120"/>
              </a:rPr>
              <a:t>₹59,350 Cr</a:t>
            </a:r>
            <a:endParaRPr lang="en-US" sz="1500" dirty="0"/>
          </a:p>
        </p:txBody>
      </p:sp>
      <p:sp>
        <p:nvSpPr>
          <p:cNvPr id="48" name="Text 46"/>
          <p:cNvSpPr/>
          <p:nvPr/>
        </p:nvSpPr>
        <p:spPr>
          <a:xfrm>
            <a:off x="8305800" y="3986784"/>
            <a:ext cx="1539240" cy="502920"/>
          </a:xfrm>
          <a:prstGeom prst="rect">
            <a:avLst/>
          </a:prstGeom>
          <a:noFill/>
          <a:ln/>
        </p:spPr>
        <p:txBody>
          <a:bodyPr wrap="square" rtlCol="0" anchor="t"/>
          <a:lstStyle/>
          <a:p>
            <a:pPr marL="0" indent="0" algn="l">
              <a:buNone/>
            </a:pPr>
            <a:r>
              <a:rPr lang="en-US" sz="1000" dirty="0">
                <a:solidFill>
                  <a:srgbClr val="2E6E52"/>
                </a:solidFill>
                <a:latin typeface="Calibri" pitchFamily="34" charset="0"/>
                <a:ea typeface="Calibri" pitchFamily="34" charset="-122"/>
                <a:cs typeface="Calibri" pitchFamily="34" charset="-120"/>
              </a:rPr>
              <a:t>Investment Attracted</a:t>
            </a:r>
            <a:endParaRPr lang="en-US" sz="1000" dirty="0"/>
          </a:p>
        </p:txBody>
      </p:sp>
      <p:sp>
        <p:nvSpPr>
          <p:cNvPr id="49" name="Text 47"/>
          <p:cNvSpPr/>
          <p:nvPr/>
        </p:nvSpPr>
        <p:spPr>
          <a:xfrm>
            <a:off x="9982200" y="3639312"/>
            <a:ext cx="1539240" cy="365760"/>
          </a:xfrm>
          <a:prstGeom prst="rect">
            <a:avLst/>
          </a:prstGeom>
          <a:noFill/>
          <a:ln/>
        </p:spPr>
        <p:txBody>
          <a:bodyPr wrap="square" rtlCol="0" anchor="ctr"/>
          <a:lstStyle/>
          <a:p>
            <a:pPr marL="0" indent="0" algn="l">
              <a:buNone/>
            </a:pPr>
            <a:r>
              <a:rPr lang="en-US" sz="1500" b="1" dirty="0">
                <a:solidFill>
                  <a:srgbClr val="1FA97A"/>
                </a:solidFill>
                <a:latin typeface="Calibri" pitchFamily="34" charset="0"/>
                <a:ea typeface="Calibri" pitchFamily="34" charset="-122"/>
                <a:cs typeface="Calibri" pitchFamily="34" charset="-120"/>
              </a:rPr>
              <a:t>₹4,56,500 Cr</a:t>
            </a:r>
            <a:endParaRPr lang="en-US" sz="1500" dirty="0"/>
          </a:p>
        </p:txBody>
      </p:sp>
      <p:sp>
        <p:nvSpPr>
          <p:cNvPr id="50" name="Text 48"/>
          <p:cNvSpPr/>
          <p:nvPr/>
        </p:nvSpPr>
        <p:spPr>
          <a:xfrm>
            <a:off x="9982200" y="3986784"/>
            <a:ext cx="1539240" cy="502920"/>
          </a:xfrm>
          <a:prstGeom prst="rect">
            <a:avLst/>
          </a:prstGeom>
          <a:noFill/>
          <a:ln/>
        </p:spPr>
        <p:txBody>
          <a:bodyPr wrap="square" rtlCol="0" anchor="t"/>
          <a:lstStyle/>
          <a:p>
            <a:pPr marL="0" indent="0" algn="l">
              <a:buNone/>
            </a:pPr>
            <a:r>
              <a:rPr lang="en-US" sz="1000" dirty="0">
                <a:solidFill>
                  <a:srgbClr val="2E6E52"/>
                </a:solidFill>
                <a:latin typeface="Calibri" pitchFamily="34" charset="0"/>
                <a:ea typeface="Calibri" pitchFamily="34" charset="-122"/>
                <a:cs typeface="Calibri" pitchFamily="34" charset="-120"/>
              </a:rPr>
              <a:t>Production Generated</a:t>
            </a:r>
            <a:endParaRPr lang="en-US" sz="1000" dirty="0"/>
          </a:p>
        </p:txBody>
      </p:sp>
      <p:sp>
        <p:nvSpPr>
          <p:cNvPr id="51" name="Text 49"/>
          <p:cNvSpPr/>
          <p:nvPr/>
        </p:nvSpPr>
        <p:spPr>
          <a:xfrm>
            <a:off x="6629400" y="4350771"/>
            <a:ext cx="4892040" cy="274320"/>
          </a:xfrm>
          <a:prstGeom prst="rect">
            <a:avLst/>
          </a:prstGeom>
          <a:noFill/>
          <a:ln/>
        </p:spPr>
        <p:txBody>
          <a:bodyPr wrap="square" rtlCol="0" anchor="ctr"/>
          <a:lstStyle/>
          <a:p>
            <a:pPr marL="0" indent="0">
              <a:buNone/>
            </a:pPr>
            <a:r>
              <a:rPr lang="en-US" sz="1200" b="1" dirty="0">
                <a:solidFill>
                  <a:srgbClr val="2E6E52"/>
                </a:solidFill>
                <a:latin typeface="Calibri" pitchFamily="34" charset="0"/>
                <a:ea typeface="Calibri" pitchFamily="34" charset="-122"/>
                <a:cs typeface="Calibri" pitchFamily="34" charset="-120"/>
              </a:rPr>
              <a:t>Government policy is actively encouraging domestic electronics component manufacturing, over the scheme’s tenure.</a:t>
            </a:r>
            <a:endParaRPr lang="en-US" sz="1200" b="1" dirty="0"/>
          </a:p>
        </p:txBody>
      </p:sp>
      <p:sp>
        <p:nvSpPr>
          <p:cNvPr id="52" name="Shape 50"/>
          <p:cNvSpPr/>
          <p:nvPr/>
        </p:nvSpPr>
        <p:spPr>
          <a:xfrm>
            <a:off x="6446520" y="4864608"/>
            <a:ext cx="5257800" cy="1051560"/>
          </a:xfrm>
          <a:prstGeom prst="roundRect">
            <a:avLst>
              <a:gd name="adj" fmla="val 6957"/>
            </a:avLst>
          </a:prstGeom>
          <a:solidFill>
            <a:srgbClr val="2F6FED"/>
          </a:solidFill>
          <a:ln/>
        </p:spPr>
      </p:sp>
      <p:sp>
        <p:nvSpPr>
          <p:cNvPr id="53" name="Text 51"/>
          <p:cNvSpPr/>
          <p:nvPr/>
        </p:nvSpPr>
        <p:spPr>
          <a:xfrm>
            <a:off x="6647688" y="4864608"/>
            <a:ext cx="4855464" cy="1051560"/>
          </a:xfrm>
          <a:prstGeom prst="rect">
            <a:avLst/>
          </a:prstGeom>
          <a:noFill/>
          <a:ln/>
        </p:spPr>
        <p:txBody>
          <a:bodyPr wrap="square"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ElectroMart targets the digital procurement and discovery layer within this rapidly expanding ecosystem.</a:t>
            </a:r>
            <a:endParaRPr lang="en-US" sz="1200" dirty="0"/>
          </a:p>
        </p:txBody>
      </p:sp>
      <p:sp>
        <p:nvSpPr>
          <p:cNvPr id="54" name="Text 52"/>
          <p:cNvSpPr/>
          <p:nvPr/>
        </p:nvSpPr>
        <p:spPr>
          <a:xfrm>
            <a:off x="6446520" y="5989320"/>
            <a:ext cx="5257800" cy="457200"/>
          </a:xfrm>
          <a:prstGeom prst="rect">
            <a:avLst/>
          </a:prstGeom>
          <a:noFill/>
          <a:ln/>
        </p:spPr>
        <p:txBody>
          <a:bodyPr wrap="square" rtlCol="0" anchor="t"/>
          <a:lstStyle/>
          <a:p>
            <a:pPr marL="0" indent="0">
              <a:buNone/>
            </a:pPr>
            <a:r>
              <a:rPr lang="en-US" sz="900" i="1" dirty="0">
                <a:solidFill>
                  <a:srgbClr val="5A6786"/>
                </a:solidFill>
                <a:latin typeface="Calibri" pitchFamily="34" charset="0"/>
                <a:ea typeface="Calibri" pitchFamily="34" charset="-122"/>
                <a:cs typeface="Calibri" pitchFamily="34" charset="-120"/>
              </a:rPr>
              <a:t>Sources: MeitY / PIB / Government of India, Invest India – Electronics Component Manufacturing Scheme (ECMS); India electronics production &amp; manufacturing targets (FY26 / 2030). Figures represent overall ecosystem context, not ElectroMart’s addressable market.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ECOSYSTEM MAP</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Who Benefits from ElectroMart?</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03 / 10</a:t>
            </a:r>
            <a:endParaRPr lang="en-US" sz="850" dirty="0"/>
          </a:p>
        </p:txBody>
      </p:sp>
      <p:sp>
        <p:nvSpPr>
          <p:cNvPr id="6" name="Shape 4"/>
          <p:cNvSpPr/>
          <p:nvPr/>
        </p:nvSpPr>
        <p:spPr>
          <a:xfrm>
            <a:off x="5367528" y="3063240"/>
            <a:ext cx="1463040" cy="1463040"/>
          </a:xfrm>
          <a:prstGeom prst="ellipse">
            <a:avLst/>
          </a:prstGeom>
          <a:solidFill>
            <a:schemeClr val="accent1">
              <a:lumMod val="40000"/>
              <a:lumOff val="60000"/>
            </a:schemeClr>
          </a:solidFill>
          <a:ln w="25400">
            <a:solidFill>
              <a:srgbClr val="2F6FED"/>
            </a:solidFill>
            <a:prstDash val="solid"/>
          </a:ln>
        </p:spPr>
      </p:sp>
      <p:pic>
        <p:nvPicPr>
          <p:cNvPr id="7" name="Image 0" descr="/home/claude/electromart/icons/bolt.png"/>
          <p:cNvPicPr>
            <a:picLocks noChangeAspect="1"/>
          </p:cNvPicPr>
          <p:nvPr/>
        </p:nvPicPr>
        <p:blipFill>
          <a:blip r:embed="rId3"/>
          <a:stretch>
            <a:fillRect/>
          </a:stretch>
        </p:blipFill>
        <p:spPr>
          <a:xfrm>
            <a:off x="5824728" y="3520440"/>
            <a:ext cx="548640" cy="548640"/>
          </a:xfrm>
          <a:prstGeom prst="rect">
            <a:avLst/>
          </a:prstGeom>
        </p:spPr>
      </p:pic>
      <p:sp>
        <p:nvSpPr>
          <p:cNvPr id="8" name="Text 5"/>
          <p:cNvSpPr/>
          <p:nvPr/>
        </p:nvSpPr>
        <p:spPr>
          <a:xfrm>
            <a:off x="4818888" y="4617720"/>
            <a:ext cx="2560320" cy="274320"/>
          </a:xfrm>
          <a:prstGeom prst="rect">
            <a:avLst/>
          </a:prstGeom>
          <a:noFill/>
          <a:ln/>
        </p:spPr>
        <p:txBody>
          <a:bodyPr wrap="square" rtlCol="0" anchor="ctr"/>
          <a:lstStyle/>
          <a:p>
            <a:pPr marL="0" indent="0" algn="ctr">
              <a:buNone/>
            </a:pPr>
            <a:r>
              <a:rPr lang="en-US" sz="1200" b="1" dirty="0">
                <a:solidFill>
                  <a:srgbClr val="0B1F3D"/>
                </a:solidFill>
                <a:latin typeface="Calibri" pitchFamily="34" charset="0"/>
                <a:ea typeface="Calibri" pitchFamily="34" charset="-122"/>
                <a:cs typeface="Calibri" pitchFamily="34" charset="-120"/>
              </a:rPr>
              <a:t>ELECTROMART</a:t>
            </a:r>
            <a:endParaRPr lang="en-US" sz="1200" dirty="0"/>
          </a:p>
        </p:txBody>
      </p:sp>
      <p:sp>
        <p:nvSpPr>
          <p:cNvPr id="9" name="Text 6"/>
          <p:cNvSpPr/>
          <p:nvPr/>
        </p:nvSpPr>
        <p:spPr>
          <a:xfrm>
            <a:off x="457200" y="1371600"/>
            <a:ext cx="4297680" cy="274320"/>
          </a:xfrm>
          <a:prstGeom prst="rect">
            <a:avLst/>
          </a:prstGeom>
          <a:noFill/>
          <a:ln/>
        </p:spPr>
        <p:txBody>
          <a:bodyPr wrap="square" rtlCol="0" anchor="ctr"/>
          <a:lstStyle/>
          <a:p>
            <a:pPr marL="0" indent="0">
              <a:buNone/>
            </a:pPr>
            <a:r>
              <a:rPr lang="en-US" sz="1400" b="1" kern="0" spc="100" dirty="0">
                <a:solidFill>
                  <a:srgbClr val="1D4FBF"/>
                </a:solidFill>
                <a:latin typeface="Calibri" pitchFamily="34" charset="0"/>
                <a:ea typeface="Calibri" pitchFamily="34" charset="-122"/>
                <a:cs typeface="Calibri" pitchFamily="34" charset="-120"/>
              </a:rPr>
              <a:t>CUSTOMER SIDE — WHAT THEY NEED</a:t>
            </a:r>
            <a:endParaRPr lang="en-US" sz="1400" dirty="0"/>
          </a:p>
        </p:txBody>
      </p:sp>
      <p:sp>
        <p:nvSpPr>
          <p:cNvPr id="10" name="Shape 7"/>
          <p:cNvSpPr/>
          <p:nvPr/>
        </p:nvSpPr>
        <p:spPr>
          <a:xfrm>
            <a:off x="457200" y="1691640"/>
            <a:ext cx="4297680" cy="749808"/>
          </a:xfrm>
          <a:prstGeom prst="roundRect">
            <a:avLst>
              <a:gd name="adj" fmla="val 975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1" name="Shape 8"/>
          <p:cNvSpPr/>
          <p:nvPr/>
        </p:nvSpPr>
        <p:spPr>
          <a:xfrm>
            <a:off x="603504" y="1847088"/>
            <a:ext cx="438912" cy="438912"/>
          </a:xfrm>
          <a:prstGeom prst="ellipse">
            <a:avLst/>
          </a:prstGeom>
          <a:solidFill>
            <a:srgbClr val="2F6FED"/>
          </a:solidFill>
          <a:ln/>
        </p:spPr>
      </p:sp>
      <p:pic>
        <p:nvPicPr>
          <p:cNvPr id="12" name="Image 1" descr="/home/claude/electromart/icons/flask.png"/>
          <p:cNvPicPr>
            <a:picLocks noChangeAspect="1"/>
          </p:cNvPicPr>
          <p:nvPr/>
        </p:nvPicPr>
        <p:blipFill>
          <a:blip r:embed="rId4"/>
          <a:stretch>
            <a:fillRect/>
          </a:stretch>
        </p:blipFill>
        <p:spPr>
          <a:xfrm>
            <a:off x="717621" y="1961205"/>
            <a:ext cx="210678" cy="210678"/>
          </a:xfrm>
          <a:prstGeom prst="rect">
            <a:avLst/>
          </a:prstGeom>
        </p:spPr>
      </p:pic>
      <p:sp>
        <p:nvSpPr>
          <p:cNvPr id="13" name="Text 9"/>
          <p:cNvSpPr/>
          <p:nvPr/>
        </p:nvSpPr>
        <p:spPr>
          <a:xfrm>
            <a:off x="1170432" y="1764792"/>
            <a:ext cx="3474720" cy="256032"/>
          </a:xfrm>
          <a:prstGeom prst="rect">
            <a:avLst/>
          </a:prstGeom>
          <a:noFill/>
          <a:ln/>
        </p:spPr>
        <p:txBody>
          <a:bodyPr wrap="square" rtlCol="0" anchor="ctr"/>
          <a:lstStyle/>
          <a:p>
            <a:pPr marL="0" indent="0">
              <a:buNone/>
            </a:pPr>
            <a:r>
              <a:rPr lang="en-US" sz="1200" b="1" dirty="0">
                <a:solidFill>
                  <a:srgbClr val="0B1F3D"/>
                </a:solidFill>
                <a:latin typeface="Calibri" pitchFamily="34" charset="0"/>
                <a:ea typeface="Calibri" pitchFamily="34" charset="-122"/>
                <a:cs typeface="Calibri" pitchFamily="34" charset="-120"/>
              </a:rPr>
              <a:t>R&amp;D Engineers</a:t>
            </a:r>
            <a:endParaRPr lang="en-US" sz="1200" dirty="0"/>
          </a:p>
        </p:txBody>
      </p:sp>
      <p:sp>
        <p:nvSpPr>
          <p:cNvPr id="14" name="Text 10"/>
          <p:cNvSpPr/>
          <p:nvPr/>
        </p:nvSpPr>
        <p:spPr>
          <a:xfrm>
            <a:off x="1170432" y="2039112"/>
            <a:ext cx="3474720" cy="365760"/>
          </a:xfrm>
          <a:prstGeom prst="rect">
            <a:avLst/>
          </a:prstGeom>
          <a:noFill/>
          <a:ln/>
        </p:spPr>
        <p:txBody>
          <a:bodyPr wrap="square" rtlCol="0" anchor="t"/>
          <a:lstStyle/>
          <a:p>
            <a:pPr marL="0" indent="0">
              <a:buNone/>
            </a:pPr>
            <a:r>
              <a:rPr lang="en-US" sz="1100" dirty="0">
                <a:solidFill>
                  <a:srgbClr val="5A6786"/>
                </a:solidFill>
                <a:latin typeface="Calibri" pitchFamily="34" charset="0"/>
                <a:ea typeface="Calibri" pitchFamily="34" charset="-122"/>
                <a:cs typeface="Calibri" pitchFamily="34" charset="-120"/>
              </a:rPr>
              <a:t>Components, specs, equivalents, fast discovery, datasheets</a:t>
            </a:r>
            <a:endParaRPr lang="en-US" sz="1100" dirty="0"/>
          </a:p>
        </p:txBody>
      </p:sp>
      <p:sp>
        <p:nvSpPr>
          <p:cNvPr id="15" name="Shape 11"/>
          <p:cNvSpPr/>
          <p:nvPr/>
        </p:nvSpPr>
        <p:spPr>
          <a:xfrm>
            <a:off x="457200" y="2532888"/>
            <a:ext cx="4297680" cy="749808"/>
          </a:xfrm>
          <a:prstGeom prst="roundRect">
            <a:avLst>
              <a:gd name="adj" fmla="val 975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6" name="Shape 12"/>
          <p:cNvSpPr/>
          <p:nvPr/>
        </p:nvSpPr>
        <p:spPr>
          <a:xfrm>
            <a:off x="603504" y="2688336"/>
            <a:ext cx="438912" cy="438912"/>
          </a:xfrm>
          <a:prstGeom prst="ellipse">
            <a:avLst/>
          </a:prstGeom>
          <a:solidFill>
            <a:srgbClr val="2F6FED"/>
          </a:solidFill>
          <a:ln/>
        </p:spPr>
      </p:sp>
      <p:pic>
        <p:nvPicPr>
          <p:cNvPr id="17" name="Image 2" descr="/home/claude/electromart/icons/chart.png"/>
          <p:cNvPicPr>
            <a:picLocks noChangeAspect="1"/>
          </p:cNvPicPr>
          <p:nvPr/>
        </p:nvPicPr>
        <p:blipFill>
          <a:blip r:embed="rId5"/>
          <a:stretch>
            <a:fillRect/>
          </a:stretch>
        </p:blipFill>
        <p:spPr>
          <a:xfrm>
            <a:off x="717621" y="2802453"/>
            <a:ext cx="210678" cy="210678"/>
          </a:xfrm>
          <a:prstGeom prst="rect">
            <a:avLst/>
          </a:prstGeom>
        </p:spPr>
      </p:pic>
      <p:sp>
        <p:nvSpPr>
          <p:cNvPr id="18" name="Text 13"/>
          <p:cNvSpPr/>
          <p:nvPr/>
        </p:nvSpPr>
        <p:spPr>
          <a:xfrm>
            <a:off x="1170432" y="2606040"/>
            <a:ext cx="3474720" cy="256032"/>
          </a:xfrm>
          <a:prstGeom prst="rect">
            <a:avLst/>
          </a:prstGeom>
          <a:noFill/>
          <a:ln/>
        </p:spPr>
        <p:txBody>
          <a:bodyPr wrap="square" rtlCol="0" anchor="ctr"/>
          <a:lstStyle/>
          <a:p>
            <a:pPr marL="0" indent="0">
              <a:buNone/>
            </a:pPr>
            <a:r>
              <a:rPr lang="en-US" sz="1200" b="1" dirty="0">
                <a:solidFill>
                  <a:srgbClr val="0B1F3D"/>
                </a:solidFill>
                <a:latin typeface="Calibri" pitchFamily="34" charset="0"/>
                <a:ea typeface="Calibri" pitchFamily="34" charset="-122"/>
                <a:cs typeface="Calibri" pitchFamily="34" charset="-120"/>
              </a:rPr>
              <a:t>Procurement Teams</a:t>
            </a:r>
            <a:endParaRPr lang="en-US" sz="1200" dirty="0"/>
          </a:p>
        </p:txBody>
      </p:sp>
      <p:sp>
        <p:nvSpPr>
          <p:cNvPr id="19" name="Text 14"/>
          <p:cNvSpPr/>
          <p:nvPr/>
        </p:nvSpPr>
        <p:spPr>
          <a:xfrm>
            <a:off x="1170432" y="2880360"/>
            <a:ext cx="3474720" cy="365760"/>
          </a:xfrm>
          <a:prstGeom prst="rect">
            <a:avLst/>
          </a:prstGeom>
          <a:noFill/>
          <a:ln/>
        </p:spPr>
        <p:txBody>
          <a:bodyPr wrap="square" rtlCol="0" anchor="t"/>
          <a:lstStyle/>
          <a:p>
            <a:pPr marL="0" indent="0">
              <a:buNone/>
            </a:pPr>
            <a:r>
              <a:rPr lang="en-US" sz="1100" dirty="0">
                <a:solidFill>
                  <a:srgbClr val="5A6786"/>
                </a:solidFill>
                <a:latin typeface="Calibri" pitchFamily="34" charset="0"/>
                <a:ea typeface="Calibri" pitchFamily="34" charset="-122"/>
                <a:cs typeface="Calibri" pitchFamily="34" charset="-120"/>
              </a:rPr>
              <a:t>Quotations, comparison, MOQ, lead time, pricing</a:t>
            </a:r>
            <a:endParaRPr lang="en-US" sz="1100" dirty="0"/>
          </a:p>
        </p:txBody>
      </p:sp>
      <p:sp>
        <p:nvSpPr>
          <p:cNvPr id="20" name="Shape 15"/>
          <p:cNvSpPr/>
          <p:nvPr/>
        </p:nvSpPr>
        <p:spPr>
          <a:xfrm>
            <a:off x="457200" y="3374136"/>
            <a:ext cx="4297680" cy="749808"/>
          </a:xfrm>
          <a:prstGeom prst="roundRect">
            <a:avLst>
              <a:gd name="adj" fmla="val 975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1" name="Shape 16"/>
          <p:cNvSpPr/>
          <p:nvPr/>
        </p:nvSpPr>
        <p:spPr>
          <a:xfrm>
            <a:off x="603504" y="3529584"/>
            <a:ext cx="438912" cy="438912"/>
          </a:xfrm>
          <a:prstGeom prst="ellipse">
            <a:avLst/>
          </a:prstGeom>
          <a:solidFill>
            <a:srgbClr val="2F6FED"/>
          </a:solidFill>
          <a:ln/>
        </p:spPr>
      </p:sp>
      <p:pic>
        <p:nvPicPr>
          <p:cNvPr id="22" name="Image 3" descr="/home/claude/electromart/icons/factory.png"/>
          <p:cNvPicPr>
            <a:picLocks noChangeAspect="1"/>
          </p:cNvPicPr>
          <p:nvPr/>
        </p:nvPicPr>
        <p:blipFill>
          <a:blip r:embed="rId6"/>
          <a:stretch>
            <a:fillRect/>
          </a:stretch>
        </p:blipFill>
        <p:spPr>
          <a:xfrm>
            <a:off x="717621" y="3643701"/>
            <a:ext cx="210678" cy="210678"/>
          </a:xfrm>
          <a:prstGeom prst="rect">
            <a:avLst/>
          </a:prstGeom>
        </p:spPr>
      </p:pic>
      <p:sp>
        <p:nvSpPr>
          <p:cNvPr id="23" name="Text 17"/>
          <p:cNvSpPr/>
          <p:nvPr/>
        </p:nvSpPr>
        <p:spPr>
          <a:xfrm>
            <a:off x="1170432" y="3447288"/>
            <a:ext cx="3474720" cy="256032"/>
          </a:xfrm>
          <a:prstGeom prst="rect">
            <a:avLst/>
          </a:prstGeom>
          <a:noFill/>
          <a:ln/>
        </p:spPr>
        <p:txBody>
          <a:bodyPr wrap="square" rtlCol="0" anchor="ctr"/>
          <a:lstStyle/>
          <a:p>
            <a:pPr marL="0" indent="0">
              <a:buNone/>
            </a:pPr>
            <a:r>
              <a:rPr lang="en-US" sz="1200" b="1" dirty="0">
                <a:solidFill>
                  <a:srgbClr val="0B1F3D"/>
                </a:solidFill>
                <a:latin typeface="Calibri" pitchFamily="34" charset="0"/>
                <a:ea typeface="Calibri" pitchFamily="34" charset="-122"/>
                <a:cs typeface="Calibri" pitchFamily="34" charset="-120"/>
              </a:rPr>
              <a:t>OEMs &amp; Manufacturers</a:t>
            </a:r>
            <a:endParaRPr lang="en-US" sz="1200" dirty="0"/>
          </a:p>
        </p:txBody>
      </p:sp>
      <p:sp>
        <p:nvSpPr>
          <p:cNvPr id="24" name="Text 18"/>
          <p:cNvSpPr/>
          <p:nvPr/>
        </p:nvSpPr>
        <p:spPr>
          <a:xfrm>
            <a:off x="1170432" y="3721608"/>
            <a:ext cx="3474720" cy="365760"/>
          </a:xfrm>
          <a:prstGeom prst="rect">
            <a:avLst/>
          </a:prstGeom>
          <a:noFill/>
          <a:ln/>
        </p:spPr>
        <p:txBody>
          <a:bodyPr wrap="square" rtlCol="0" anchor="t"/>
          <a:lstStyle/>
          <a:p>
            <a:pPr marL="0" indent="0">
              <a:buNone/>
            </a:pPr>
            <a:r>
              <a:rPr lang="en-US" sz="1100" dirty="0">
                <a:solidFill>
                  <a:srgbClr val="5A6786"/>
                </a:solidFill>
                <a:latin typeface="Calibri" pitchFamily="34" charset="0"/>
                <a:ea typeface="Calibri" pitchFamily="34" charset="-122"/>
                <a:cs typeface="Calibri" pitchFamily="34" charset="-120"/>
              </a:rPr>
              <a:t>Reliable supply, bulk procurement, alternate suppliers</a:t>
            </a:r>
            <a:endParaRPr lang="en-US" sz="1100" dirty="0"/>
          </a:p>
        </p:txBody>
      </p:sp>
      <p:sp>
        <p:nvSpPr>
          <p:cNvPr id="25" name="Shape 19"/>
          <p:cNvSpPr/>
          <p:nvPr/>
        </p:nvSpPr>
        <p:spPr>
          <a:xfrm>
            <a:off x="457200" y="4215384"/>
            <a:ext cx="4297680" cy="749808"/>
          </a:xfrm>
          <a:prstGeom prst="roundRect">
            <a:avLst>
              <a:gd name="adj" fmla="val 975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6" name="Shape 20"/>
          <p:cNvSpPr/>
          <p:nvPr/>
        </p:nvSpPr>
        <p:spPr>
          <a:xfrm>
            <a:off x="603504" y="4370832"/>
            <a:ext cx="438912" cy="438912"/>
          </a:xfrm>
          <a:prstGeom prst="ellipse">
            <a:avLst/>
          </a:prstGeom>
          <a:solidFill>
            <a:srgbClr val="2F6FED"/>
          </a:solidFill>
          <a:ln/>
        </p:spPr>
      </p:sp>
      <p:pic>
        <p:nvPicPr>
          <p:cNvPr id="27" name="Image 4" descr="/home/claude/electromart/icons/rocket.png"/>
          <p:cNvPicPr>
            <a:picLocks noChangeAspect="1"/>
          </p:cNvPicPr>
          <p:nvPr/>
        </p:nvPicPr>
        <p:blipFill>
          <a:blip r:embed="rId7"/>
          <a:stretch>
            <a:fillRect/>
          </a:stretch>
        </p:blipFill>
        <p:spPr>
          <a:xfrm>
            <a:off x="717621" y="4484949"/>
            <a:ext cx="210678" cy="210678"/>
          </a:xfrm>
          <a:prstGeom prst="rect">
            <a:avLst/>
          </a:prstGeom>
        </p:spPr>
      </p:pic>
      <p:sp>
        <p:nvSpPr>
          <p:cNvPr id="28" name="Text 21"/>
          <p:cNvSpPr/>
          <p:nvPr/>
        </p:nvSpPr>
        <p:spPr>
          <a:xfrm>
            <a:off x="1170432" y="4288536"/>
            <a:ext cx="3474720" cy="256032"/>
          </a:xfrm>
          <a:prstGeom prst="rect">
            <a:avLst/>
          </a:prstGeom>
          <a:noFill/>
          <a:ln/>
        </p:spPr>
        <p:txBody>
          <a:bodyPr wrap="square" rtlCol="0" anchor="ctr"/>
          <a:lstStyle/>
          <a:p>
            <a:pPr marL="0" indent="0">
              <a:buNone/>
            </a:pPr>
            <a:r>
              <a:rPr lang="en-US" sz="1200" b="1" dirty="0">
                <a:solidFill>
                  <a:srgbClr val="0B1F3D"/>
                </a:solidFill>
                <a:latin typeface="Calibri" pitchFamily="34" charset="0"/>
                <a:ea typeface="Calibri" pitchFamily="34" charset="-122"/>
                <a:cs typeface="Calibri" pitchFamily="34" charset="-120"/>
              </a:rPr>
              <a:t>Startups &amp; MSMEs</a:t>
            </a:r>
            <a:endParaRPr lang="en-US" sz="1200" dirty="0"/>
          </a:p>
        </p:txBody>
      </p:sp>
      <p:sp>
        <p:nvSpPr>
          <p:cNvPr id="29" name="Text 22"/>
          <p:cNvSpPr/>
          <p:nvPr/>
        </p:nvSpPr>
        <p:spPr>
          <a:xfrm>
            <a:off x="1170432" y="4562856"/>
            <a:ext cx="3474720" cy="365760"/>
          </a:xfrm>
          <a:prstGeom prst="rect">
            <a:avLst/>
          </a:prstGeom>
          <a:noFill/>
          <a:ln/>
        </p:spPr>
        <p:txBody>
          <a:bodyPr wrap="square" rtlCol="0" anchor="t"/>
          <a:lstStyle/>
          <a:p>
            <a:pPr marL="0" indent="0">
              <a:buNone/>
            </a:pPr>
            <a:r>
              <a:rPr lang="en-US" sz="1100" dirty="0">
                <a:solidFill>
                  <a:srgbClr val="5A6786"/>
                </a:solidFill>
                <a:latin typeface="Calibri" pitchFamily="34" charset="0"/>
                <a:ea typeface="Calibri" pitchFamily="34" charset="-122"/>
                <a:cs typeface="Calibri" pitchFamily="34" charset="-120"/>
              </a:rPr>
              <a:t>Small MOQ, local suppliers, rapid prototyping, tech support</a:t>
            </a:r>
            <a:endParaRPr lang="en-US" sz="1100" dirty="0"/>
          </a:p>
        </p:txBody>
      </p:sp>
      <p:sp>
        <p:nvSpPr>
          <p:cNvPr id="30" name="Shape 23"/>
          <p:cNvSpPr/>
          <p:nvPr/>
        </p:nvSpPr>
        <p:spPr>
          <a:xfrm>
            <a:off x="457200" y="5056632"/>
            <a:ext cx="4297680" cy="749808"/>
          </a:xfrm>
          <a:prstGeom prst="roundRect">
            <a:avLst>
              <a:gd name="adj" fmla="val 975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31" name="Shape 24"/>
          <p:cNvSpPr/>
          <p:nvPr/>
        </p:nvSpPr>
        <p:spPr>
          <a:xfrm>
            <a:off x="603504" y="5212080"/>
            <a:ext cx="438912" cy="438912"/>
          </a:xfrm>
          <a:prstGeom prst="ellipse">
            <a:avLst/>
          </a:prstGeom>
          <a:solidFill>
            <a:srgbClr val="2F6FED"/>
          </a:solidFill>
          <a:ln/>
        </p:spPr>
      </p:sp>
      <p:pic>
        <p:nvPicPr>
          <p:cNvPr id="32" name="Image 5" descr="/home/claude/electromart/icons/graduate.png"/>
          <p:cNvPicPr>
            <a:picLocks noChangeAspect="1"/>
          </p:cNvPicPr>
          <p:nvPr/>
        </p:nvPicPr>
        <p:blipFill>
          <a:blip r:embed="rId8"/>
          <a:stretch>
            <a:fillRect/>
          </a:stretch>
        </p:blipFill>
        <p:spPr>
          <a:xfrm>
            <a:off x="717621" y="5326197"/>
            <a:ext cx="210678" cy="210678"/>
          </a:xfrm>
          <a:prstGeom prst="rect">
            <a:avLst/>
          </a:prstGeom>
        </p:spPr>
      </p:pic>
      <p:sp>
        <p:nvSpPr>
          <p:cNvPr id="33" name="Text 25"/>
          <p:cNvSpPr/>
          <p:nvPr/>
        </p:nvSpPr>
        <p:spPr>
          <a:xfrm>
            <a:off x="1170432" y="5129784"/>
            <a:ext cx="3474720" cy="256032"/>
          </a:xfrm>
          <a:prstGeom prst="rect">
            <a:avLst/>
          </a:prstGeom>
          <a:noFill/>
          <a:ln/>
        </p:spPr>
        <p:txBody>
          <a:bodyPr wrap="square" rtlCol="0" anchor="ctr"/>
          <a:lstStyle/>
          <a:p>
            <a:pPr marL="0" indent="0">
              <a:buNone/>
            </a:pPr>
            <a:r>
              <a:rPr lang="en-US" sz="1200" b="1" dirty="0">
                <a:solidFill>
                  <a:srgbClr val="0B1F3D"/>
                </a:solidFill>
                <a:latin typeface="Calibri" pitchFamily="34" charset="0"/>
                <a:ea typeface="Calibri" pitchFamily="34" charset="-122"/>
                <a:cs typeface="Calibri" pitchFamily="34" charset="-120"/>
              </a:rPr>
              <a:t>Students / Hobbyists</a:t>
            </a:r>
            <a:endParaRPr lang="en-US" sz="1200" dirty="0"/>
          </a:p>
        </p:txBody>
      </p:sp>
      <p:sp>
        <p:nvSpPr>
          <p:cNvPr id="34" name="Text 26"/>
          <p:cNvSpPr/>
          <p:nvPr/>
        </p:nvSpPr>
        <p:spPr>
          <a:xfrm>
            <a:off x="1170432" y="5404104"/>
            <a:ext cx="3474720" cy="365760"/>
          </a:xfrm>
          <a:prstGeom prst="rect">
            <a:avLst/>
          </a:prstGeom>
          <a:noFill/>
          <a:ln/>
        </p:spPr>
        <p:txBody>
          <a:bodyPr wrap="square" rtlCol="0" anchor="t"/>
          <a:lstStyle/>
          <a:p>
            <a:pPr marL="0" indent="0">
              <a:buNone/>
            </a:pPr>
            <a:r>
              <a:rPr lang="en-US" sz="1100" dirty="0">
                <a:solidFill>
                  <a:srgbClr val="5A6786"/>
                </a:solidFill>
                <a:latin typeface="Calibri" pitchFamily="34" charset="0"/>
                <a:ea typeface="Calibri" pitchFamily="34" charset="-122"/>
                <a:cs typeface="Calibri" pitchFamily="34" charset="-120"/>
              </a:rPr>
              <a:t>Easy discovery, small qty, community help, alternatives</a:t>
            </a:r>
            <a:endParaRPr lang="en-US" sz="1100" dirty="0"/>
          </a:p>
        </p:txBody>
      </p:sp>
      <p:sp>
        <p:nvSpPr>
          <p:cNvPr id="35" name="Text 27"/>
          <p:cNvSpPr/>
          <p:nvPr/>
        </p:nvSpPr>
        <p:spPr>
          <a:xfrm>
            <a:off x="7406640" y="1371600"/>
            <a:ext cx="4297680" cy="274320"/>
          </a:xfrm>
          <a:prstGeom prst="rect">
            <a:avLst/>
          </a:prstGeom>
          <a:noFill/>
          <a:ln/>
        </p:spPr>
        <p:txBody>
          <a:bodyPr wrap="square" rtlCol="0" anchor="ctr"/>
          <a:lstStyle/>
          <a:p>
            <a:pPr marL="0" indent="0" algn="r">
              <a:buNone/>
            </a:pPr>
            <a:r>
              <a:rPr lang="en-US" sz="1400" b="1" kern="0" spc="100" dirty="0">
                <a:solidFill>
                  <a:srgbClr val="1FA97A"/>
                </a:solidFill>
                <a:latin typeface="Calibri" pitchFamily="34" charset="0"/>
                <a:ea typeface="Calibri" pitchFamily="34" charset="-122"/>
                <a:cs typeface="Calibri" pitchFamily="34" charset="-120"/>
              </a:rPr>
              <a:t>SUPPLIER SIDE — WHAT THEY GAIN</a:t>
            </a:r>
            <a:endParaRPr lang="en-US" sz="1400" dirty="0"/>
          </a:p>
        </p:txBody>
      </p:sp>
      <p:sp>
        <p:nvSpPr>
          <p:cNvPr id="36" name="Shape 28"/>
          <p:cNvSpPr/>
          <p:nvPr/>
        </p:nvSpPr>
        <p:spPr>
          <a:xfrm>
            <a:off x="7406640" y="1691640"/>
            <a:ext cx="4297680" cy="932688"/>
          </a:xfrm>
          <a:prstGeom prst="roundRect">
            <a:avLst>
              <a:gd name="adj" fmla="val 784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37" name="Shape 29"/>
          <p:cNvSpPr/>
          <p:nvPr/>
        </p:nvSpPr>
        <p:spPr>
          <a:xfrm>
            <a:off x="11064240" y="1929384"/>
            <a:ext cx="457200" cy="457200"/>
          </a:xfrm>
          <a:prstGeom prst="ellipse">
            <a:avLst/>
          </a:prstGeom>
          <a:solidFill>
            <a:srgbClr val="1FA97A"/>
          </a:solidFill>
          <a:ln/>
        </p:spPr>
      </p:sp>
      <p:pic>
        <p:nvPicPr>
          <p:cNvPr id="38" name="Image 6" descr="/home/claude/electromart/icons/building.png"/>
          <p:cNvPicPr>
            <a:picLocks noChangeAspect="1"/>
          </p:cNvPicPr>
          <p:nvPr/>
        </p:nvPicPr>
        <p:blipFill>
          <a:blip r:embed="rId9"/>
          <a:stretch>
            <a:fillRect/>
          </a:stretch>
        </p:blipFill>
        <p:spPr>
          <a:xfrm>
            <a:off x="11183112" y="2048256"/>
            <a:ext cx="219456" cy="219456"/>
          </a:xfrm>
          <a:prstGeom prst="rect">
            <a:avLst/>
          </a:prstGeom>
        </p:spPr>
      </p:pic>
      <p:sp>
        <p:nvSpPr>
          <p:cNvPr id="39" name="Text 30"/>
          <p:cNvSpPr/>
          <p:nvPr/>
        </p:nvSpPr>
        <p:spPr>
          <a:xfrm>
            <a:off x="7589520" y="1783080"/>
            <a:ext cx="3291840" cy="274320"/>
          </a:xfrm>
          <a:prstGeom prst="rect">
            <a:avLst/>
          </a:prstGeom>
          <a:noFill/>
          <a:ln/>
        </p:spPr>
        <p:txBody>
          <a:bodyPr wrap="square" rtlCol="0" anchor="ctr"/>
          <a:lstStyle/>
          <a:p>
            <a:pPr marL="0" indent="0" algn="r">
              <a:buNone/>
            </a:pPr>
            <a:r>
              <a:rPr lang="en-US" sz="1200" b="1" dirty="0">
                <a:solidFill>
                  <a:srgbClr val="0B1F3D"/>
                </a:solidFill>
                <a:latin typeface="Calibri" pitchFamily="34" charset="0"/>
                <a:ea typeface="Calibri" pitchFamily="34" charset="-122"/>
                <a:cs typeface="Calibri" pitchFamily="34" charset="-120"/>
              </a:rPr>
              <a:t>Manufacturers</a:t>
            </a:r>
            <a:endParaRPr lang="en-US" sz="1200" dirty="0"/>
          </a:p>
        </p:txBody>
      </p:sp>
      <p:sp>
        <p:nvSpPr>
          <p:cNvPr id="40" name="Text 31"/>
          <p:cNvSpPr/>
          <p:nvPr/>
        </p:nvSpPr>
        <p:spPr>
          <a:xfrm>
            <a:off x="7589520" y="2075688"/>
            <a:ext cx="3291840" cy="502920"/>
          </a:xfrm>
          <a:prstGeom prst="rect">
            <a:avLst/>
          </a:prstGeom>
          <a:noFill/>
          <a:ln/>
        </p:spPr>
        <p:txBody>
          <a:bodyPr wrap="square" rtlCol="0" anchor="t"/>
          <a:lstStyle/>
          <a:p>
            <a:pPr marL="0" indent="0" algn="r">
              <a:buNone/>
            </a:pPr>
            <a:r>
              <a:rPr lang="en-US" sz="1100" dirty="0">
                <a:solidFill>
                  <a:srgbClr val="5A6786"/>
                </a:solidFill>
                <a:latin typeface="Calibri" pitchFamily="34" charset="0"/>
                <a:ea typeface="Calibri" pitchFamily="34" charset="-122"/>
                <a:cs typeface="Calibri" pitchFamily="34" charset="-120"/>
              </a:rPr>
              <a:t>Digital catalog, direct discovery, leads, RFQs, visibility</a:t>
            </a:r>
            <a:endParaRPr lang="en-US" sz="1100" dirty="0"/>
          </a:p>
        </p:txBody>
      </p:sp>
      <p:sp>
        <p:nvSpPr>
          <p:cNvPr id="41" name="Shape 32"/>
          <p:cNvSpPr/>
          <p:nvPr/>
        </p:nvSpPr>
        <p:spPr>
          <a:xfrm>
            <a:off x="7406640" y="2734056"/>
            <a:ext cx="4297680" cy="932688"/>
          </a:xfrm>
          <a:prstGeom prst="roundRect">
            <a:avLst>
              <a:gd name="adj" fmla="val 784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42" name="Shape 33"/>
          <p:cNvSpPr/>
          <p:nvPr/>
        </p:nvSpPr>
        <p:spPr>
          <a:xfrm>
            <a:off x="11064240" y="2971800"/>
            <a:ext cx="457200" cy="457200"/>
          </a:xfrm>
          <a:prstGeom prst="ellipse">
            <a:avLst/>
          </a:prstGeom>
          <a:solidFill>
            <a:srgbClr val="1FA97A"/>
          </a:solidFill>
          <a:ln/>
        </p:spPr>
      </p:sp>
      <p:pic>
        <p:nvPicPr>
          <p:cNvPr id="43" name="Image 7" descr="/home/claude/electromart/icons/truck.png"/>
          <p:cNvPicPr>
            <a:picLocks noChangeAspect="1"/>
          </p:cNvPicPr>
          <p:nvPr/>
        </p:nvPicPr>
        <p:blipFill>
          <a:blip r:embed="rId10"/>
          <a:stretch>
            <a:fillRect/>
          </a:stretch>
        </p:blipFill>
        <p:spPr>
          <a:xfrm>
            <a:off x="11183112" y="3090672"/>
            <a:ext cx="219456" cy="219456"/>
          </a:xfrm>
          <a:prstGeom prst="rect">
            <a:avLst/>
          </a:prstGeom>
        </p:spPr>
      </p:pic>
      <p:sp>
        <p:nvSpPr>
          <p:cNvPr id="44" name="Text 34"/>
          <p:cNvSpPr/>
          <p:nvPr/>
        </p:nvSpPr>
        <p:spPr>
          <a:xfrm>
            <a:off x="7589520" y="2825496"/>
            <a:ext cx="3291840" cy="274320"/>
          </a:xfrm>
          <a:prstGeom prst="rect">
            <a:avLst/>
          </a:prstGeom>
          <a:noFill/>
          <a:ln/>
        </p:spPr>
        <p:txBody>
          <a:bodyPr wrap="square" rtlCol="0" anchor="ctr"/>
          <a:lstStyle/>
          <a:p>
            <a:pPr marL="0" indent="0" algn="r">
              <a:buNone/>
            </a:pPr>
            <a:r>
              <a:rPr lang="en-US" sz="1200" b="1" dirty="0">
                <a:solidFill>
                  <a:srgbClr val="0B1F3D"/>
                </a:solidFill>
                <a:latin typeface="Calibri" pitchFamily="34" charset="0"/>
                <a:ea typeface="Calibri" pitchFamily="34" charset="-122"/>
                <a:cs typeface="Calibri" pitchFamily="34" charset="-120"/>
              </a:rPr>
              <a:t>Distributors</a:t>
            </a:r>
            <a:endParaRPr lang="en-US" sz="1200" dirty="0"/>
          </a:p>
        </p:txBody>
      </p:sp>
      <p:sp>
        <p:nvSpPr>
          <p:cNvPr id="45" name="Text 35"/>
          <p:cNvSpPr/>
          <p:nvPr/>
        </p:nvSpPr>
        <p:spPr>
          <a:xfrm>
            <a:off x="7589520" y="3118104"/>
            <a:ext cx="3291840" cy="502920"/>
          </a:xfrm>
          <a:prstGeom prst="rect">
            <a:avLst/>
          </a:prstGeom>
          <a:noFill/>
          <a:ln/>
        </p:spPr>
        <p:txBody>
          <a:bodyPr wrap="square" rtlCol="0" anchor="t"/>
          <a:lstStyle/>
          <a:p>
            <a:pPr marL="0" indent="0" algn="r">
              <a:buNone/>
            </a:pPr>
            <a:r>
              <a:rPr lang="en-US" sz="1100" dirty="0">
                <a:solidFill>
                  <a:srgbClr val="5A6786"/>
                </a:solidFill>
                <a:latin typeface="Calibri" pitchFamily="34" charset="0"/>
                <a:ea typeface="Calibri" pitchFamily="34" charset="-122"/>
                <a:cs typeface="Calibri" pitchFamily="34" charset="-120"/>
              </a:rPr>
              <a:t>Wider reach, product discovery, RFQ generation</a:t>
            </a:r>
            <a:endParaRPr lang="en-US" sz="1100" dirty="0"/>
          </a:p>
        </p:txBody>
      </p:sp>
      <p:sp>
        <p:nvSpPr>
          <p:cNvPr id="46" name="Shape 36"/>
          <p:cNvSpPr/>
          <p:nvPr/>
        </p:nvSpPr>
        <p:spPr>
          <a:xfrm>
            <a:off x="7406640" y="3776472"/>
            <a:ext cx="4297680" cy="932688"/>
          </a:xfrm>
          <a:prstGeom prst="roundRect">
            <a:avLst>
              <a:gd name="adj" fmla="val 784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47" name="Shape 37"/>
          <p:cNvSpPr/>
          <p:nvPr/>
        </p:nvSpPr>
        <p:spPr>
          <a:xfrm>
            <a:off x="11064240" y="4014216"/>
            <a:ext cx="457200" cy="457200"/>
          </a:xfrm>
          <a:prstGeom prst="ellipse">
            <a:avLst/>
          </a:prstGeom>
          <a:solidFill>
            <a:srgbClr val="1FA97A"/>
          </a:solidFill>
          <a:ln/>
        </p:spPr>
      </p:sp>
      <p:pic>
        <p:nvPicPr>
          <p:cNvPr id="48" name="Image 8" descr="/home/claude/electromart/icons/boxes.png"/>
          <p:cNvPicPr>
            <a:picLocks noChangeAspect="1"/>
          </p:cNvPicPr>
          <p:nvPr/>
        </p:nvPicPr>
        <p:blipFill>
          <a:blip r:embed="rId11"/>
          <a:stretch>
            <a:fillRect/>
          </a:stretch>
        </p:blipFill>
        <p:spPr>
          <a:xfrm>
            <a:off x="11183112" y="4133088"/>
            <a:ext cx="219456" cy="219456"/>
          </a:xfrm>
          <a:prstGeom prst="rect">
            <a:avLst/>
          </a:prstGeom>
        </p:spPr>
      </p:pic>
      <p:sp>
        <p:nvSpPr>
          <p:cNvPr id="49" name="Text 38"/>
          <p:cNvSpPr/>
          <p:nvPr/>
        </p:nvSpPr>
        <p:spPr>
          <a:xfrm>
            <a:off x="7589520" y="3867912"/>
            <a:ext cx="3291840" cy="274320"/>
          </a:xfrm>
          <a:prstGeom prst="rect">
            <a:avLst/>
          </a:prstGeom>
          <a:noFill/>
          <a:ln/>
        </p:spPr>
        <p:txBody>
          <a:bodyPr wrap="square" rtlCol="0" anchor="ctr"/>
          <a:lstStyle/>
          <a:p>
            <a:pPr marL="0" indent="0" algn="r">
              <a:buNone/>
            </a:pPr>
            <a:r>
              <a:rPr lang="en-US" sz="1200" b="1" dirty="0">
                <a:solidFill>
                  <a:srgbClr val="0B1F3D"/>
                </a:solidFill>
                <a:latin typeface="Calibri" pitchFamily="34" charset="0"/>
                <a:ea typeface="Calibri" pitchFamily="34" charset="-122"/>
                <a:cs typeface="Calibri" pitchFamily="34" charset="-120"/>
              </a:rPr>
              <a:t>Traders / Wholesalers</a:t>
            </a:r>
            <a:endParaRPr lang="en-US" sz="1200" dirty="0"/>
          </a:p>
        </p:txBody>
      </p:sp>
      <p:sp>
        <p:nvSpPr>
          <p:cNvPr id="50" name="Text 39"/>
          <p:cNvSpPr/>
          <p:nvPr/>
        </p:nvSpPr>
        <p:spPr>
          <a:xfrm>
            <a:off x="7589520" y="4160520"/>
            <a:ext cx="3291840" cy="502920"/>
          </a:xfrm>
          <a:prstGeom prst="rect">
            <a:avLst/>
          </a:prstGeom>
          <a:noFill/>
          <a:ln/>
        </p:spPr>
        <p:txBody>
          <a:bodyPr wrap="square" rtlCol="0" anchor="t"/>
          <a:lstStyle/>
          <a:p>
            <a:pPr marL="0" indent="0" algn="r">
              <a:buNone/>
            </a:pPr>
            <a:r>
              <a:rPr lang="en-US" sz="1100" dirty="0">
                <a:solidFill>
                  <a:srgbClr val="5A6786"/>
                </a:solidFill>
                <a:latin typeface="Calibri" pitchFamily="34" charset="0"/>
                <a:ea typeface="Calibri" pitchFamily="34" charset="-122"/>
                <a:cs typeface="Calibri" pitchFamily="34" charset="-120"/>
              </a:rPr>
              <a:t>Digital presence, inventory visibility, new customers</a:t>
            </a:r>
            <a:endParaRPr lang="en-US" sz="1100" dirty="0"/>
          </a:p>
        </p:txBody>
      </p:sp>
      <p:sp>
        <p:nvSpPr>
          <p:cNvPr id="51" name="Shape 40"/>
          <p:cNvSpPr/>
          <p:nvPr/>
        </p:nvSpPr>
        <p:spPr>
          <a:xfrm>
            <a:off x="7406640" y="4818888"/>
            <a:ext cx="4297680" cy="932688"/>
          </a:xfrm>
          <a:prstGeom prst="roundRect">
            <a:avLst>
              <a:gd name="adj" fmla="val 784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52" name="Shape 41"/>
          <p:cNvSpPr/>
          <p:nvPr/>
        </p:nvSpPr>
        <p:spPr>
          <a:xfrm>
            <a:off x="11064240" y="5056632"/>
            <a:ext cx="457200" cy="457200"/>
          </a:xfrm>
          <a:prstGeom prst="ellipse">
            <a:avLst/>
          </a:prstGeom>
          <a:solidFill>
            <a:srgbClr val="1FA97A"/>
          </a:solidFill>
          <a:ln/>
        </p:spPr>
      </p:sp>
      <p:pic>
        <p:nvPicPr>
          <p:cNvPr id="53" name="Image 9" descr="/home/claude/electromart/icons/shield.png"/>
          <p:cNvPicPr>
            <a:picLocks noChangeAspect="1"/>
          </p:cNvPicPr>
          <p:nvPr/>
        </p:nvPicPr>
        <p:blipFill>
          <a:blip r:embed="rId12"/>
          <a:stretch>
            <a:fillRect/>
          </a:stretch>
        </p:blipFill>
        <p:spPr>
          <a:xfrm>
            <a:off x="11183112" y="5175504"/>
            <a:ext cx="219456" cy="219456"/>
          </a:xfrm>
          <a:prstGeom prst="rect">
            <a:avLst/>
          </a:prstGeom>
        </p:spPr>
      </p:pic>
      <p:sp>
        <p:nvSpPr>
          <p:cNvPr id="54" name="Text 42"/>
          <p:cNvSpPr/>
          <p:nvPr/>
        </p:nvSpPr>
        <p:spPr>
          <a:xfrm>
            <a:off x="7589520" y="4910328"/>
            <a:ext cx="3291840" cy="274320"/>
          </a:xfrm>
          <a:prstGeom prst="rect">
            <a:avLst/>
          </a:prstGeom>
          <a:noFill/>
          <a:ln/>
        </p:spPr>
        <p:txBody>
          <a:bodyPr wrap="square" rtlCol="0" anchor="ctr"/>
          <a:lstStyle/>
          <a:p>
            <a:pPr marL="0" indent="0" algn="r">
              <a:buNone/>
            </a:pPr>
            <a:r>
              <a:rPr lang="en-US" sz="1200" b="1" dirty="0">
                <a:solidFill>
                  <a:srgbClr val="0B1F3D"/>
                </a:solidFill>
                <a:latin typeface="Calibri" pitchFamily="34" charset="0"/>
                <a:ea typeface="Calibri" pitchFamily="34" charset="-122"/>
                <a:cs typeface="Calibri" pitchFamily="34" charset="-120"/>
              </a:rPr>
              <a:t>Small Businesses / MSMEs</a:t>
            </a:r>
            <a:endParaRPr lang="en-US" sz="1200" dirty="0"/>
          </a:p>
        </p:txBody>
      </p:sp>
      <p:sp>
        <p:nvSpPr>
          <p:cNvPr id="55" name="Text 43"/>
          <p:cNvSpPr/>
          <p:nvPr/>
        </p:nvSpPr>
        <p:spPr>
          <a:xfrm>
            <a:off x="7589520" y="5202936"/>
            <a:ext cx="3291840" cy="502920"/>
          </a:xfrm>
          <a:prstGeom prst="rect">
            <a:avLst/>
          </a:prstGeom>
          <a:noFill/>
          <a:ln/>
        </p:spPr>
        <p:txBody>
          <a:bodyPr wrap="square" rtlCol="0" anchor="t"/>
          <a:lstStyle/>
          <a:p>
            <a:pPr marL="0" indent="0" algn="r">
              <a:buNone/>
            </a:pPr>
            <a:r>
              <a:rPr lang="en-US" sz="1100" dirty="0">
                <a:solidFill>
                  <a:srgbClr val="5A6786"/>
                </a:solidFill>
                <a:latin typeface="Calibri" pitchFamily="34" charset="0"/>
                <a:ea typeface="Calibri" pitchFamily="34" charset="-122"/>
                <a:cs typeface="Calibri" pitchFamily="34" charset="-120"/>
              </a:rPr>
              <a:t>Visibility, trust via credentials, reviews, direct contact</a:t>
            </a:r>
            <a:endParaRPr lang="en-US" sz="1100" dirty="0"/>
          </a:p>
        </p:txBody>
      </p:sp>
      <p:sp>
        <p:nvSpPr>
          <p:cNvPr id="56" name="Shape 44"/>
          <p:cNvSpPr/>
          <p:nvPr/>
        </p:nvSpPr>
        <p:spPr>
          <a:xfrm>
            <a:off x="3520440" y="5925312"/>
            <a:ext cx="5120640" cy="438912"/>
          </a:xfrm>
          <a:prstGeom prst="roundRect">
            <a:avLst>
              <a:gd name="adj" fmla="val 16667"/>
            </a:avLst>
          </a:prstGeom>
          <a:solidFill>
            <a:srgbClr val="0B1F3D"/>
          </a:solidFill>
          <a:ln/>
        </p:spPr>
      </p:sp>
      <p:sp>
        <p:nvSpPr>
          <p:cNvPr id="57" name="Text 45"/>
          <p:cNvSpPr/>
          <p:nvPr/>
        </p:nvSpPr>
        <p:spPr>
          <a:xfrm>
            <a:off x="3520440" y="5925312"/>
            <a:ext cx="5120640" cy="438912"/>
          </a:xfrm>
          <a:prstGeom prst="rect">
            <a:avLst/>
          </a:prstGeom>
          <a:noFill/>
          <a:ln/>
        </p:spPr>
        <p:txBody>
          <a:bodyPr wrap="square" rtlCol="0" anchor="ctr"/>
          <a:lstStyle/>
          <a:p>
            <a:pPr marL="0" indent="0" algn="ctr">
              <a:buNone/>
            </a:pPr>
            <a:r>
              <a:rPr lang="en-US" sz="1150" b="1" i="1" dirty="0">
                <a:solidFill>
                  <a:srgbClr val="FFFFFF"/>
                </a:solidFill>
                <a:latin typeface="Calibri" pitchFamily="34" charset="0"/>
                <a:ea typeface="Calibri" pitchFamily="34" charset="-122"/>
                <a:cs typeface="Calibri" pitchFamily="34" charset="-120"/>
              </a:rPr>
              <a:t>ElectroMart creates value on both sides of the marketplace.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COMPETITIVE DIFFERENTIATION</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Why ElectroMart?</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04 / 10</a:t>
            </a:r>
            <a:endParaRPr lang="en-US" sz="850" dirty="0"/>
          </a:p>
        </p:txBody>
      </p:sp>
      <p:sp>
        <p:nvSpPr>
          <p:cNvPr id="6" name="Shape 4"/>
          <p:cNvSpPr/>
          <p:nvPr/>
        </p:nvSpPr>
        <p:spPr>
          <a:xfrm>
            <a:off x="457200" y="1371600"/>
            <a:ext cx="3383280" cy="365760"/>
          </a:xfrm>
          <a:prstGeom prst="rect">
            <a:avLst/>
          </a:prstGeom>
          <a:solidFill>
            <a:srgbClr val="0B1F3D"/>
          </a:solidFill>
          <a:ln/>
        </p:spPr>
      </p:sp>
      <p:sp>
        <p:nvSpPr>
          <p:cNvPr id="7" name="Shape 5"/>
          <p:cNvSpPr/>
          <p:nvPr/>
        </p:nvSpPr>
        <p:spPr>
          <a:xfrm>
            <a:off x="3840480" y="1371600"/>
            <a:ext cx="3749040" cy="365760"/>
          </a:xfrm>
          <a:prstGeom prst="rect">
            <a:avLst/>
          </a:prstGeom>
          <a:solidFill>
            <a:srgbClr val="3A4A6B"/>
          </a:solidFill>
          <a:ln/>
        </p:spPr>
      </p:sp>
      <p:sp>
        <p:nvSpPr>
          <p:cNvPr id="8" name="Shape 6"/>
          <p:cNvSpPr/>
          <p:nvPr/>
        </p:nvSpPr>
        <p:spPr>
          <a:xfrm>
            <a:off x="7589520" y="1371600"/>
            <a:ext cx="4114800" cy="365760"/>
          </a:xfrm>
          <a:prstGeom prst="rect">
            <a:avLst/>
          </a:prstGeom>
          <a:solidFill>
            <a:srgbClr val="2F6FED"/>
          </a:solidFill>
          <a:ln/>
        </p:spPr>
      </p:sp>
      <p:sp>
        <p:nvSpPr>
          <p:cNvPr id="9" name="Text 7"/>
          <p:cNvSpPr/>
          <p:nvPr/>
        </p:nvSpPr>
        <p:spPr>
          <a:xfrm>
            <a:off x="566928" y="1371600"/>
            <a:ext cx="3200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CAPABILITY</a:t>
            </a:r>
            <a:endParaRPr lang="en-US" sz="1400" b="1" dirty="0"/>
          </a:p>
        </p:txBody>
      </p:sp>
      <p:sp>
        <p:nvSpPr>
          <p:cNvPr id="10" name="Text 8"/>
          <p:cNvSpPr/>
          <p:nvPr/>
        </p:nvSpPr>
        <p:spPr>
          <a:xfrm>
            <a:off x="3950208" y="1371600"/>
            <a:ext cx="3566160" cy="365760"/>
          </a:xfrm>
          <a:prstGeom prst="rect">
            <a:avLst/>
          </a:prstGeom>
          <a:noFill/>
          <a:ln/>
        </p:spPr>
        <p:txBody>
          <a:bodyPr wrap="square" rtlCol="0" anchor="ctr"/>
          <a:lstStyle/>
          <a:p>
            <a:pPr marL="0" indent="0">
              <a:buNone/>
            </a:pPr>
            <a:r>
              <a:rPr lang="en-US" sz="1400" b="1" dirty="0">
                <a:ln w="0"/>
                <a:solidFill>
                  <a:schemeClr val="bg1"/>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TRADITIONAL MARKETPLACE</a:t>
            </a:r>
            <a:endParaRPr lang="en-US" sz="1400" b="1" dirty="0">
              <a:ln w="0"/>
              <a:solidFill>
                <a:schemeClr val="bg1"/>
              </a:solidFill>
              <a:effectLst>
                <a:outerShdw blurRad="38100" dist="19050" dir="2700000" algn="tl" rotWithShape="0">
                  <a:schemeClr val="dk1">
                    <a:alpha val="40000"/>
                  </a:schemeClr>
                </a:outerShdw>
              </a:effectLst>
            </a:endParaRPr>
          </a:p>
        </p:txBody>
      </p:sp>
      <p:sp>
        <p:nvSpPr>
          <p:cNvPr id="11" name="Text 9"/>
          <p:cNvSpPr/>
          <p:nvPr/>
        </p:nvSpPr>
        <p:spPr>
          <a:xfrm>
            <a:off x="7699248" y="1371600"/>
            <a:ext cx="393192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ELECTROMART</a:t>
            </a:r>
            <a:endParaRPr lang="en-US" sz="1400" b="1" dirty="0"/>
          </a:p>
        </p:txBody>
      </p:sp>
      <p:sp>
        <p:nvSpPr>
          <p:cNvPr id="12" name="Shape 10"/>
          <p:cNvSpPr/>
          <p:nvPr/>
        </p:nvSpPr>
        <p:spPr>
          <a:xfrm>
            <a:off x="457200" y="1737360"/>
            <a:ext cx="11247120" cy="233172"/>
          </a:xfrm>
          <a:prstGeom prst="rect">
            <a:avLst/>
          </a:prstGeom>
          <a:solidFill>
            <a:srgbClr val="FFFFFF"/>
          </a:solidFill>
          <a:ln w="6350">
            <a:solidFill>
              <a:srgbClr val="DDE3EE"/>
            </a:solidFill>
            <a:prstDash val="solid"/>
          </a:ln>
        </p:spPr>
      </p:sp>
      <p:sp>
        <p:nvSpPr>
          <p:cNvPr id="13" name="Text 11"/>
          <p:cNvSpPr/>
          <p:nvPr/>
        </p:nvSpPr>
        <p:spPr>
          <a:xfrm>
            <a:off x="566928" y="1737360"/>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Supplier discovery</a:t>
            </a:r>
            <a:endParaRPr lang="en-US" sz="1100" dirty="0"/>
          </a:p>
        </p:txBody>
      </p:sp>
      <p:sp>
        <p:nvSpPr>
          <p:cNvPr id="14" name="Text 12"/>
          <p:cNvSpPr/>
          <p:nvPr/>
        </p:nvSpPr>
        <p:spPr>
          <a:xfrm>
            <a:off x="3950208" y="1737360"/>
            <a:ext cx="3566160" cy="233172"/>
          </a:xfrm>
          <a:prstGeom prst="rect">
            <a:avLst/>
          </a:prstGeom>
          <a:noFill/>
          <a:ln/>
        </p:spPr>
        <p:txBody>
          <a:bodyPr wrap="square" rtlCol="0" anchor="ctr"/>
          <a:lstStyle/>
          <a:p>
            <a:pPr marL="0" indent="0">
              <a:buNone/>
            </a:pPr>
            <a:r>
              <a:rPr lang="en-US" sz="9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a:t>
            </a:r>
            <a:endParaRPr lang="en-US" sz="9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15" name="Text 13"/>
          <p:cNvSpPr/>
          <p:nvPr/>
        </p:nvSpPr>
        <p:spPr>
          <a:xfrm>
            <a:off x="7699248" y="1737360"/>
            <a:ext cx="3931920" cy="233172"/>
          </a:xfrm>
          <a:prstGeom prst="rect">
            <a:avLst/>
          </a:prstGeom>
          <a:noFill/>
          <a:ln/>
        </p:spPr>
        <p:txBody>
          <a:bodyPr wrap="square" rtlCol="0" anchor="ctr"/>
          <a:lstStyle/>
          <a:p>
            <a:pPr marL="0" indent="0">
              <a:buNone/>
            </a:pPr>
            <a:r>
              <a:rPr lang="en-US" sz="900" b="1" dirty="0">
                <a:solidFill>
                  <a:srgbClr val="13684A"/>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457200" y="1970532"/>
            <a:ext cx="11247120" cy="233172"/>
          </a:xfrm>
          <a:prstGeom prst="rect">
            <a:avLst/>
          </a:prstGeom>
          <a:solidFill>
            <a:srgbClr val="F4F6FA"/>
          </a:solidFill>
          <a:ln w="6350">
            <a:solidFill>
              <a:srgbClr val="DDE3EE"/>
            </a:solidFill>
            <a:prstDash val="solid"/>
          </a:ln>
        </p:spPr>
        <p:txBody>
          <a:bodyPr/>
          <a:lstStyle/>
          <a:p>
            <a:endParaRPr lang="en-IN" dirty="0"/>
          </a:p>
        </p:txBody>
      </p:sp>
      <p:sp>
        <p:nvSpPr>
          <p:cNvPr id="17" name="Text 15"/>
          <p:cNvSpPr/>
          <p:nvPr/>
        </p:nvSpPr>
        <p:spPr>
          <a:xfrm>
            <a:off x="566928" y="1970532"/>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Supplier reviews</a:t>
            </a:r>
            <a:endParaRPr lang="en-US" sz="1100" dirty="0"/>
          </a:p>
        </p:txBody>
      </p:sp>
      <p:sp>
        <p:nvSpPr>
          <p:cNvPr id="18" name="Text 16"/>
          <p:cNvSpPr/>
          <p:nvPr/>
        </p:nvSpPr>
        <p:spPr>
          <a:xfrm>
            <a:off x="3950208" y="1970532"/>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Limited / generic</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19" name="Text 17"/>
          <p:cNvSpPr/>
          <p:nvPr/>
        </p:nvSpPr>
        <p:spPr>
          <a:xfrm>
            <a:off x="7699248" y="1970532"/>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Component + service specific</a:t>
            </a:r>
            <a:endParaRPr lang="en-US" sz="1100" dirty="0"/>
          </a:p>
        </p:txBody>
      </p:sp>
      <p:sp>
        <p:nvSpPr>
          <p:cNvPr id="20" name="Shape 18"/>
          <p:cNvSpPr/>
          <p:nvPr/>
        </p:nvSpPr>
        <p:spPr>
          <a:xfrm>
            <a:off x="457200" y="2203704"/>
            <a:ext cx="11247120" cy="233172"/>
          </a:xfrm>
          <a:prstGeom prst="rect">
            <a:avLst/>
          </a:prstGeom>
          <a:solidFill>
            <a:srgbClr val="FFFFFF"/>
          </a:solidFill>
          <a:ln w="6350">
            <a:solidFill>
              <a:srgbClr val="DDE3EE"/>
            </a:solidFill>
            <a:prstDash val="solid"/>
          </a:ln>
        </p:spPr>
      </p:sp>
      <p:sp>
        <p:nvSpPr>
          <p:cNvPr id="21" name="Text 19"/>
          <p:cNvSpPr/>
          <p:nvPr/>
        </p:nvSpPr>
        <p:spPr>
          <a:xfrm>
            <a:off x="566928" y="2203704"/>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Supplier certifications</a:t>
            </a:r>
            <a:endParaRPr lang="en-US" sz="1100" dirty="0"/>
          </a:p>
        </p:txBody>
      </p:sp>
      <p:sp>
        <p:nvSpPr>
          <p:cNvPr id="22" name="Text 20"/>
          <p:cNvSpPr/>
          <p:nvPr/>
        </p:nvSpPr>
        <p:spPr>
          <a:xfrm>
            <a:off x="3950208" y="2203704"/>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Difficult to verify / view</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23" name="Text 21"/>
          <p:cNvSpPr/>
          <p:nvPr/>
        </p:nvSpPr>
        <p:spPr>
          <a:xfrm>
            <a:off x="7699248" y="2203704"/>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Visible on supplier profile</a:t>
            </a:r>
            <a:endParaRPr lang="en-US" sz="1100" dirty="0"/>
          </a:p>
        </p:txBody>
      </p:sp>
      <p:sp>
        <p:nvSpPr>
          <p:cNvPr id="24" name="Shape 22"/>
          <p:cNvSpPr/>
          <p:nvPr/>
        </p:nvSpPr>
        <p:spPr>
          <a:xfrm>
            <a:off x="457200" y="2436876"/>
            <a:ext cx="11247120" cy="233172"/>
          </a:xfrm>
          <a:prstGeom prst="rect">
            <a:avLst/>
          </a:prstGeom>
          <a:solidFill>
            <a:srgbClr val="F4F6FA"/>
          </a:solidFill>
          <a:ln w="6350">
            <a:solidFill>
              <a:srgbClr val="DDE3EE"/>
            </a:solidFill>
            <a:prstDash val="solid"/>
          </a:ln>
        </p:spPr>
        <p:txBody>
          <a:bodyPr/>
          <a:lstStyle/>
          <a:p>
            <a:endParaRPr lang="en-IN" dirty="0"/>
          </a:p>
        </p:txBody>
      </p:sp>
      <p:sp>
        <p:nvSpPr>
          <p:cNvPr id="25" name="Text 23"/>
          <p:cNvSpPr/>
          <p:nvPr/>
        </p:nvSpPr>
        <p:spPr>
          <a:xfrm>
            <a:off x="566928" y="2436876"/>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Point of Contact</a:t>
            </a:r>
            <a:endParaRPr lang="en-US" sz="1100" dirty="0"/>
          </a:p>
        </p:txBody>
      </p:sp>
      <p:sp>
        <p:nvSpPr>
          <p:cNvPr id="26" name="Text 24"/>
          <p:cNvSpPr/>
          <p:nvPr/>
        </p:nvSpPr>
        <p:spPr>
          <a:xfrm>
            <a:off x="3950208" y="2436876"/>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Not standardized</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27" name="Text 25"/>
          <p:cNvSpPr/>
          <p:nvPr/>
        </p:nvSpPr>
        <p:spPr>
          <a:xfrm>
            <a:off x="7699248" y="2436876"/>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Mandatory verified POC</a:t>
            </a:r>
            <a:endParaRPr lang="en-US" sz="1100" dirty="0"/>
          </a:p>
        </p:txBody>
      </p:sp>
      <p:sp>
        <p:nvSpPr>
          <p:cNvPr id="28" name="Shape 26"/>
          <p:cNvSpPr/>
          <p:nvPr/>
        </p:nvSpPr>
        <p:spPr>
          <a:xfrm>
            <a:off x="457200" y="2670048"/>
            <a:ext cx="11247120" cy="233172"/>
          </a:xfrm>
          <a:prstGeom prst="rect">
            <a:avLst/>
          </a:prstGeom>
          <a:solidFill>
            <a:srgbClr val="FFFFFF"/>
          </a:solidFill>
          <a:ln w="6350">
            <a:solidFill>
              <a:srgbClr val="DDE3EE"/>
            </a:solidFill>
            <a:prstDash val="solid"/>
          </a:ln>
        </p:spPr>
      </p:sp>
      <p:sp>
        <p:nvSpPr>
          <p:cNvPr id="29" name="Text 27"/>
          <p:cNvSpPr/>
          <p:nvPr/>
        </p:nvSpPr>
        <p:spPr>
          <a:xfrm>
            <a:off x="566928" y="2670048"/>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Technical specifications</a:t>
            </a:r>
            <a:endParaRPr lang="en-US" sz="1100" dirty="0"/>
          </a:p>
        </p:txBody>
      </p:sp>
      <p:sp>
        <p:nvSpPr>
          <p:cNvPr id="30" name="Text 28"/>
          <p:cNvSpPr/>
          <p:nvPr/>
        </p:nvSpPr>
        <p:spPr>
          <a:xfrm>
            <a:off x="3950208" y="2670048"/>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Generic listings</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31" name="Text 29"/>
          <p:cNvSpPr/>
          <p:nvPr/>
        </p:nvSpPr>
        <p:spPr>
          <a:xfrm>
            <a:off x="7699248" y="2670048"/>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Category-specific specifications</a:t>
            </a:r>
            <a:endParaRPr lang="en-US" sz="1100" dirty="0"/>
          </a:p>
        </p:txBody>
      </p:sp>
      <p:sp>
        <p:nvSpPr>
          <p:cNvPr id="32" name="Shape 30"/>
          <p:cNvSpPr/>
          <p:nvPr/>
        </p:nvSpPr>
        <p:spPr>
          <a:xfrm>
            <a:off x="457200" y="2903220"/>
            <a:ext cx="11247120" cy="233172"/>
          </a:xfrm>
          <a:prstGeom prst="rect">
            <a:avLst/>
          </a:prstGeom>
          <a:solidFill>
            <a:srgbClr val="F4F6FA"/>
          </a:solidFill>
          <a:ln w="6350">
            <a:solidFill>
              <a:srgbClr val="DDE3EE"/>
            </a:solidFill>
            <a:prstDash val="solid"/>
          </a:ln>
        </p:spPr>
      </p:sp>
      <p:sp>
        <p:nvSpPr>
          <p:cNvPr id="33" name="Text 31"/>
          <p:cNvSpPr/>
          <p:nvPr/>
        </p:nvSpPr>
        <p:spPr>
          <a:xfrm>
            <a:off x="566928" y="2903220"/>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Parametric search</a:t>
            </a:r>
            <a:endParaRPr lang="en-US" sz="1100" dirty="0"/>
          </a:p>
        </p:txBody>
      </p:sp>
      <p:sp>
        <p:nvSpPr>
          <p:cNvPr id="34" name="Text 32"/>
          <p:cNvSpPr/>
          <p:nvPr/>
        </p:nvSpPr>
        <p:spPr>
          <a:xfrm>
            <a:off x="3950208" y="2903220"/>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Limited</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35" name="Text 33"/>
          <p:cNvSpPr/>
          <p:nvPr/>
        </p:nvSpPr>
        <p:spPr>
          <a:xfrm>
            <a:off x="7699248" y="2903220"/>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Core feature</a:t>
            </a:r>
            <a:endParaRPr lang="en-US" sz="1100" dirty="0"/>
          </a:p>
        </p:txBody>
      </p:sp>
      <p:sp>
        <p:nvSpPr>
          <p:cNvPr id="36" name="Shape 34"/>
          <p:cNvSpPr/>
          <p:nvPr/>
        </p:nvSpPr>
        <p:spPr>
          <a:xfrm>
            <a:off x="457200" y="3136392"/>
            <a:ext cx="11247120" cy="233172"/>
          </a:xfrm>
          <a:prstGeom prst="rect">
            <a:avLst/>
          </a:prstGeom>
          <a:solidFill>
            <a:srgbClr val="FFFFFF"/>
          </a:solidFill>
          <a:ln w="6350">
            <a:solidFill>
              <a:srgbClr val="DDE3EE"/>
            </a:solidFill>
            <a:prstDash val="solid"/>
          </a:ln>
        </p:spPr>
      </p:sp>
      <p:sp>
        <p:nvSpPr>
          <p:cNvPr id="37" name="Text 35"/>
          <p:cNvSpPr/>
          <p:nvPr/>
        </p:nvSpPr>
        <p:spPr>
          <a:xfrm>
            <a:off x="566928" y="3136392"/>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Community help</a:t>
            </a:r>
            <a:endParaRPr lang="en-US" sz="1100" dirty="0"/>
          </a:p>
        </p:txBody>
      </p:sp>
      <p:sp>
        <p:nvSpPr>
          <p:cNvPr id="38" name="Text 36"/>
          <p:cNvSpPr/>
          <p:nvPr/>
        </p:nvSpPr>
        <p:spPr>
          <a:xfrm>
            <a:off x="3950208" y="3136392"/>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Usually absent</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39" name="Text 37"/>
          <p:cNvSpPr/>
          <p:nvPr/>
        </p:nvSpPr>
        <p:spPr>
          <a:xfrm>
            <a:off x="7699248" y="3136392"/>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Built-in</a:t>
            </a:r>
            <a:endParaRPr lang="en-US" sz="1100" dirty="0"/>
          </a:p>
        </p:txBody>
      </p:sp>
      <p:sp>
        <p:nvSpPr>
          <p:cNvPr id="40" name="Shape 38"/>
          <p:cNvSpPr/>
          <p:nvPr/>
        </p:nvSpPr>
        <p:spPr>
          <a:xfrm>
            <a:off x="457200" y="3369564"/>
            <a:ext cx="11247120" cy="233172"/>
          </a:xfrm>
          <a:prstGeom prst="rect">
            <a:avLst/>
          </a:prstGeom>
          <a:solidFill>
            <a:srgbClr val="F4F6FA"/>
          </a:solidFill>
          <a:ln w="6350">
            <a:solidFill>
              <a:srgbClr val="DDE3EE"/>
            </a:solidFill>
            <a:prstDash val="solid"/>
          </a:ln>
        </p:spPr>
      </p:sp>
      <p:sp>
        <p:nvSpPr>
          <p:cNvPr id="41" name="Text 39"/>
          <p:cNvSpPr/>
          <p:nvPr/>
        </p:nvSpPr>
        <p:spPr>
          <a:xfrm>
            <a:off x="566928" y="3369564"/>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Component alternatives</a:t>
            </a:r>
            <a:endParaRPr lang="en-US" sz="1100" dirty="0"/>
          </a:p>
        </p:txBody>
      </p:sp>
      <p:sp>
        <p:nvSpPr>
          <p:cNvPr id="42" name="Text 40"/>
          <p:cNvSpPr/>
          <p:nvPr/>
        </p:nvSpPr>
        <p:spPr>
          <a:xfrm>
            <a:off x="3950208" y="3369564"/>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Manual</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43" name="Text 41"/>
          <p:cNvSpPr/>
          <p:nvPr/>
        </p:nvSpPr>
        <p:spPr>
          <a:xfrm>
            <a:off x="7699248" y="3369564"/>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AI-assisted</a:t>
            </a:r>
            <a:endParaRPr lang="en-US" sz="1100" dirty="0"/>
          </a:p>
        </p:txBody>
      </p:sp>
      <p:sp>
        <p:nvSpPr>
          <p:cNvPr id="44" name="Shape 42"/>
          <p:cNvSpPr/>
          <p:nvPr/>
        </p:nvSpPr>
        <p:spPr>
          <a:xfrm>
            <a:off x="457200" y="3602736"/>
            <a:ext cx="11247120" cy="233172"/>
          </a:xfrm>
          <a:prstGeom prst="rect">
            <a:avLst/>
          </a:prstGeom>
          <a:solidFill>
            <a:srgbClr val="FFFFFF"/>
          </a:solidFill>
          <a:ln w="6350">
            <a:solidFill>
              <a:srgbClr val="DDE3EE"/>
            </a:solidFill>
            <a:prstDash val="solid"/>
          </a:ln>
        </p:spPr>
      </p:sp>
      <p:sp>
        <p:nvSpPr>
          <p:cNvPr id="45" name="Text 43"/>
          <p:cNvSpPr/>
          <p:nvPr/>
        </p:nvSpPr>
        <p:spPr>
          <a:xfrm>
            <a:off x="566928" y="3602736"/>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RFQ</a:t>
            </a:r>
            <a:endParaRPr lang="en-US" sz="1100" dirty="0"/>
          </a:p>
        </p:txBody>
      </p:sp>
      <p:sp>
        <p:nvSpPr>
          <p:cNvPr id="46" name="Text 44"/>
          <p:cNvSpPr/>
          <p:nvPr/>
        </p:nvSpPr>
        <p:spPr>
          <a:xfrm>
            <a:off x="3950208" y="3602736"/>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Available on some platforms</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47" name="Text 45"/>
          <p:cNvSpPr/>
          <p:nvPr/>
        </p:nvSpPr>
        <p:spPr>
          <a:xfrm>
            <a:off x="7699248" y="3602736"/>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Core workflow</a:t>
            </a:r>
            <a:endParaRPr lang="en-US" sz="1100" dirty="0"/>
          </a:p>
        </p:txBody>
      </p:sp>
      <p:sp>
        <p:nvSpPr>
          <p:cNvPr id="48" name="Shape 46"/>
          <p:cNvSpPr/>
          <p:nvPr/>
        </p:nvSpPr>
        <p:spPr>
          <a:xfrm>
            <a:off x="457200" y="3835908"/>
            <a:ext cx="11247120" cy="233172"/>
          </a:xfrm>
          <a:prstGeom prst="rect">
            <a:avLst/>
          </a:prstGeom>
          <a:solidFill>
            <a:srgbClr val="F4F6FA"/>
          </a:solidFill>
          <a:ln w="6350">
            <a:solidFill>
              <a:srgbClr val="DDE3EE"/>
            </a:solidFill>
            <a:prstDash val="solid"/>
          </a:ln>
        </p:spPr>
      </p:sp>
      <p:sp>
        <p:nvSpPr>
          <p:cNvPr id="49" name="Text 47"/>
          <p:cNvSpPr/>
          <p:nvPr/>
        </p:nvSpPr>
        <p:spPr>
          <a:xfrm>
            <a:off x="566928" y="3835908"/>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BOM-based sourcing</a:t>
            </a:r>
            <a:endParaRPr lang="en-US" sz="1100" dirty="0"/>
          </a:p>
        </p:txBody>
      </p:sp>
      <p:sp>
        <p:nvSpPr>
          <p:cNvPr id="50" name="Text 48"/>
          <p:cNvSpPr/>
          <p:nvPr/>
        </p:nvSpPr>
        <p:spPr>
          <a:xfrm>
            <a:off x="3950208" y="3835908"/>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Limited</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51" name="Text 49"/>
          <p:cNvSpPr/>
          <p:nvPr/>
        </p:nvSpPr>
        <p:spPr>
          <a:xfrm>
            <a:off x="7699248" y="3835908"/>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Planned feature</a:t>
            </a:r>
            <a:endParaRPr lang="en-US" sz="1100" dirty="0"/>
          </a:p>
        </p:txBody>
      </p:sp>
      <p:sp>
        <p:nvSpPr>
          <p:cNvPr id="52" name="Shape 50"/>
          <p:cNvSpPr/>
          <p:nvPr/>
        </p:nvSpPr>
        <p:spPr>
          <a:xfrm>
            <a:off x="457200" y="4069080"/>
            <a:ext cx="11247120" cy="233172"/>
          </a:xfrm>
          <a:prstGeom prst="rect">
            <a:avLst/>
          </a:prstGeom>
          <a:solidFill>
            <a:srgbClr val="FFFFFF"/>
          </a:solidFill>
          <a:ln w="6350">
            <a:solidFill>
              <a:srgbClr val="DDE3EE"/>
            </a:solidFill>
            <a:prstDash val="solid"/>
          </a:ln>
        </p:spPr>
      </p:sp>
      <p:sp>
        <p:nvSpPr>
          <p:cNvPr id="53" name="Text 51"/>
          <p:cNvSpPr/>
          <p:nvPr/>
        </p:nvSpPr>
        <p:spPr>
          <a:xfrm>
            <a:off x="566928" y="4069080"/>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Technical discussions</a:t>
            </a:r>
            <a:endParaRPr lang="en-US" sz="1100" dirty="0"/>
          </a:p>
        </p:txBody>
      </p:sp>
      <p:sp>
        <p:nvSpPr>
          <p:cNvPr id="54" name="Text 52"/>
          <p:cNvSpPr/>
          <p:nvPr/>
        </p:nvSpPr>
        <p:spPr>
          <a:xfrm>
            <a:off x="3950208" y="4069080"/>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Separate channels</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55" name="Text 53"/>
          <p:cNvSpPr/>
          <p:nvPr/>
        </p:nvSpPr>
        <p:spPr>
          <a:xfrm>
            <a:off x="7699248" y="4069080"/>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Integrated</a:t>
            </a:r>
            <a:endParaRPr lang="en-US" sz="1100" dirty="0"/>
          </a:p>
        </p:txBody>
      </p:sp>
      <p:sp>
        <p:nvSpPr>
          <p:cNvPr id="56" name="Shape 54"/>
          <p:cNvSpPr/>
          <p:nvPr/>
        </p:nvSpPr>
        <p:spPr>
          <a:xfrm>
            <a:off x="457200" y="4302252"/>
            <a:ext cx="11247120" cy="233172"/>
          </a:xfrm>
          <a:prstGeom prst="rect">
            <a:avLst/>
          </a:prstGeom>
          <a:solidFill>
            <a:srgbClr val="F4F6FA"/>
          </a:solidFill>
          <a:ln w="6350">
            <a:solidFill>
              <a:srgbClr val="DDE3EE"/>
            </a:solidFill>
            <a:prstDash val="solid"/>
          </a:ln>
        </p:spPr>
      </p:sp>
      <p:sp>
        <p:nvSpPr>
          <p:cNvPr id="57" name="Text 55"/>
          <p:cNvSpPr/>
          <p:nvPr/>
        </p:nvSpPr>
        <p:spPr>
          <a:xfrm>
            <a:off x="566928" y="4302252"/>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Small Indian suppliers</a:t>
            </a:r>
            <a:endParaRPr lang="en-US" sz="1100" dirty="0"/>
          </a:p>
        </p:txBody>
      </p:sp>
      <p:sp>
        <p:nvSpPr>
          <p:cNvPr id="58" name="Text 56"/>
          <p:cNvSpPr/>
          <p:nvPr/>
        </p:nvSpPr>
        <p:spPr>
          <a:xfrm>
            <a:off x="3950208" y="4302252"/>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Difficult to discover</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59" name="Text 57"/>
          <p:cNvSpPr/>
          <p:nvPr/>
        </p:nvSpPr>
        <p:spPr>
          <a:xfrm>
            <a:off x="7699248" y="4302252"/>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Core target</a:t>
            </a:r>
            <a:endParaRPr lang="en-US" sz="1100" dirty="0"/>
          </a:p>
        </p:txBody>
      </p:sp>
      <p:sp>
        <p:nvSpPr>
          <p:cNvPr id="60" name="Shape 58"/>
          <p:cNvSpPr/>
          <p:nvPr/>
        </p:nvSpPr>
        <p:spPr>
          <a:xfrm>
            <a:off x="457200" y="4535424"/>
            <a:ext cx="11247120" cy="233172"/>
          </a:xfrm>
          <a:prstGeom prst="rect">
            <a:avLst/>
          </a:prstGeom>
          <a:solidFill>
            <a:srgbClr val="FFFFFF"/>
          </a:solidFill>
          <a:ln w="6350">
            <a:solidFill>
              <a:srgbClr val="DDE3EE"/>
            </a:solidFill>
            <a:prstDash val="solid"/>
          </a:ln>
        </p:spPr>
      </p:sp>
      <p:sp>
        <p:nvSpPr>
          <p:cNvPr id="61" name="Text 59"/>
          <p:cNvSpPr/>
          <p:nvPr/>
        </p:nvSpPr>
        <p:spPr>
          <a:xfrm>
            <a:off x="566928" y="4535424"/>
            <a:ext cx="3200400" cy="233172"/>
          </a:xfrm>
          <a:prstGeom prst="rect">
            <a:avLst/>
          </a:prstGeom>
          <a:noFill/>
          <a:ln/>
        </p:spPr>
        <p:txBody>
          <a:bodyPr wrap="square" rtlCol="0" anchor="ctr"/>
          <a:lstStyle/>
          <a:p>
            <a:pPr marL="0" indent="0">
              <a:buNone/>
            </a:pPr>
            <a:r>
              <a:rPr lang="en-US" sz="1100" b="1" dirty="0">
                <a:solidFill>
                  <a:srgbClr val="0B1F3D"/>
                </a:solidFill>
                <a:latin typeface="Calibri" pitchFamily="34" charset="0"/>
                <a:ea typeface="Calibri" pitchFamily="34" charset="-122"/>
                <a:cs typeface="Calibri" pitchFamily="34" charset="-120"/>
              </a:rPr>
              <a:t>Trust score</a:t>
            </a:r>
            <a:endParaRPr lang="en-US" sz="1100" dirty="0"/>
          </a:p>
        </p:txBody>
      </p:sp>
      <p:sp>
        <p:nvSpPr>
          <p:cNvPr id="62" name="Text 60"/>
          <p:cNvSpPr/>
          <p:nvPr/>
        </p:nvSpPr>
        <p:spPr>
          <a:xfrm>
            <a:off x="3950208" y="4535424"/>
            <a:ext cx="3566160" cy="233172"/>
          </a:xfrm>
          <a:prstGeom prst="rect">
            <a:avLst/>
          </a:prstGeom>
          <a:noFill/>
          <a:ln/>
        </p:spPr>
        <p:txBody>
          <a:bodyPr wrap="square" rtlCol="0" anchor="ctr"/>
          <a:lstStyle/>
          <a:p>
            <a:pPr marL="0" indent="0">
              <a:buNone/>
            </a:pPr>
            <a:r>
              <a:rPr lang="en-US" sz="1100" dirty="0">
                <a:ln w="0"/>
                <a:solidFill>
                  <a:schemeClr val="accent1">
                    <a:lumMod val="50000"/>
                  </a:schemeClr>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Basic</a:t>
            </a:r>
            <a:endParaRPr lang="en-US" sz="110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63" name="Text 61"/>
          <p:cNvSpPr/>
          <p:nvPr/>
        </p:nvSpPr>
        <p:spPr>
          <a:xfrm>
            <a:off x="7699248" y="4535424"/>
            <a:ext cx="3931920" cy="233172"/>
          </a:xfrm>
          <a:prstGeom prst="rect">
            <a:avLst/>
          </a:prstGeom>
          <a:noFill/>
          <a:ln/>
        </p:spPr>
        <p:txBody>
          <a:bodyPr wrap="square" rtlCol="0" anchor="ctr"/>
          <a:lstStyle/>
          <a:p>
            <a:pPr marL="0" indent="0">
              <a:buNone/>
            </a:pPr>
            <a:r>
              <a:rPr lang="en-US" sz="1100" b="1" dirty="0">
                <a:solidFill>
                  <a:srgbClr val="13684A"/>
                </a:solidFill>
                <a:latin typeface="Calibri" pitchFamily="34" charset="0"/>
                <a:ea typeface="Calibri" pitchFamily="34" charset="-122"/>
                <a:cs typeface="Calibri" pitchFamily="34" charset="-120"/>
              </a:rPr>
              <a:t>Multi-factor supplier trust</a:t>
            </a:r>
            <a:endParaRPr lang="en-US" sz="1100" dirty="0"/>
          </a:p>
        </p:txBody>
      </p:sp>
      <p:sp>
        <p:nvSpPr>
          <p:cNvPr id="64" name="Shape 62"/>
          <p:cNvSpPr/>
          <p:nvPr/>
        </p:nvSpPr>
        <p:spPr>
          <a:xfrm>
            <a:off x="457200" y="4933188"/>
            <a:ext cx="3419856" cy="1051560"/>
          </a:xfrm>
          <a:prstGeom prst="roundRect">
            <a:avLst>
              <a:gd name="adj" fmla="val 6957"/>
            </a:avLst>
          </a:prstGeom>
          <a:solidFill>
            <a:srgbClr val="2F6FED"/>
          </a:solidFill>
          <a:ln/>
        </p:spPr>
        <p:txBody>
          <a:bodyPr/>
          <a:lstStyle/>
          <a:p>
            <a:endParaRPr lang="en-IN" dirty="0"/>
          </a:p>
        </p:txBody>
      </p:sp>
      <p:sp>
        <p:nvSpPr>
          <p:cNvPr id="65" name="Shape 63"/>
          <p:cNvSpPr/>
          <p:nvPr/>
        </p:nvSpPr>
        <p:spPr>
          <a:xfrm>
            <a:off x="603504" y="5061204"/>
            <a:ext cx="365760" cy="365760"/>
          </a:xfrm>
          <a:prstGeom prst="ellipse">
            <a:avLst/>
          </a:prstGeom>
          <a:solidFill>
            <a:srgbClr val="FFFFFF"/>
          </a:solidFill>
          <a:ln/>
        </p:spPr>
      </p:sp>
      <p:pic>
        <p:nvPicPr>
          <p:cNvPr id="66" name="Image 0" descr="/home/claude/electromart/icons/shield.png"/>
          <p:cNvPicPr>
            <a:picLocks noChangeAspect="1"/>
          </p:cNvPicPr>
          <p:nvPr/>
        </p:nvPicPr>
        <p:blipFill>
          <a:blip r:embed="rId3"/>
          <a:stretch>
            <a:fillRect/>
          </a:stretch>
        </p:blipFill>
        <p:spPr>
          <a:xfrm>
            <a:off x="676656" y="5134356"/>
            <a:ext cx="219456" cy="219456"/>
          </a:xfrm>
          <a:prstGeom prst="rect">
            <a:avLst/>
          </a:prstGeom>
        </p:spPr>
      </p:pic>
      <p:sp>
        <p:nvSpPr>
          <p:cNvPr id="67" name="Text 64"/>
          <p:cNvSpPr/>
          <p:nvPr/>
        </p:nvSpPr>
        <p:spPr>
          <a:xfrm>
            <a:off x="1078992" y="5061204"/>
            <a:ext cx="2798064" cy="365760"/>
          </a:xfrm>
          <a:prstGeom prst="rect">
            <a:avLst/>
          </a:prstGeom>
          <a:noFill/>
          <a:ln/>
        </p:spPr>
        <p:txBody>
          <a:bodyPr wrap="square" rtlCol="0" anchor="ctr"/>
          <a:lstStyle/>
          <a:p>
            <a:pPr marL="0" indent="0">
              <a:buNone/>
            </a:pPr>
            <a:r>
              <a:rPr lang="en-US" sz="1250" b="1" kern="0" spc="50" dirty="0">
                <a:solidFill>
                  <a:srgbClr val="FFFFFF"/>
                </a:solidFill>
                <a:latin typeface="Calibri" pitchFamily="34" charset="0"/>
                <a:ea typeface="Calibri" pitchFamily="34" charset="-122"/>
                <a:cs typeface="Calibri" pitchFamily="34" charset="-120"/>
              </a:rPr>
              <a:t>TRUST</a:t>
            </a:r>
            <a:endParaRPr lang="en-US" sz="1250" dirty="0"/>
          </a:p>
        </p:txBody>
      </p:sp>
      <p:sp>
        <p:nvSpPr>
          <p:cNvPr id="68" name="Text 65"/>
          <p:cNvSpPr/>
          <p:nvPr/>
        </p:nvSpPr>
        <p:spPr>
          <a:xfrm>
            <a:off x="603504" y="5481080"/>
            <a:ext cx="3273552" cy="411480"/>
          </a:xfrm>
          <a:prstGeom prst="rect">
            <a:avLst/>
          </a:prstGeom>
          <a:noFill/>
          <a:ln/>
        </p:spPr>
        <p:txBody>
          <a:bodyPr wrap="square" rtlCol="0" anchor="t"/>
          <a:lstStyle/>
          <a:p>
            <a:pPr marL="0" indent="0">
              <a:buNone/>
            </a:pPr>
            <a:r>
              <a:rPr lang="en-US" sz="1200" dirty="0">
                <a:solidFill>
                  <a:srgbClr val="E7ECFA"/>
                </a:solidFill>
                <a:latin typeface="Calibri" pitchFamily="34" charset="0"/>
                <a:ea typeface="Calibri" pitchFamily="34" charset="-122"/>
                <a:cs typeface="Calibri" pitchFamily="34" charset="-120"/>
              </a:rPr>
              <a:t>Certifications + business verification + Point of Contact + reviews</a:t>
            </a:r>
            <a:endParaRPr lang="en-US" sz="1200" dirty="0"/>
          </a:p>
        </p:txBody>
      </p:sp>
      <p:sp>
        <p:nvSpPr>
          <p:cNvPr id="69" name="Shape 66"/>
          <p:cNvSpPr/>
          <p:nvPr/>
        </p:nvSpPr>
        <p:spPr>
          <a:xfrm>
            <a:off x="4087368" y="4945178"/>
            <a:ext cx="3566160" cy="1051560"/>
          </a:xfrm>
          <a:prstGeom prst="roundRect">
            <a:avLst>
              <a:gd name="adj" fmla="val 6957"/>
            </a:avLst>
          </a:prstGeom>
          <a:solidFill>
            <a:srgbClr val="0B1F3D"/>
          </a:solidFill>
          <a:ln/>
        </p:spPr>
      </p:sp>
      <p:sp>
        <p:nvSpPr>
          <p:cNvPr id="70" name="Shape 67"/>
          <p:cNvSpPr/>
          <p:nvPr/>
        </p:nvSpPr>
        <p:spPr>
          <a:xfrm>
            <a:off x="4233672" y="5073194"/>
            <a:ext cx="365760" cy="365760"/>
          </a:xfrm>
          <a:prstGeom prst="ellipse">
            <a:avLst/>
          </a:prstGeom>
          <a:solidFill>
            <a:srgbClr val="FFFFFF"/>
          </a:solidFill>
          <a:ln/>
        </p:spPr>
      </p:sp>
      <p:pic>
        <p:nvPicPr>
          <p:cNvPr id="71" name="Image 1" descr="/home/claude/electromart/icons/chip.png"/>
          <p:cNvPicPr>
            <a:picLocks noChangeAspect="1"/>
          </p:cNvPicPr>
          <p:nvPr/>
        </p:nvPicPr>
        <p:blipFill>
          <a:blip r:embed="rId4"/>
          <a:stretch>
            <a:fillRect/>
          </a:stretch>
        </p:blipFill>
        <p:spPr>
          <a:xfrm>
            <a:off x="4306824" y="5146346"/>
            <a:ext cx="219456" cy="219456"/>
          </a:xfrm>
          <a:prstGeom prst="rect">
            <a:avLst/>
          </a:prstGeom>
        </p:spPr>
      </p:pic>
      <p:sp>
        <p:nvSpPr>
          <p:cNvPr id="72" name="Text 68"/>
          <p:cNvSpPr/>
          <p:nvPr/>
        </p:nvSpPr>
        <p:spPr>
          <a:xfrm>
            <a:off x="4709160" y="5073194"/>
            <a:ext cx="2798064" cy="365760"/>
          </a:xfrm>
          <a:prstGeom prst="rect">
            <a:avLst/>
          </a:prstGeom>
          <a:noFill/>
          <a:ln/>
        </p:spPr>
        <p:txBody>
          <a:bodyPr wrap="square" rtlCol="0" anchor="ctr"/>
          <a:lstStyle/>
          <a:p>
            <a:pPr marL="0" indent="0">
              <a:buNone/>
            </a:pPr>
            <a:r>
              <a:rPr lang="en-US" sz="1250" b="1" kern="0" spc="50" dirty="0">
                <a:solidFill>
                  <a:srgbClr val="FFFFFF"/>
                </a:solidFill>
                <a:latin typeface="Calibri" pitchFamily="34" charset="0"/>
                <a:ea typeface="Calibri" pitchFamily="34" charset="-122"/>
                <a:cs typeface="Calibri" pitchFamily="34" charset="-120"/>
              </a:rPr>
              <a:t>TECHNICAL INTELLIGENCE</a:t>
            </a:r>
            <a:endParaRPr lang="en-US" sz="1250" dirty="0"/>
          </a:p>
        </p:txBody>
      </p:sp>
      <p:sp>
        <p:nvSpPr>
          <p:cNvPr id="73" name="Text 69"/>
          <p:cNvSpPr/>
          <p:nvPr/>
        </p:nvSpPr>
        <p:spPr>
          <a:xfrm>
            <a:off x="4233672" y="5493070"/>
            <a:ext cx="3273552" cy="411480"/>
          </a:xfrm>
          <a:prstGeom prst="rect">
            <a:avLst/>
          </a:prstGeom>
          <a:noFill/>
          <a:ln/>
        </p:spPr>
        <p:txBody>
          <a:bodyPr wrap="square" rtlCol="0" anchor="t"/>
          <a:lstStyle/>
          <a:p>
            <a:pPr marL="0" indent="0">
              <a:buNone/>
            </a:pPr>
            <a:r>
              <a:rPr lang="en-US" sz="1200" dirty="0">
                <a:solidFill>
                  <a:srgbClr val="E7ECFA"/>
                </a:solidFill>
                <a:latin typeface="Calibri" pitchFamily="34" charset="0"/>
                <a:ea typeface="Calibri" pitchFamily="34" charset="-122"/>
                <a:cs typeface="Calibri" pitchFamily="34" charset="-120"/>
              </a:rPr>
              <a:t>Component-specific specifications and parametric search</a:t>
            </a:r>
            <a:endParaRPr lang="en-US" sz="1200" dirty="0"/>
          </a:p>
        </p:txBody>
      </p:sp>
      <p:sp>
        <p:nvSpPr>
          <p:cNvPr id="74" name="Shape 70"/>
          <p:cNvSpPr/>
          <p:nvPr/>
        </p:nvSpPr>
        <p:spPr>
          <a:xfrm>
            <a:off x="7863840" y="4933188"/>
            <a:ext cx="3566160" cy="1051560"/>
          </a:xfrm>
          <a:prstGeom prst="roundRect">
            <a:avLst>
              <a:gd name="adj" fmla="val 6957"/>
            </a:avLst>
          </a:prstGeom>
          <a:solidFill>
            <a:srgbClr val="1FA97A"/>
          </a:solidFill>
          <a:ln/>
        </p:spPr>
      </p:sp>
      <p:sp>
        <p:nvSpPr>
          <p:cNvPr id="75" name="Shape 71"/>
          <p:cNvSpPr/>
          <p:nvPr/>
        </p:nvSpPr>
        <p:spPr>
          <a:xfrm>
            <a:off x="8010144" y="5061204"/>
            <a:ext cx="365760" cy="365760"/>
          </a:xfrm>
          <a:prstGeom prst="ellipse">
            <a:avLst/>
          </a:prstGeom>
          <a:solidFill>
            <a:srgbClr val="FFFFFF"/>
          </a:solidFill>
          <a:ln/>
        </p:spPr>
      </p:sp>
      <p:pic>
        <p:nvPicPr>
          <p:cNvPr id="76" name="Image 2" descr="/home/claude/electromart/icons/users.png"/>
          <p:cNvPicPr>
            <a:picLocks noChangeAspect="1"/>
          </p:cNvPicPr>
          <p:nvPr/>
        </p:nvPicPr>
        <p:blipFill>
          <a:blip r:embed="rId5"/>
          <a:stretch>
            <a:fillRect/>
          </a:stretch>
        </p:blipFill>
        <p:spPr>
          <a:xfrm>
            <a:off x="8083296" y="5134356"/>
            <a:ext cx="219456" cy="219456"/>
          </a:xfrm>
          <a:prstGeom prst="rect">
            <a:avLst/>
          </a:prstGeom>
        </p:spPr>
      </p:pic>
      <p:sp>
        <p:nvSpPr>
          <p:cNvPr id="77" name="Text 72"/>
          <p:cNvSpPr/>
          <p:nvPr/>
        </p:nvSpPr>
        <p:spPr>
          <a:xfrm>
            <a:off x="8485632" y="5061204"/>
            <a:ext cx="2798064" cy="365760"/>
          </a:xfrm>
          <a:prstGeom prst="rect">
            <a:avLst/>
          </a:prstGeom>
          <a:noFill/>
          <a:ln/>
        </p:spPr>
        <p:txBody>
          <a:bodyPr wrap="square" rtlCol="0" anchor="ctr"/>
          <a:lstStyle/>
          <a:p>
            <a:pPr marL="0" indent="0">
              <a:buNone/>
            </a:pPr>
            <a:r>
              <a:rPr lang="en-US" sz="1250" b="1" kern="0" spc="50" dirty="0">
                <a:solidFill>
                  <a:srgbClr val="FFFFFF"/>
                </a:solidFill>
                <a:latin typeface="Calibri" pitchFamily="34" charset="0"/>
                <a:ea typeface="Calibri" pitchFamily="34" charset="-122"/>
                <a:cs typeface="Calibri" pitchFamily="34" charset="-120"/>
              </a:rPr>
              <a:t>COMMUNITY</a:t>
            </a:r>
            <a:endParaRPr lang="en-US" sz="1250" dirty="0"/>
          </a:p>
        </p:txBody>
      </p:sp>
      <p:sp>
        <p:nvSpPr>
          <p:cNvPr id="78" name="Text 73"/>
          <p:cNvSpPr/>
          <p:nvPr/>
        </p:nvSpPr>
        <p:spPr>
          <a:xfrm>
            <a:off x="8010144" y="5481080"/>
            <a:ext cx="3273552" cy="411480"/>
          </a:xfrm>
          <a:prstGeom prst="rect">
            <a:avLst/>
          </a:prstGeom>
          <a:noFill/>
          <a:ln/>
        </p:spPr>
        <p:txBody>
          <a:bodyPr wrap="square" rtlCol="0" anchor="t"/>
          <a:lstStyle/>
          <a:p>
            <a:pPr marL="0" indent="0">
              <a:buNone/>
            </a:pPr>
            <a:r>
              <a:rPr lang="en-US" sz="1200" dirty="0">
                <a:solidFill>
                  <a:srgbClr val="E7ECFA"/>
                </a:solidFill>
                <a:latin typeface="Calibri" pitchFamily="34" charset="0"/>
                <a:ea typeface="Calibri" pitchFamily="34" charset="-122"/>
                <a:cs typeface="Calibri" pitchFamily="34" charset="-120"/>
              </a:rPr>
              <a:t>Customers, engineers and suppliers collectively solve sourcing problems</a:t>
            </a:r>
            <a:endParaRPr lang="en-US" sz="1200" dirty="0"/>
          </a:p>
        </p:txBody>
      </p:sp>
      <p:cxnSp>
        <p:nvCxnSpPr>
          <p:cNvPr id="80" name="Straight Connector 79">
            <a:extLst>
              <a:ext uri="{FF2B5EF4-FFF2-40B4-BE49-F238E27FC236}">
                <a16:creationId xmlns:a16="http://schemas.microsoft.com/office/drawing/2014/main" id="{932F3A7E-EBFE-8764-76A7-4EC86F6FCB99}"/>
              </a:ext>
            </a:extLst>
          </p:cNvPr>
          <p:cNvCxnSpPr>
            <a:cxnSpLocks/>
          </p:cNvCxnSpPr>
          <p:nvPr/>
        </p:nvCxnSpPr>
        <p:spPr>
          <a:xfrm>
            <a:off x="3840480" y="1383030"/>
            <a:ext cx="18288" cy="33855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6DFBC72-9725-ADDE-E277-304AA82A36C1}"/>
              </a:ext>
            </a:extLst>
          </p:cNvPr>
          <p:cNvCxnSpPr>
            <a:cxnSpLocks/>
          </p:cNvCxnSpPr>
          <p:nvPr/>
        </p:nvCxnSpPr>
        <p:spPr>
          <a:xfrm>
            <a:off x="7583362" y="1387042"/>
            <a:ext cx="18288" cy="3385566"/>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THE CUSTOMER JOURNEY</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From “I Need a Component” to “I Found the Right One”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05 / 10</a:t>
            </a:r>
            <a:endParaRPr lang="en-US" sz="850" dirty="0"/>
          </a:p>
        </p:txBody>
      </p:sp>
      <p:sp>
        <p:nvSpPr>
          <p:cNvPr id="6" name="Shape 4"/>
          <p:cNvSpPr/>
          <p:nvPr/>
        </p:nvSpPr>
        <p:spPr>
          <a:xfrm>
            <a:off x="457200" y="1417320"/>
            <a:ext cx="2088490" cy="2148840"/>
          </a:xfrm>
          <a:prstGeom prst="roundRect">
            <a:avLst>
              <a:gd name="adj" fmla="val 350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7" name="Shape 5"/>
          <p:cNvSpPr/>
          <p:nvPr/>
        </p:nvSpPr>
        <p:spPr>
          <a:xfrm>
            <a:off x="457200" y="1417320"/>
            <a:ext cx="384048" cy="384048"/>
          </a:xfrm>
          <a:prstGeom prst="roundRect">
            <a:avLst>
              <a:gd name="adj" fmla="val 14286"/>
            </a:avLst>
          </a:prstGeom>
          <a:solidFill>
            <a:srgbClr val="2F6FED"/>
          </a:solidFill>
          <a:ln/>
        </p:spPr>
      </p:sp>
      <p:sp>
        <p:nvSpPr>
          <p:cNvPr id="8" name="Text 6"/>
          <p:cNvSpPr/>
          <p:nvPr/>
        </p:nvSpPr>
        <p:spPr>
          <a:xfrm>
            <a:off x="457200" y="141732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1172261" y="1705630"/>
            <a:ext cx="658368" cy="658368"/>
          </a:xfrm>
          <a:prstGeom prst="ellipse">
            <a:avLst/>
          </a:prstGeom>
          <a:solidFill>
            <a:schemeClr val="bg2"/>
          </a:solidFill>
          <a:ln/>
        </p:spPr>
      </p:sp>
      <p:pic>
        <p:nvPicPr>
          <p:cNvPr id="10" name="Image 0" descr="/home/claude/electromart/icons/search.png"/>
          <p:cNvPicPr>
            <a:picLocks noChangeAspect="1"/>
          </p:cNvPicPr>
          <p:nvPr/>
        </p:nvPicPr>
        <p:blipFill>
          <a:blip r:embed="rId3"/>
          <a:stretch>
            <a:fillRect/>
          </a:stretch>
        </p:blipFill>
        <p:spPr>
          <a:xfrm>
            <a:off x="1343436" y="1876806"/>
            <a:ext cx="316017" cy="316017"/>
          </a:xfrm>
          <a:prstGeom prst="rect">
            <a:avLst/>
          </a:prstGeom>
        </p:spPr>
      </p:pic>
      <p:sp>
        <p:nvSpPr>
          <p:cNvPr id="11" name="Text 8"/>
          <p:cNvSpPr/>
          <p:nvPr/>
        </p:nvSpPr>
        <p:spPr>
          <a:xfrm>
            <a:off x="548640" y="2501158"/>
            <a:ext cx="1905610" cy="274320"/>
          </a:xfrm>
          <a:prstGeom prst="rect">
            <a:avLst/>
          </a:prstGeom>
          <a:noFill/>
          <a:ln/>
        </p:spPr>
        <p:txBody>
          <a:bodyPr wrap="square" rtlCol="0" anchor="ctr"/>
          <a:lstStyle/>
          <a:p>
            <a:pPr marL="0" indent="0" algn="ctr">
              <a:buNone/>
            </a:pPr>
            <a:r>
              <a:rPr lang="en-US" sz="1150" b="1" dirty="0">
                <a:solidFill>
                  <a:srgbClr val="0B1F3D"/>
                </a:solidFill>
                <a:latin typeface="Calibri" pitchFamily="34" charset="0"/>
                <a:ea typeface="Calibri" pitchFamily="34" charset="-122"/>
                <a:cs typeface="Calibri" pitchFamily="34" charset="-120"/>
              </a:rPr>
              <a:t>SEARCH</a:t>
            </a:r>
            <a:endParaRPr lang="en-US" sz="1150" dirty="0"/>
          </a:p>
        </p:txBody>
      </p:sp>
      <p:sp>
        <p:nvSpPr>
          <p:cNvPr id="12" name="Text 9"/>
          <p:cNvSpPr/>
          <p:nvPr/>
        </p:nvSpPr>
        <p:spPr>
          <a:xfrm>
            <a:off x="585216" y="2793766"/>
            <a:ext cx="1832458" cy="530352"/>
          </a:xfrm>
          <a:prstGeom prst="rect">
            <a:avLst/>
          </a:prstGeom>
          <a:noFill/>
          <a:ln/>
        </p:spPr>
        <p:txBody>
          <a:bodyPr wrap="square" rtlCol="0" anchor="t"/>
          <a:lstStyle/>
          <a:p>
            <a:pPr marL="0" indent="0" algn="ctr">
              <a:buNone/>
            </a:pPr>
            <a:r>
              <a:rPr lang="en-US" sz="1100" dirty="0">
                <a:solidFill>
                  <a:srgbClr val="5A6786"/>
                </a:solidFill>
                <a:latin typeface="Calibri" pitchFamily="34" charset="0"/>
                <a:ea typeface="Calibri" pitchFamily="34" charset="-122"/>
                <a:cs typeface="Calibri" pitchFamily="34" charset="-120"/>
              </a:rPr>
              <a:t>Customer searches “capacitor.” ElectroMart automatically understands the category.</a:t>
            </a:r>
            <a:endParaRPr lang="en-US" sz="1100" dirty="0"/>
          </a:p>
        </p:txBody>
      </p:sp>
      <p:sp>
        <p:nvSpPr>
          <p:cNvPr id="13" name="Text 10"/>
          <p:cNvSpPr/>
          <p:nvPr/>
        </p:nvSpPr>
        <p:spPr>
          <a:xfrm>
            <a:off x="2545690" y="2308860"/>
            <a:ext cx="201168" cy="365760"/>
          </a:xfrm>
          <a:prstGeom prst="rect">
            <a:avLst/>
          </a:prstGeom>
          <a:noFill/>
          <a:ln/>
        </p:spPr>
        <p:txBody>
          <a:bodyPr wrap="square" rtlCol="0" anchor="ctr"/>
          <a:lstStyle/>
          <a:p>
            <a:pPr marL="0" indent="0" algn="ctr">
              <a:buNone/>
            </a:pPr>
            <a:r>
              <a:rPr lang="en-US" sz="2000" b="1" dirty="0">
                <a:solidFill>
                  <a:srgbClr val="2F6FED"/>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2746858" y="1417320"/>
            <a:ext cx="2088490" cy="2148840"/>
          </a:xfrm>
          <a:prstGeom prst="roundRect">
            <a:avLst>
              <a:gd name="adj" fmla="val 350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5" name="Shape 12"/>
          <p:cNvSpPr/>
          <p:nvPr/>
        </p:nvSpPr>
        <p:spPr>
          <a:xfrm>
            <a:off x="2746858" y="1417320"/>
            <a:ext cx="384048" cy="384048"/>
          </a:xfrm>
          <a:prstGeom prst="roundRect">
            <a:avLst>
              <a:gd name="adj" fmla="val 14286"/>
            </a:avLst>
          </a:prstGeom>
          <a:solidFill>
            <a:srgbClr val="2F6FED"/>
          </a:solidFill>
          <a:ln/>
        </p:spPr>
      </p:sp>
      <p:sp>
        <p:nvSpPr>
          <p:cNvPr id="16" name="Text 13"/>
          <p:cNvSpPr/>
          <p:nvPr/>
        </p:nvSpPr>
        <p:spPr>
          <a:xfrm>
            <a:off x="2746858" y="141732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Shape 14"/>
          <p:cNvSpPr/>
          <p:nvPr/>
        </p:nvSpPr>
        <p:spPr>
          <a:xfrm>
            <a:off x="3461918" y="1705630"/>
            <a:ext cx="658368" cy="658368"/>
          </a:xfrm>
          <a:prstGeom prst="ellipse">
            <a:avLst/>
          </a:prstGeom>
          <a:solidFill>
            <a:schemeClr val="bg2"/>
          </a:solidFill>
          <a:ln/>
        </p:spPr>
      </p:sp>
      <p:pic>
        <p:nvPicPr>
          <p:cNvPr id="18" name="Image 1" descr="/home/claude/electromart/icons/gear.png"/>
          <p:cNvPicPr>
            <a:picLocks noChangeAspect="1"/>
          </p:cNvPicPr>
          <p:nvPr/>
        </p:nvPicPr>
        <p:blipFill>
          <a:blip r:embed="rId4"/>
          <a:stretch>
            <a:fillRect/>
          </a:stretch>
        </p:blipFill>
        <p:spPr>
          <a:xfrm>
            <a:off x="3633094" y="1876806"/>
            <a:ext cx="316017" cy="316017"/>
          </a:xfrm>
          <a:prstGeom prst="rect">
            <a:avLst/>
          </a:prstGeom>
        </p:spPr>
      </p:pic>
      <p:sp>
        <p:nvSpPr>
          <p:cNvPr id="19" name="Text 15"/>
          <p:cNvSpPr/>
          <p:nvPr/>
        </p:nvSpPr>
        <p:spPr>
          <a:xfrm>
            <a:off x="2838298" y="2501158"/>
            <a:ext cx="1905610" cy="274320"/>
          </a:xfrm>
          <a:prstGeom prst="rect">
            <a:avLst/>
          </a:prstGeom>
          <a:noFill/>
          <a:ln/>
        </p:spPr>
        <p:txBody>
          <a:bodyPr wrap="square" rtlCol="0" anchor="ctr"/>
          <a:lstStyle/>
          <a:p>
            <a:pPr marL="0" indent="0" algn="ctr">
              <a:buNone/>
            </a:pPr>
            <a:r>
              <a:rPr lang="en-US" sz="1150" b="1" dirty="0">
                <a:solidFill>
                  <a:srgbClr val="0B1F3D"/>
                </a:solidFill>
                <a:latin typeface="Calibri" pitchFamily="34" charset="0"/>
                <a:ea typeface="Calibri" pitchFamily="34" charset="-122"/>
                <a:cs typeface="Calibri" pitchFamily="34" charset="-120"/>
              </a:rPr>
              <a:t>TECHNICAL FILTERS</a:t>
            </a:r>
            <a:endParaRPr lang="en-US" sz="1150" dirty="0"/>
          </a:p>
        </p:txBody>
      </p:sp>
      <p:sp>
        <p:nvSpPr>
          <p:cNvPr id="20" name="Text 16"/>
          <p:cNvSpPr/>
          <p:nvPr/>
        </p:nvSpPr>
        <p:spPr>
          <a:xfrm>
            <a:off x="2874874" y="2793766"/>
            <a:ext cx="1832458" cy="530352"/>
          </a:xfrm>
          <a:prstGeom prst="rect">
            <a:avLst/>
          </a:prstGeom>
          <a:noFill/>
          <a:ln/>
        </p:spPr>
        <p:txBody>
          <a:bodyPr wrap="square" rtlCol="0" anchor="t"/>
          <a:lstStyle/>
          <a:p>
            <a:pPr marL="0" indent="0" algn="ctr">
              <a:buNone/>
            </a:pPr>
            <a:r>
              <a:rPr lang="en-US" sz="1100" dirty="0">
                <a:solidFill>
                  <a:srgbClr val="5A6786"/>
                </a:solidFill>
                <a:latin typeface="Calibri" pitchFamily="34" charset="0"/>
                <a:ea typeface="Calibri" pitchFamily="34" charset="-122"/>
                <a:cs typeface="Calibri" pitchFamily="34" charset="-120"/>
              </a:rPr>
              <a:t>Capacitance, voltage, tolerance, dielectric, package, ESR, ripple current &amp; more.</a:t>
            </a:r>
            <a:endParaRPr lang="en-US" sz="1100" dirty="0"/>
          </a:p>
        </p:txBody>
      </p:sp>
      <p:sp>
        <p:nvSpPr>
          <p:cNvPr id="21" name="Text 17"/>
          <p:cNvSpPr/>
          <p:nvPr/>
        </p:nvSpPr>
        <p:spPr>
          <a:xfrm>
            <a:off x="4835347" y="2308860"/>
            <a:ext cx="201168" cy="365760"/>
          </a:xfrm>
          <a:prstGeom prst="rect">
            <a:avLst/>
          </a:prstGeom>
          <a:noFill/>
          <a:ln/>
        </p:spPr>
        <p:txBody>
          <a:bodyPr wrap="square" rtlCol="0" anchor="ctr"/>
          <a:lstStyle/>
          <a:p>
            <a:pPr marL="0" indent="0" algn="ctr">
              <a:buNone/>
            </a:pPr>
            <a:r>
              <a:rPr lang="en-US" sz="2000" b="1" dirty="0">
                <a:solidFill>
                  <a:srgbClr val="2F6FED"/>
                </a:solidFill>
                <a:latin typeface="Calibri" pitchFamily="34" charset="0"/>
                <a:ea typeface="Calibri" pitchFamily="34" charset="-122"/>
                <a:cs typeface="Calibri" pitchFamily="34" charset="-120"/>
              </a:rPr>
              <a:t>›</a:t>
            </a:r>
            <a:endParaRPr lang="en-US" sz="2000" dirty="0"/>
          </a:p>
        </p:txBody>
      </p:sp>
      <p:sp>
        <p:nvSpPr>
          <p:cNvPr id="22" name="Shape 18"/>
          <p:cNvSpPr/>
          <p:nvPr/>
        </p:nvSpPr>
        <p:spPr>
          <a:xfrm>
            <a:off x="5036515" y="1417320"/>
            <a:ext cx="2088490" cy="2148840"/>
          </a:xfrm>
          <a:prstGeom prst="roundRect">
            <a:avLst>
              <a:gd name="adj" fmla="val 350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3" name="Shape 19"/>
          <p:cNvSpPr/>
          <p:nvPr/>
        </p:nvSpPr>
        <p:spPr>
          <a:xfrm>
            <a:off x="5036515" y="1417320"/>
            <a:ext cx="384048" cy="384048"/>
          </a:xfrm>
          <a:prstGeom prst="roundRect">
            <a:avLst>
              <a:gd name="adj" fmla="val 14286"/>
            </a:avLst>
          </a:prstGeom>
          <a:solidFill>
            <a:srgbClr val="2F6FED"/>
          </a:solidFill>
          <a:ln/>
        </p:spPr>
      </p:sp>
      <p:sp>
        <p:nvSpPr>
          <p:cNvPr id="24" name="Text 20"/>
          <p:cNvSpPr/>
          <p:nvPr/>
        </p:nvSpPr>
        <p:spPr>
          <a:xfrm>
            <a:off x="5036515" y="141732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Shape 21"/>
          <p:cNvSpPr/>
          <p:nvPr/>
        </p:nvSpPr>
        <p:spPr>
          <a:xfrm>
            <a:off x="5751576" y="1705630"/>
            <a:ext cx="658368" cy="658368"/>
          </a:xfrm>
          <a:prstGeom prst="ellipse">
            <a:avLst/>
          </a:prstGeom>
          <a:solidFill>
            <a:schemeClr val="bg2"/>
          </a:solidFill>
          <a:ln/>
        </p:spPr>
      </p:sp>
      <p:pic>
        <p:nvPicPr>
          <p:cNvPr id="26" name="Image 2" descr="/home/claude/electromart/icons/compare.png"/>
          <p:cNvPicPr>
            <a:picLocks noChangeAspect="1"/>
          </p:cNvPicPr>
          <p:nvPr/>
        </p:nvPicPr>
        <p:blipFill>
          <a:blip r:embed="rId5"/>
          <a:stretch>
            <a:fillRect/>
          </a:stretch>
        </p:blipFill>
        <p:spPr>
          <a:xfrm>
            <a:off x="5922752" y="1876806"/>
            <a:ext cx="316017" cy="316017"/>
          </a:xfrm>
          <a:prstGeom prst="rect">
            <a:avLst/>
          </a:prstGeom>
        </p:spPr>
      </p:pic>
      <p:sp>
        <p:nvSpPr>
          <p:cNvPr id="27" name="Text 22"/>
          <p:cNvSpPr/>
          <p:nvPr/>
        </p:nvSpPr>
        <p:spPr>
          <a:xfrm>
            <a:off x="5127955" y="2501158"/>
            <a:ext cx="1905610" cy="274320"/>
          </a:xfrm>
          <a:prstGeom prst="rect">
            <a:avLst/>
          </a:prstGeom>
          <a:noFill/>
          <a:ln/>
        </p:spPr>
        <p:txBody>
          <a:bodyPr wrap="square" rtlCol="0" anchor="ctr"/>
          <a:lstStyle/>
          <a:p>
            <a:pPr marL="0" indent="0" algn="ctr">
              <a:buNone/>
            </a:pPr>
            <a:r>
              <a:rPr lang="en-US" sz="1150" b="1" dirty="0">
                <a:solidFill>
                  <a:srgbClr val="0B1F3D"/>
                </a:solidFill>
                <a:latin typeface="Calibri" pitchFamily="34" charset="0"/>
                <a:ea typeface="Calibri" pitchFamily="34" charset="-122"/>
                <a:cs typeface="Calibri" pitchFamily="34" charset="-120"/>
              </a:rPr>
              <a:t>COMPARE</a:t>
            </a:r>
            <a:endParaRPr lang="en-US" sz="1150" dirty="0"/>
          </a:p>
        </p:txBody>
      </p:sp>
      <p:sp>
        <p:nvSpPr>
          <p:cNvPr id="28" name="Text 23"/>
          <p:cNvSpPr/>
          <p:nvPr/>
        </p:nvSpPr>
        <p:spPr>
          <a:xfrm>
            <a:off x="5164531" y="2793766"/>
            <a:ext cx="1832458" cy="530352"/>
          </a:xfrm>
          <a:prstGeom prst="rect">
            <a:avLst/>
          </a:prstGeom>
          <a:noFill/>
          <a:ln/>
        </p:spPr>
        <p:txBody>
          <a:bodyPr wrap="square" rtlCol="0" anchor="t"/>
          <a:lstStyle/>
          <a:p>
            <a:pPr marL="0" indent="0" algn="ctr">
              <a:buNone/>
            </a:pPr>
            <a:r>
              <a:rPr lang="en-US" sz="1100" dirty="0">
                <a:solidFill>
                  <a:srgbClr val="5A6786"/>
                </a:solidFill>
                <a:latin typeface="Calibri" pitchFamily="34" charset="0"/>
                <a:ea typeface="Calibri" pitchFamily="34" charset="-122"/>
                <a:cs typeface="Calibri" pitchFamily="34" charset="-120"/>
              </a:rPr>
              <a:t>Specs, price, MOQ, stock, lead time, supplier rating, certifications, location.</a:t>
            </a:r>
            <a:endParaRPr lang="en-US" sz="1100" dirty="0"/>
          </a:p>
        </p:txBody>
      </p:sp>
      <p:sp>
        <p:nvSpPr>
          <p:cNvPr id="29" name="Text 24"/>
          <p:cNvSpPr/>
          <p:nvPr/>
        </p:nvSpPr>
        <p:spPr>
          <a:xfrm>
            <a:off x="7125005" y="2308860"/>
            <a:ext cx="201168" cy="365760"/>
          </a:xfrm>
          <a:prstGeom prst="rect">
            <a:avLst/>
          </a:prstGeom>
          <a:noFill/>
          <a:ln/>
        </p:spPr>
        <p:txBody>
          <a:bodyPr wrap="square" rtlCol="0" anchor="ctr"/>
          <a:lstStyle/>
          <a:p>
            <a:pPr marL="0" indent="0" algn="ctr">
              <a:buNone/>
            </a:pPr>
            <a:r>
              <a:rPr lang="en-US" sz="2000" b="1" dirty="0">
                <a:solidFill>
                  <a:srgbClr val="2F6FED"/>
                </a:solidFill>
                <a:latin typeface="Calibri" pitchFamily="34" charset="0"/>
                <a:ea typeface="Calibri" pitchFamily="34" charset="-122"/>
                <a:cs typeface="Calibri" pitchFamily="34" charset="-120"/>
              </a:rPr>
              <a:t>›</a:t>
            </a:r>
            <a:endParaRPr lang="en-US" sz="2000" dirty="0"/>
          </a:p>
        </p:txBody>
      </p:sp>
      <p:sp>
        <p:nvSpPr>
          <p:cNvPr id="30" name="Shape 25"/>
          <p:cNvSpPr/>
          <p:nvPr/>
        </p:nvSpPr>
        <p:spPr>
          <a:xfrm>
            <a:off x="7326173" y="1417320"/>
            <a:ext cx="2088490" cy="2148840"/>
          </a:xfrm>
          <a:prstGeom prst="roundRect">
            <a:avLst>
              <a:gd name="adj" fmla="val 350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31" name="Shape 26"/>
          <p:cNvSpPr/>
          <p:nvPr/>
        </p:nvSpPr>
        <p:spPr>
          <a:xfrm>
            <a:off x="7326173" y="1417320"/>
            <a:ext cx="384048" cy="384048"/>
          </a:xfrm>
          <a:prstGeom prst="roundRect">
            <a:avLst>
              <a:gd name="adj" fmla="val 14286"/>
            </a:avLst>
          </a:prstGeom>
          <a:solidFill>
            <a:srgbClr val="2F6FED"/>
          </a:solidFill>
          <a:ln/>
        </p:spPr>
      </p:sp>
      <p:sp>
        <p:nvSpPr>
          <p:cNvPr id="32" name="Text 27"/>
          <p:cNvSpPr/>
          <p:nvPr/>
        </p:nvSpPr>
        <p:spPr>
          <a:xfrm>
            <a:off x="7326173" y="141732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Shape 28"/>
          <p:cNvSpPr/>
          <p:nvPr/>
        </p:nvSpPr>
        <p:spPr>
          <a:xfrm>
            <a:off x="8041234" y="1705630"/>
            <a:ext cx="658368" cy="658368"/>
          </a:xfrm>
          <a:prstGeom prst="ellipse">
            <a:avLst/>
          </a:prstGeom>
          <a:solidFill>
            <a:schemeClr val="bg2"/>
          </a:solidFill>
          <a:ln/>
        </p:spPr>
      </p:sp>
      <p:pic>
        <p:nvPicPr>
          <p:cNvPr id="34" name="Image 3" descr="/home/claude/electromart/icons/check.png"/>
          <p:cNvPicPr>
            <a:picLocks noChangeAspect="1"/>
          </p:cNvPicPr>
          <p:nvPr/>
        </p:nvPicPr>
        <p:blipFill>
          <a:blip r:embed="rId6"/>
          <a:stretch>
            <a:fillRect/>
          </a:stretch>
        </p:blipFill>
        <p:spPr>
          <a:xfrm>
            <a:off x="8212409" y="1876806"/>
            <a:ext cx="316017" cy="316017"/>
          </a:xfrm>
          <a:prstGeom prst="rect">
            <a:avLst/>
          </a:prstGeom>
        </p:spPr>
      </p:pic>
      <p:sp>
        <p:nvSpPr>
          <p:cNvPr id="35" name="Text 29"/>
          <p:cNvSpPr/>
          <p:nvPr/>
        </p:nvSpPr>
        <p:spPr>
          <a:xfrm>
            <a:off x="7417613" y="2501158"/>
            <a:ext cx="1905610" cy="274320"/>
          </a:xfrm>
          <a:prstGeom prst="rect">
            <a:avLst/>
          </a:prstGeom>
          <a:noFill/>
          <a:ln/>
        </p:spPr>
        <p:txBody>
          <a:bodyPr wrap="square" rtlCol="0" anchor="ctr"/>
          <a:lstStyle/>
          <a:p>
            <a:pPr marL="0" indent="0" algn="ctr">
              <a:buNone/>
            </a:pPr>
            <a:r>
              <a:rPr lang="en-US" sz="1150" b="1" dirty="0">
                <a:solidFill>
                  <a:srgbClr val="0B1F3D"/>
                </a:solidFill>
                <a:latin typeface="Calibri" pitchFamily="34" charset="0"/>
                <a:ea typeface="Calibri" pitchFamily="34" charset="-122"/>
                <a:cs typeface="Calibri" pitchFamily="34" charset="-120"/>
              </a:rPr>
              <a:t>VERIFY</a:t>
            </a:r>
            <a:endParaRPr lang="en-US" sz="1150" dirty="0"/>
          </a:p>
        </p:txBody>
      </p:sp>
      <p:sp>
        <p:nvSpPr>
          <p:cNvPr id="36" name="Text 30"/>
          <p:cNvSpPr/>
          <p:nvPr/>
        </p:nvSpPr>
        <p:spPr>
          <a:xfrm>
            <a:off x="7454189" y="2793766"/>
            <a:ext cx="1832458" cy="530352"/>
          </a:xfrm>
          <a:prstGeom prst="rect">
            <a:avLst/>
          </a:prstGeom>
          <a:noFill/>
          <a:ln/>
        </p:spPr>
        <p:txBody>
          <a:bodyPr wrap="square" rtlCol="0" anchor="t"/>
          <a:lstStyle/>
          <a:p>
            <a:pPr marL="0" indent="0" algn="ctr">
              <a:buNone/>
            </a:pPr>
            <a:r>
              <a:rPr lang="en-US" sz="1100" dirty="0">
                <a:solidFill>
                  <a:srgbClr val="5A6786"/>
                </a:solidFill>
                <a:latin typeface="Calibri" pitchFamily="34" charset="0"/>
                <a:ea typeface="Calibri" pitchFamily="34" charset="-122"/>
                <a:cs typeface="Calibri" pitchFamily="34" charset="-120"/>
              </a:rPr>
              <a:t>GST, MSME, ISO, BIS, RoHS, CE &amp; manufacturer / distributor status.</a:t>
            </a:r>
            <a:endParaRPr lang="en-US" sz="1100" dirty="0"/>
          </a:p>
        </p:txBody>
      </p:sp>
      <p:sp>
        <p:nvSpPr>
          <p:cNvPr id="37" name="Text 31"/>
          <p:cNvSpPr/>
          <p:nvPr/>
        </p:nvSpPr>
        <p:spPr>
          <a:xfrm>
            <a:off x="9414662" y="2308860"/>
            <a:ext cx="201168" cy="365760"/>
          </a:xfrm>
          <a:prstGeom prst="rect">
            <a:avLst/>
          </a:prstGeom>
          <a:noFill/>
          <a:ln/>
        </p:spPr>
        <p:txBody>
          <a:bodyPr wrap="square" rtlCol="0" anchor="ctr"/>
          <a:lstStyle/>
          <a:p>
            <a:pPr marL="0" indent="0" algn="ctr">
              <a:buNone/>
            </a:pPr>
            <a:r>
              <a:rPr lang="en-US" sz="2000" b="1" dirty="0">
                <a:solidFill>
                  <a:srgbClr val="2F6FED"/>
                </a:solidFill>
                <a:latin typeface="Calibri" pitchFamily="34" charset="0"/>
                <a:ea typeface="Calibri" pitchFamily="34" charset="-122"/>
                <a:cs typeface="Calibri" pitchFamily="34" charset="-120"/>
              </a:rPr>
              <a:t>›</a:t>
            </a:r>
            <a:endParaRPr lang="en-US" sz="2000" dirty="0"/>
          </a:p>
        </p:txBody>
      </p:sp>
      <p:sp>
        <p:nvSpPr>
          <p:cNvPr id="38" name="Shape 32"/>
          <p:cNvSpPr/>
          <p:nvPr/>
        </p:nvSpPr>
        <p:spPr>
          <a:xfrm>
            <a:off x="9615830" y="1417320"/>
            <a:ext cx="2088490" cy="2148840"/>
          </a:xfrm>
          <a:prstGeom prst="roundRect">
            <a:avLst>
              <a:gd name="adj" fmla="val 350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39" name="Shape 33"/>
          <p:cNvSpPr/>
          <p:nvPr/>
        </p:nvSpPr>
        <p:spPr>
          <a:xfrm>
            <a:off x="9615830" y="1417320"/>
            <a:ext cx="384048" cy="384048"/>
          </a:xfrm>
          <a:prstGeom prst="roundRect">
            <a:avLst>
              <a:gd name="adj" fmla="val 14286"/>
            </a:avLst>
          </a:prstGeom>
          <a:solidFill>
            <a:srgbClr val="2F6FED"/>
          </a:solidFill>
          <a:ln/>
        </p:spPr>
      </p:sp>
      <p:sp>
        <p:nvSpPr>
          <p:cNvPr id="40" name="Text 34"/>
          <p:cNvSpPr/>
          <p:nvPr/>
        </p:nvSpPr>
        <p:spPr>
          <a:xfrm>
            <a:off x="9615830" y="141732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1" name="Shape 35"/>
          <p:cNvSpPr/>
          <p:nvPr/>
        </p:nvSpPr>
        <p:spPr>
          <a:xfrm>
            <a:off x="10330891" y="1705630"/>
            <a:ext cx="658368" cy="658368"/>
          </a:xfrm>
          <a:prstGeom prst="ellipse">
            <a:avLst/>
          </a:prstGeom>
          <a:solidFill>
            <a:schemeClr val="bg2"/>
          </a:solidFill>
          <a:ln/>
        </p:spPr>
      </p:sp>
      <p:pic>
        <p:nvPicPr>
          <p:cNvPr id="42" name="Image 4" descr="/home/claude/electromart/icons/handshake.png"/>
          <p:cNvPicPr>
            <a:picLocks noChangeAspect="1"/>
          </p:cNvPicPr>
          <p:nvPr/>
        </p:nvPicPr>
        <p:blipFill>
          <a:blip r:embed="rId7"/>
          <a:stretch>
            <a:fillRect/>
          </a:stretch>
        </p:blipFill>
        <p:spPr>
          <a:xfrm>
            <a:off x="10502067" y="1876806"/>
            <a:ext cx="316017" cy="316017"/>
          </a:xfrm>
          <a:prstGeom prst="rect">
            <a:avLst/>
          </a:prstGeom>
        </p:spPr>
      </p:pic>
      <p:sp>
        <p:nvSpPr>
          <p:cNvPr id="43" name="Text 36"/>
          <p:cNvSpPr/>
          <p:nvPr/>
        </p:nvSpPr>
        <p:spPr>
          <a:xfrm>
            <a:off x="9707270" y="2501158"/>
            <a:ext cx="1905610" cy="274320"/>
          </a:xfrm>
          <a:prstGeom prst="rect">
            <a:avLst/>
          </a:prstGeom>
          <a:noFill/>
          <a:ln/>
        </p:spPr>
        <p:txBody>
          <a:bodyPr wrap="square" rtlCol="0" anchor="ctr"/>
          <a:lstStyle/>
          <a:p>
            <a:pPr marL="0" indent="0" algn="ctr">
              <a:buNone/>
            </a:pPr>
            <a:r>
              <a:rPr lang="en-US" sz="1150" b="1" dirty="0">
                <a:solidFill>
                  <a:srgbClr val="0B1F3D"/>
                </a:solidFill>
                <a:latin typeface="Calibri" pitchFamily="34" charset="0"/>
                <a:ea typeface="Calibri" pitchFamily="34" charset="-122"/>
                <a:cs typeface="Calibri" pitchFamily="34" charset="-120"/>
              </a:rPr>
              <a:t>CONNECT</a:t>
            </a:r>
            <a:endParaRPr lang="en-US" sz="1150" dirty="0"/>
          </a:p>
        </p:txBody>
      </p:sp>
      <p:sp>
        <p:nvSpPr>
          <p:cNvPr id="44" name="Text 37"/>
          <p:cNvSpPr/>
          <p:nvPr/>
        </p:nvSpPr>
        <p:spPr>
          <a:xfrm>
            <a:off x="9743846" y="2793766"/>
            <a:ext cx="1832458" cy="530352"/>
          </a:xfrm>
          <a:prstGeom prst="rect">
            <a:avLst/>
          </a:prstGeom>
          <a:noFill/>
          <a:ln/>
        </p:spPr>
        <p:txBody>
          <a:bodyPr wrap="square" rtlCol="0" anchor="t"/>
          <a:lstStyle/>
          <a:p>
            <a:pPr marL="0" indent="0" algn="ctr">
              <a:buNone/>
            </a:pPr>
            <a:r>
              <a:rPr lang="en-US" sz="1100" dirty="0">
                <a:solidFill>
                  <a:srgbClr val="5A6786"/>
                </a:solidFill>
                <a:latin typeface="Calibri" pitchFamily="34" charset="0"/>
                <a:ea typeface="Calibri" pitchFamily="34" charset="-122"/>
                <a:cs typeface="Calibri" pitchFamily="34" charset="-120"/>
              </a:rPr>
              <a:t>Request quote, chat with supplier, ask community, save, compare, view datasheet.</a:t>
            </a:r>
            <a:endParaRPr lang="en-US" sz="1100" dirty="0"/>
          </a:p>
        </p:txBody>
      </p:sp>
      <p:sp>
        <p:nvSpPr>
          <p:cNvPr id="45" name="Shape 38"/>
          <p:cNvSpPr/>
          <p:nvPr/>
        </p:nvSpPr>
        <p:spPr>
          <a:xfrm>
            <a:off x="457200" y="3794760"/>
            <a:ext cx="5440680" cy="1234440"/>
          </a:xfrm>
          <a:prstGeom prst="roundRect">
            <a:avLst>
              <a:gd name="adj" fmla="val 5926"/>
            </a:avLst>
          </a:prstGeom>
          <a:solidFill>
            <a:srgbClr val="0B1F3D"/>
          </a:solidFill>
          <a:ln/>
        </p:spPr>
      </p:sp>
      <p:sp>
        <p:nvSpPr>
          <p:cNvPr id="46" name="Text 39"/>
          <p:cNvSpPr/>
          <p:nvPr/>
        </p:nvSpPr>
        <p:spPr>
          <a:xfrm>
            <a:off x="658368" y="3931920"/>
            <a:ext cx="5029200" cy="256032"/>
          </a:xfrm>
          <a:prstGeom prst="rect">
            <a:avLst/>
          </a:prstGeom>
          <a:noFill/>
          <a:ln/>
        </p:spPr>
        <p:txBody>
          <a:bodyPr wrap="square" rtlCol="0" anchor="ctr"/>
          <a:lstStyle/>
          <a:p>
            <a:pPr marL="0" indent="0">
              <a:buNone/>
            </a:pPr>
            <a:r>
              <a:rPr lang="en-US" sz="950" b="1" kern="0" spc="100" dirty="0">
                <a:solidFill>
                  <a:srgbClr val="7FA6FF"/>
                </a:solidFill>
                <a:latin typeface="Calibri" pitchFamily="34" charset="0"/>
                <a:ea typeface="Calibri" pitchFamily="34" charset="-122"/>
                <a:cs typeface="Calibri" pitchFamily="34" charset="-120"/>
              </a:rPr>
              <a:t>EXAMPLE REQUIREMENT</a:t>
            </a:r>
            <a:endParaRPr lang="en-US" sz="950" dirty="0"/>
          </a:p>
        </p:txBody>
      </p:sp>
      <p:sp>
        <p:nvSpPr>
          <p:cNvPr id="47" name="Text 40"/>
          <p:cNvSpPr/>
          <p:nvPr/>
        </p:nvSpPr>
        <p:spPr>
          <a:xfrm>
            <a:off x="658368" y="4160520"/>
            <a:ext cx="5029200" cy="5029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470 µF  •  100 V  •  Low ESR  •  &lt; 10 mm diameter</a:t>
            </a:r>
            <a:endParaRPr lang="en-US" sz="1700" dirty="0"/>
          </a:p>
        </p:txBody>
      </p:sp>
      <p:sp>
        <p:nvSpPr>
          <p:cNvPr id="48" name="Text 41"/>
          <p:cNvSpPr/>
          <p:nvPr/>
        </p:nvSpPr>
        <p:spPr>
          <a:xfrm>
            <a:off x="658368" y="4663440"/>
            <a:ext cx="5029200" cy="320040"/>
          </a:xfrm>
          <a:prstGeom prst="rect">
            <a:avLst/>
          </a:prstGeom>
          <a:noFill/>
          <a:ln/>
        </p:spPr>
        <p:txBody>
          <a:bodyPr wrap="square" rtlCol="0" anchor="ctr"/>
          <a:lstStyle/>
          <a:p>
            <a:pPr marL="0" indent="0">
              <a:buNone/>
            </a:pPr>
            <a:r>
              <a:rPr lang="en-US" sz="1300" i="1" dirty="0">
                <a:solidFill>
                  <a:srgbClr val="C7D6F5"/>
                </a:solidFill>
                <a:latin typeface="Calibri" pitchFamily="34" charset="0"/>
                <a:ea typeface="Calibri" pitchFamily="34" charset="-122"/>
                <a:cs typeface="Calibri" pitchFamily="34" charset="-120"/>
              </a:rPr>
              <a:t>ElectroMart finds matching products instantly using parametric filters.</a:t>
            </a:r>
            <a:endParaRPr lang="en-US" sz="1300" dirty="0"/>
          </a:p>
        </p:txBody>
      </p:sp>
      <p:sp>
        <p:nvSpPr>
          <p:cNvPr id="49" name="Shape 42"/>
          <p:cNvSpPr/>
          <p:nvPr/>
        </p:nvSpPr>
        <p:spPr>
          <a:xfrm>
            <a:off x="6080760" y="3794760"/>
            <a:ext cx="5623560" cy="1234440"/>
          </a:xfrm>
          <a:prstGeom prst="roundRect">
            <a:avLst>
              <a:gd name="adj" fmla="val 5926"/>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50" name="Text 43"/>
          <p:cNvSpPr/>
          <p:nvPr/>
        </p:nvSpPr>
        <p:spPr>
          <a:xfrm>
            <a:off x="6281928" y="3931920"/>
            <a:ext cx="5212080" cy="256032"/>
          </a:xfrm>
          <a:prstGeom prst="rect">
            <a:avLst/>
          </a:prstGeom>
          <a:noFill/>
          <a:ln/>
        </p:spPr>
        <p:txBody>
          <a:bodyPr wrap="square" rtlCol="0" anchor="ctr"/>
          <a:lstStyle/>
          <a:p>
            <a:pPr marL="0" indent="0">
              <a:buNone/>
            </a:pPr>
            <a:r>
              <a:rPr lang="en-US" sz="950" b="1" kern="0" spc="100" dirty="0">
                <a:solidFill>
                  <a:srgbClr val="1D4FBF"/>
                </a:solidFill>
                <a:latin typeface="Calibri" pitchFamily="34" charset="0"/>
                <a:ea typeface="Calibri" pitchFamily="34" charset="-122"/>
                <a:cs typeface="Calibri" pitchFamily="34" charset="-120"/>
              </a:rPr>
              <a:t>VERIFICATION BADGES</a:t>
            </a:r>
            <a:endParaRPr lang="en-US" sz="950" dirty="0"/>
          </a:p>
        </p:txBody>
      </p:sp>
      <p:sp>
        <p:nvSpPr>
          <p:cNvPr id="51" name="Shape 44"/>
          <p:cNvSpPr/>
          <p:nvPr/>
        </p:nvSpPr>
        <p:spPr>
          <a:xfrm>
            <a:off x="6281928" y="4251960"/>
            <a:ext cx="1078992" cy="292608"/>
          </a:xfrm>
          <a:prstGeom prst="roundRect">
            <a:avLst>
              <a:gd name="adj" fmla="val 50000"/>
            </a:avLst>
          </a:prstGeom>
          <a:solidFill>
            <a:srgbClr val="E4F5EE"/>
          </a:solidFill>
          <a:ln w="9525">
            <a:solidFill>
              <a:srgbClr val="1FA97A"/>
            </a:solidFill>
            <a:prstDash val="solid"/>
          </a:ln>
        </p:spPr>
      </p:sp>
      <p:sp>
        <p:nvSpPr>
          <p:cNvPr id="52" name="Text 45"/>
          <p:cNvSpPr/>
          <p:nvPr/>
        </p:nvSpPr>
        <p:spPr>
          <a:xfrm>
            <a:off x="6281928" y="4251960"/>
            <a:ext cx="1078992" cy="292608"/>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GST Verified</a:t>
            </a:r>
            <a:endParaRPr lang="en-US" sz="860" dirty="0"/>
          </a:p>
        </p:txBody>
      </p:sp>
      <p:sp>
        <p:nvSpPr>
          <p:cNvPr id="53" name="Shape 46"/>
          <p:cNvSpPr/>
          <p:nvPr/>
        </p:nvSpPr>
        <p:spPr>
          <a:xfrm>
            <a:off x="7488936" y="4251960"/>
            <a:ext cx="1147572" cy="292608"/>
          </a:xfrm>
          <a:prstGeom prst="roundRect">
            <a:avLst>
              <a:gd name="adj" fmla="val 50000"/>
            </a:avLst>
          </a:prstGeom>
          <a:solidFill>
            <a:srgbClr val="E4F5EE"/>
          </a:solidFill>
          <a:ln w="9525">
            <a:solidFill>
              <a:srgbClr val="1FA97A"/>
            </a:solidFill>
            <a:prstDash val="solid"/>
          </a:ln>
        </p:spPr>
      </p:sp>
      <p:sp>
        <p:nvSpPr>
          <p:cNvPr id="54" name="Text 47"/>
          <p:cNvSpPr/>
          <p:nvPr/>
        </p:nvSpPr>
        <p:spPr>
          <a:xfrm>
            <a:off x="7488936" y="4251960"/>
            <a:ext cx="1147572" cy="292608"/>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MSME Verified</a:t>
            </a:r>
            <a:endParaRPr lang="en-US" sz="860" dirty="0"/>
          </a:p>
        </p:txBody>
      </p:sp>
      <p:sp>
        <p:nvSpPr>
          <p:cNvPr id="55" name="Shape 48"/>
          <p:cNvSpPr/>
          <p:nvPr/>
        </p:nvSpPr>
        <p:spPr>
          <a:xfrm>
            <a:off x="8764524" y="4251960"/>
            <a:ext cx="461772" cy="292608"/>
          </a:xfrm>
          <a:prstGeom prst="roundRect">
            <a:avLst>
              <a:gd name="adj" fmla="val 50000"/>
            </a:avLst>
          </a:prstGeom>
          <a:solidFill>
            <a:srgbClr val="E4F5EE"/>
          </a:solidFill>
          <a:ln w="9525">
            <a:solidFill>
              <a:srgbClr val="1FA97A"/>
            </a:solidFill>
            <a:prstDash val="solid"/>
          </a:ln>
        </p:spPr>
      </p:sp>
      <p:sp>
        <p:nvSpPr>
          <p:cNvPr id="56" name="Text 49"/>
          <p:cNvSpPr/>
          <p:nvPr/>
        </p:nvSpPr>
        <p:spPr>
          <a:xfrm>
            <a:off x="8764524" y="4251960"/>
            <a:ext cx="461772" cy="292608"/>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ISO</a:t>
            </a:r>
            <a:endParaRPr lang="en-US" sz="860" dirty="0"/>
          </a:p>
        </p:txBody>
      </p:sp>
      <p:sp>
        <p:nvSpPr>
          <p:cNvPr id="57" name="Shape 50"/>
          <p:cNvSpPr/>
          <p:nvPr/>
        </p:nvSpPr>
        <p:spPr>
          <a:xfrm>
            <a:off x="9354312" y="4251960"/>
            <a:ext cx="461772" cy="292608"/>
          </a:xfrm>
          <a:prstGeom prst="roundRect">
            <a:avLst>
              <a:gd name="adj" fmla="val 50000"/>
            </a:avLst>
          </a:prstGeom>
          <a:solidFill>
            <a:srgbClr val="E4F5EE"/>
          </a:solidFill>
          <a:ln w="9525">
            <a:solidFill>
              <a:srgbClr val="1FA97A"/>
            </a:solidFill>
            <a:prstDash val="solid"/>
          </a:ln>
        </p:spPr>
      </p:sp>
      <p:sp>
        <p:nvSpPr>
          <p:cNvPr id="58" name="Text 51"/>
          <p:cNvSpPr/>
          <p:nvPr/>
        </p:nvSpPr>
        <p:spPr>
          <a:xfrm>
            <a:off x="9354312" y="4251960"/>
            <a:ext cx="461772" cy="292608"/>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BIS</a:t>
            </a:r>
            <a:endParaRPr lang="en-US" sz="860" dirty="0"/>
          </a:p>
        </p:txBody>
      </p:sp>
      <p:sp>
        <p:nvSpPr>
          <p:cNvPr id="59" name="Shape 52"/>
          <p:cNvSpPr/>
          <p:nvPr/>
        </p:nvSpPr>
        <p:spPr>
          <a:xfrm>
            <a:off x="10035540" y="4251960"/>
            <a:ext cx="530352" cy="292608"/>
          </a:xfrm>
          <a:prstGeom prst="roundRect">
            <a:avLst>
              <a:gd name="adj" fmla="val 50000"/>
            </a:avLst>
          </a:prstGeom>
          <a:solidFill>
            <a:srgbClr val="E4F5EE"/>
          </a:solidFill>
          <a:ln w="9525">
            <a:solidFill>
              <a:srgbClr val="1FA97A"/>
            </a:solidFill>
            <a:prstDash val="solid"/>
          </a:ln>
        </p:spPr>
      </p:sp>
      <p:sp>
        <p:nvSpPr>
          <p:cNvPr id="60" name="Text 53"/>
          <p:cNvSpPr/>
          <p:nvPr/>
        </p:nvSpPr>
        <p:spPr>
          <a:xfrm>
            <a:off x="9944100" y="4251960"/>
            <a:ext cx="683094" cy="283464"/>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RoHS</a:t>
            </a:r>
            <a:endParaRPr lang="en-US" sz="860" dirty="0"/>
          </a:p>
        </p:txBody>
      </p:sp>
      <p:sp>
        <p:nvSpPr>
          <p:cNvPr id="61" name="Shape 54"/>
          <p:cNvSpPr/>
          <p:nvPr/>
        </p:nvSpPr>
        <p:spPr>
          <a:xfrm>
            <a:off x="10785348" y="4242816"/>
            <a:ext cx="393192" cy="292608"/>
          </a:xfrm>
          <a:prstGeom prst="roundRect">
            <a:avLst>
              <a:gd name="adj" fmla="val 50000"/>
            </a:avLst>
          </a:prstGeom>
          <a:solidFill>
            <a:srgbClr val="E4F5EE"/>
          </a:solidFill>
          <a:ln w="9525">
            <a:solidFill>
              <a:srgbClr val="1FA97A"/>
            </a:solidFill>
            <a:prstDash val="solid"/>
          </a:ln>
        </p:spPr>
      </p:sp>
      <p:sp>
        <p:nvSpPr>
          <p:cNvPr id="62" name="Text 55"/>
          <p:cNvSpPr/>
          <p:nvPr/>
        </p:nvSpPr>
        <p:spPr>
          <a:xfrm>
            <a:off x="10602468" y="4251960"/>
            <a:ext cx="734226" cy="256032"/>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CE</a:t>
            </a:r>
            <a:endParaRPr lang="en-US" sz="860" dirty="0"/>
          </a:p>
        </p:txBody>
      </p:sp>
      <p:sp>
        <p:nvSpPr>
          <p:cNvPr id="63" name="Shape 56"/>
          <p:cNvSpPr/>
          <p:nvPr/>
        </p:nvSpPr>
        <p:spPr>
          <a:xfrm>
            <a:off x="6281928" y="4617720"/>
            <a:ext cx="2519172" cy="292608"/>
          </a:xfrm>
          <a:prstGeom prst="roundRect">
            <a:avLst>
              <a:gd name="adj" fmla="val 50000"/>
            </a:avLst>
          </a:prstGeom>
          <a:solidFill>
            <a:srgbClr val="E4F5EE"/>
          </a:solidFill>
          <a:ln w="9525">
            <a:solidFill>
              <a:srgbClr val="1FA97A"/>
            </a:solidFill>
            <a:prstDash val="solid"/>
          </a:ln>
        </p:spPr>
      </p:sp>
      <p:sp>
        <p:nvSpPr>
          <p:cNvPr id="64" name="Text 57"/>
          <p:cNvSpPr/>
          <p:nvPr/>
        </p:nvSpPr>
        <p:spPr>
          <a:xfrm>
            <a:off x="6281928" y="4617720"/>
            <a:ext cx="2519172" cy="292608"/>
          </a:xfrm>
          <a:prstGeom prst="rect">
            <a:avLst/>
          </a:prstGeom>
          <a:noFill/>
          <a:ln/>
        </p:spPr>
        <p:txBody>
          <a:bodyPr wrap="square" rtlCol="0" anchor="ctr"/>
          <a:lstStyle/>
          <a:p>
            <a:pPr marL="0" indent="0" algn="ctr">
              <a:buNone/>
            </a:pPr>
            <a:r>
              <a:rPr lang="en-US" sz="860" b="1" dirty="0">
                <a:solidFill>
                  <a:srgbClr val="13684A"/>
                </a:solidFill>
                <a:latin typeface="Calibri" pitchFamily="34" charset="0"/>
                <a:ea typeface="Calibri" pitchFamily="34" charset="-122"/>
                <a:cs typeface="Calibri" pitchFamily="34" charset="-120"/>
              </a:rPr>
              <a:t>✓ Manufacturer / Distributor Status</a:t>
            </a:r>
            <a:endParaRPr lang="en-US" sz="860" dirty="0"/>
          </a:p>
        </p:txBody>
      </p:sp>
      <p:sp>
        <p:nvSpPr>
          <p:cNvPr id="65" name="Shape 58"/>
          <p:cNvSpPr/>
          <p:nvPr/>
        </p:nvSpPr>
        <p:spPr>
          <a:xfrm>
            <a:off x="457200" y="5212080"/>
            <a:ext cx="11247120" cy="914400"/>
          </a:xfrm>
          <a:prstGeom prst="roundRect">
            <a:avLst>
              <a:gd name="adj" fmla="val 8000"/>
            </a:avLst>
          </a:prstGeom>
          <a:solidFill>
            <a:srgbClr val="2F6FED"/>
          </a:solidFill>
          <a:ln/>
        </p:spPr>
      </p:sp>
      <p:sp>
        <p:nvSpPr>
          <p:cNvPr id="66" name="Text 59"/>
          <p:cNvSpPr/>
          <p:nvPr/>
        </p:nvSpPr>
        <p:spPr>
          <a:xfrm>
            <a:off x="640080" y="5212080"/>
            <a:ext cx="10881360" cy="914400"/>
          </a:xfrm>
          <a:prstGeom prst="rect">
            <a:avLst/>
          </a:prstGeom>
          <a:noFill/>
          <a:ln/>
        </p:spPr>
        <p:txBody>
          <a:bodyPr wrap="square"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This structured, filter-driven journey is what saves engineers and procurement teams hours of manual comparison.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PARAMETRIC COMPONENT DISCOVERY</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Not Just Search — Category-Specific Technical Intelligence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06 / 10</a:t>
            </a:r>
            <a:endParaRPr lang="en-US" sz="850" dirty="0"/>
          </a:p>
        </p:txBody>
      </p:sp>
      <p:sp>
        <p:nvSpPr>
          <p:cNvPr id="6" name="Text 4"/>
          <p:cNvSpPr/>
          <p:nvPr/>
        </p:nvSpPr>
        <p:spPr>
          <a:xfrm>
            <a:off x="457200" y="1298448"/>
            <a:ext cx="11247120" cy="320040"/>
          </a:xfrm>
          <a:prstGeom prst="rect">
            <a:avLst/>
          </a:prstGeom>
          <a:noFill/>
          <a:ln/>
        </p:spPr>
        <p:txBody>
          <a:bodyPr wrap="square" rtlCol="0" anchor="ctr"/>
          <a:lstStyle/>
          <a:p>
            <a:pPr marL="0" indent="0" algn="ctr">
              <a:buNone/>
            </a:pPr>
            <a:r>
              <a:rPr lang="en-US" sz="1300" b="1" kern="0" spc="100" dirty="0">
                <a:solidFill>
                  <a:srgbClr val="1D4FBF"/>
                </a:solidFill>
                <a:latin typeface="Calibri" pitchFamily="34" charset="0"/>
                <a:ea typeface="Calibri" pitchFamily="34" charset="-122"/>
                <a:cs typeface="Calibri" pitchFamily="34" charset="-120"/>
              </a:rPr>
              <a:t>CATEGORY  →  DYNAMIC SPECIFICATION TEMPLATE</a:t>
            </a:r>
            <a:endParaRPr lang="en-US" sz="1300" dirty="0"/>
          </a:p>
        </p:txBody>
      </p:sp>
      <p:sp>
        <p:nvSpPr>
          <p:cNvPr id="7" name="Shape 5"/>
          <p:cNvSpPr/>
          <p:nvPr/>
        </p:nvSpPr>
        <p:spPr>
          <a:xfrm>
            <a:off x="457200" y="1737360"/>
            <a:ext cx="2640330" cy="4160520"/>
          </a:xfrm>
          <a:prstGeom prst="roundRect">
            <a:avLst>
              <a:gd name="adj" fmla="val 277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8" name="Shape 6"/>
          <p:cNvSpPr/>
          <p:nvPr/>
        </p:nvSpPr>
        <p:spPr>
          <a:xfrm>
            <a:off x="457200" y="1737360"/>
            <a:ext cx="2640330" cy="932688"/>
          </a:xfrm>
          <a:prstGeom prst="rect">
            <a:avLst/>
          </a:prstGeom>
          <a:solidFill>
            <a:srgbClr val="0B1F3D"/>
          </a:solidFill>
          <a:ln/>
        </p:spPr>
      </p:sp>
      <p:sp>
        <p:nvSpPr>
          <p:cNvPr id="9" name="Shape 7"/>
          <p:cNvSpPr/>
          <p:nvPr/>
        </p:nvSpPr>
        <p:spPr>
          <a:xfrm>
            <a:off x="1521333" y="1828800"/>
            <a:ext cx="512064" cy="512064"/>
          </a:xfrm>
          <a:prstGeom prst="ellipse">
            <a:avLst/>
          </a:prstGeom>
          <a:solidFill>
            <a:srgbClr val="2F6FED"/>
          </a:solidFill>
          <a:ln/>
        </p:spPr>
      </p:sp>
      <p:pic>
        <p:nvPicPr>
          <p:cNvPr id="10" name="Image 0" descr="/home/claude/electromart/icons/capacitor.png"/>
          <p:cNvPicPr>
            <a:picLocks noChangeAspect="1"/>
          </p:cNvPicPr>
          <p:nvPr/>
        </p:nvPicPr>
        <p:blipFill>
          <a:blip r:embed="rId3"/>
          <a:stretch>
            <a:fillRect/>
          </a:stretch>
        </p:blipFill>
        <p:spPr>
          <a:xfrm>
            <a:off x="1654470" y="1961937"/>
            <a:ext cx="245791" cy="245791"/>
          </a:xfrm>
          <a:prstGeom prst="rect">
            <a:avLst/>
          </a:prstGeom>
        </p:spPr>
      </p:pic>
      <p:sp>
        <p:nvSpPr>
          <p:cNvPr id="11" name="Text 8"/>
          <p:cNvSpPr/>
          <p:nvPr/>
        </p:nvSpPr>
        <p:spPr>
          <a:xfrm>
            <a:off x="512064" y="2377440"/>
            <a:ext cx="2530602" cy="256032"/>
          </a:xfrm>
          <a:prstGeom prst="rect">
            <a:avLst/>
          </a:prstGeom>
          <a:noFill/>
          <a:ln/>
        </p:spPr>
        <p:txBody>
          <a:bodyPr wrap="square" rtlCol="0" anchor="ct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CAPACITOR</a:t>
            </a:r>
            <a:endParaRPr lang="en-US" sz="1050" dirty="0"/>
          </a:p>
        </p:txBody>
      </p:sp>
      <p:sp>
        <p:nvSpPr>
          <p:cNvPr id="12" name="Text 9"/>
          <p:cNvSpPr/>
          <p:nvPr/>
        </p:nvSpPr>
        <p:spPr>
          <a:xfrm>
            <a:off x="603504" y="2779776"/>
            <a:ext cx="2347722" cy="3008376"/>
          </a:xfrm>
          <a:prstGeom prst="rect">
            <a:avLst/>
          </a:prstGeom>
          <a:noFill/>
          <a:ln/>
        </p:spPr>
        <p:txBody>
          <a:bodyPr wrap="square" rtlCol="0" anchor="t"/>
          <a:lstStyle/>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Capacitance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Voltage Rating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Tolerance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Dielectric</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ESR</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Ripple Current</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Temperature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Case Size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Dimensions</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Mounting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Termination</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Packaging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Manufacturer</a:t>
            </a:r>
            <a:endParaRPr lang="en-US" sz="1100" dirty="0"/>
          </a:p>
        </p:txBody>
      </p:sp>
      <p:sp>
        <p:nvSpPr>
          <p:cNvPr id="13" name="Shape 10"/>
          <p:cNvSpPr/>
          <p:nvPr/>
        </p:nvSpPr>
        <p:spPr>
          <a:xfrm>
            <a:off x="3326130" y="1737360"/>
            <a:ext cx="2640330" cy="4160520"/>
          </a:xfrm>
          <a:prstGeom prst="roundRect">
            <a:avLst>
              <a:gd name="adj" fmla="val 277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4" name="Shape 11"/>
          <p:cNvSpPr/>
          <p:nvPr/>
        </p:nvSpPr>
        <p:spPr>
          <a:xfrm>
            <a:off x="3326130" y="1737360"/>
            <a:ext cx="2640330" cy="932688"/>
          </a:xfrm>
          <a:prstGeom prst="rect">
            <a:avLst/>
          </a:prstGeom>
          <a:solidFill>
            <a:srgbClr val="0B1F3D"/>
          </a:solidFill>
          <a:ln/>
        </p:spPr>
      </p:sp>
      <p:sp>
        <p:nvSpPr>
          <p:cNvPr id="15" name="Shape 12"/>
          <p:cNvSpPr/>
          <p:nvPr/>
        </p:nvSpPr>
        <p:spPr>
          <a:xfrm>
            <a:off x="4390263" y="1828800"/>
            <a:ext cx="512064" cy="512064"/>
          </a:xfrm>
          <a:prstGeom prst="ellipse">
            <a:avLst/>
          </a:prstGeom>
          <a:solidFill>
            <a:srgbClr val="2F6FED"/>
          </a:solidFill>
          <a:ln/>
        </p:spPr>
      </p:sp>
      <p:pic>
        <p:nvPicPr>
          <p:cNvPr id="16" name="Image 1" descr="/home/claude/electromart/icons/resistor.png"/>
          <p:cNvPicPr>
            <a:picLocks noChangeAspect="1"/>
          </p:cNvPicPr>
          <p:nvPr/>
        </p:nvPicPr>
        <p:blipFill>
          <a:blip r:embed="rId4"/>
          <a:stretch>
            <a:fillRect/>
          </a:stretch>
        </p:blipFill>
        <p:spPr>
          <a:xfrm>
            <a:off x="4523400" y="1961937"/>
            <a:ext cx="245791" cy="245791"/>
          </a:xfrm>
          <a:prstGeom prst="rect">
            <a:avLst/>
          </a:prstGeom>
        </p:spPr>
      </p:pic>
      <p:sp>
        <p:nvSpPr>
          <p:cNvPr id="17" name="Text 13"/>
          <p:cNvSpPr/>
          <p:nvPr/>
        </p:nvSpPr>
        <p:spPr>
          <a:xfrm>
            <a:off x="3380994" y="2377440"/>
            <a:ext cx="2530602" cy="256032"/>
          </a:xfrm>
          <a:prstGeom prst="rect">
            <a:avLst/>
          </a:prstGeom>
          <a:noFill/>
          <a:ln/>
        </p:spPr>
        <p:txBody>
          <a:bodyPr wrap="square" rtlCol="0" anchor="ct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RESISTOR</a:t>
            </a:r>
            <a:endParaRPr lang="en-US" sz="1050" dirty="0"/>
          </a:p>
        </p:txBody>
      </p:sp>
      <p:sp>
        <p:nvSpPr>
          <p:cNvPr id="18" name="Text 14"/>
          <p:cNvSpPr/>
          <p:nvPr/>
        </p:nvSpPr>
        <p:spPr>
          <a:xfrm>
            <a:off x="3472434" y="2779776"/>
            <a:ext cx="2347722" cy="3008376"/>
          </a:xfrm>
          <a:prstGeom prst="rect">
            <a:avLst/>
          </a:prstGeom>
          <a:noFill/>
          <a:ln/>
        </p:spPr>
        <p:txBody>
          <a:bodyPr wrap="square" rtlCol="0" anchor="t"/>
          <a:lstStyle/>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Resistance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Tolerance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Power Rating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Package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Temp. Coefficient</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Voltage Rating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Technology</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Mounting</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Dimensions</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Manufacturer</a:t>
            </a:r>
            <a:endParaRPr lang="en-US" sz="1100" dirty="0"/>
          </a:p>
        </p:txBody>
      </p:sp>
      <p:sp>
        <p:nvSpPr>
          <p:cNvPr id="19" name="Shape 15"/>
          <p:cNvSpPr/>
          <p:nvPr/>
        </p:nvSpPr>
        <p:spPr>
          <a:xfrm>
            <a:off x="6195060" y="1737360"/>
            <a:ext cx="2640330" cy="4160520"/>
          </a:xfrm>
          <a:prstGeom prst="roundRect">
            <a:avLst>
              <a:gd name="adj" fmla="val 277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0" name="Shape 16"/>
          <p:cNvSpPr/>
          <p:nvPr/>
        </p:nvSpPr>
        <p:spPr>
          <a:xfrm>
            <a:off x="6195060" y="1737360"/>
            <a:ext cx="2640330" cy="932688"/>
          </a:xfrm>
          <a:prstGeom prst="rect">
            <a:avLst/>
          </a:prstGeom>
          <a:solidFill>
            <a:srgbClr val="0B1F3D"/>
          </a:solidFill>
          <a:ln/>
        </p:spPr>
      </p:sp>
      <p:sp>
        <p:nvSpPr>
          <p:cNvPr id="21" name="Shape 17"/>
          <p:cNvSpPr/>
          <p:nvPr/>
        </p:nvSpPr>
        <p:spPr>
          <a:xfrm>
            <a:off x="7259193" y="1828800"/>
            <a:ext cx="512064" cy="512064"/>
          </a:xfrm>
          <a:prstGeom prst="ellipse">
            <a:avLst/>
          </a:prstGeom>
          <a:solidFill>
            <a:srgbClr val="2F6FED"/>
          </a:solidFill>
          <a:ln/>
        </p:spPr>
      </p:sp>
      <p:pic>
        <p:nvPicPr>
          <p:cNvPr id="22" name="Image 2" descr="/home/claude/electromart/icons/battery.png"/>
          <p:cNvPicPr>
            <a:picLocks noChangeAspect="1"/>
          </p:cNvPicPr>
          <p:nvPr/>
        </p:nvPicPr>
        <p:blipFill>
          <a:blip r:embed="rId5"/>
          <a:stretch>
            <a:fillRect/>
          </a:stretch>
        </p:blipFill>
        <p:spPr>
          <a:xfrm>
            <a:off x="7392330" y="1961937"/>
            <a:ext cx="245791" cy="245791"/>
          </a:xfrm>
          <a:prstGeom prst="rect">
            <a:avLst/>
          </a:prstGeom>
        </p:spPr>
      </p:pic>
      <p:sp>
        <p:nvSpPr>
          <p:cNvPr id="23" name="Text 18"/>
          <p:cNvSpPr/>
          <p:nvPr/>
        </p:nvSpPr>
        <p:spPr>
          <a:xfrm>
            <a:off x="6249924" y="2377440"/>
            <a:ext cx="2530602" cy="256032"/>
          </a:xfrm>
          <a:prstGeom prst="rect">
            <a:avLst/>
          </a:prstGeom>
          <a:noFill/>
          <a:ln/>
        </p:spPr>
        <p:txBody>
          <a:bodyPr wrap="square" rtlCol="0" anchor="ct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BATTERY</a:t>
            </a:r>
            <a:endParaRPr lang="en-US" sz="1050" dirty="0"/>
          </a:p>
        </p:txBody>
      </p:sp>
      <p:sp>
        <p:nvSpPr>
          <p:cNvPr id="24" name="Text 19"/>
          <p:cNvSpPr/>
          <p:nvPr/>
        </p:nvSpPr>
        <p:spPr>
          <a:xfrm>
            <a:off x="6341364" y="2779776"/>
            <a:ext cx="2347722" cy="3008376"/>
          </a:xfrm>
          <a:prstGeom prst="rect">
            <a:avLst/>
          </a:prstGeom>
          <a:noFill/>
          <a:ln/>
        </p:spPr>
        <p:txBody>
          <a:bodyPr wrap="square" rtlCol="0" anchor="t"/>
          <a:lstStyle/>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Chemistry</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Nominal Voltage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Capacity</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Max Discharge Current</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Charging Current</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Dimensions</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Weight</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Connector</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Cycle Life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Operating Temp.</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Protection Circuit</a:t>
            </a:r>
            <a:endParaRPr lang="en-US" sz="1100" dirty="0"/>
          </a:p>
        </p:txBody>
      </p:sp>
      <p:sp>
        <p:nvSpPr>
          <p:cNvPr id="25" name="Shape 20"/>
          <p:cNvSpPr/>
          <p:nvPr/>
        </p:nvSpPr>
        <p:spPr>
          <a:xfrm>
            <a:off x="9063990" y="1737360"/>
            <a:ext cx="2640330" cy="4160520"/>
          </a:xfrm>
          <a:prstGeom prst="roundRect">
            <a:avLst>
              <a:gd name="adj" fmla="val 277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6" name="Shape 21"/>
          <p:cNvSpPr/>
          <p:nvPr/>
        </p:nvSpPr>
        <p:spPr>
          <a:xfrm>
            <a:off x="9063990" y="1737360"/>
            <a:ext cx="2640330" cy="932688"/>
          </a:xfrm>
          <a:prstGeom prst="rect">
            <a:avLst/>
          </a:prstGeom>
          <a:solidFill>
            <a:srgbClr val="0B1F3D"/>
          </a:solidFill>
          <a:ln/>
        </p:spPr>
      </p:sp>
      <p:sp>
        <p:nvSpPr>
          <p:cNvPr id="27" name="Shape 22"/>
          <p:cNvSpPr/>
          <p:nvPr/>
        </p:nvSpPr>
        <p:spPr>
          <a:xfrm>
            <a:off x="10128123" y="1828800"/>
            <a:ext cx="512064" cy="512064"/>
          </a:xfrm>
          <a:prstGeom prst="ellipse">
            <a:avLst/>
          </a:prstGeom>
          <a:solidFill>
            <a:srgbClr val="2F6FED"/>
          </a:solidFill>
          <a:ln/>
        </p:spPr>
      </p:sp>
      <p:pic>
        <p:nvPicPr>
          <p:cNvPr id="28" name="Image 3" descr="/home/claude/electromart/icons/chip.png"/>
          <p:cNvPicPr>
            <a:picLocks noChangeAspect="1"/>
          </p:cNvPicPr>
          <p:nvPr/>
        </p:nvPicPr>
        <p:blipFill>
          <a:blip r:embed="rId6"/>
          <a:stretch>
            <a:fillRect/>
          </a:stretch>
        </p:blipFill>
        <p:spPr>
          <a:xfrm>
            <a:off x="10261260" y="1961937"/>
            <a:ext cx="245791" cy="245791"/>
          </a:xfrm>
          <a:prstGeom prst="rect">
            <a:avLst/>
          </a:prstGeom>
        </p:spPr>
      </p:pic>
      <p:sp>
        <p:nvSpPr>
          <p:cNvPr id="29" name="Text 23"/>
          <p:cNvSpPr/>
          <p:nvPr/>
        </p:nvSpPr>
        <p:spPr>
          <a:xfrm>
            <a:off x="9118854" y="2377440"/>
            <a:ext cx="2530602" cy="256032"/>
          </a:xfrm>
          <a:prstGeom prst="rect">
            <a:avLst/>
          </a:prstGeom>
          <a:noFill/>
          <a:ln/>
        </p:spPr>
        <p:txBody>
          <a:bodyPr wrap="square" rtlCol="0" anchor="ct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IC / MICROCONTROLLER</a:t>
            </a:r>
            <a:endParaRPr lang="en-US" sz="1050" dirty="0"/>
          </a:p>
        </p:txBody>
      </p:sp>
      <p:sp>
        <p:nvSpPr>
          <p:cNvPr id="30" name="Text 24"/>
          <p:cNvSpPr/>
          <p:nvPr/>
        </p:nvSpPr>
        <p:spPr>
          <a:xfrm>
            <a:off x="9210294" y="2779776"/>
            <a:ext cx="2347722" cy="3008376"/>
          </a:xfrm>
          <a:prstGeom prst="rect">
            <a:avLst/>
          </a:prstGeom>
          <a:noFill/>
          <a:ln/>
        </p:spPr>
        <p:txBody>
          <a:bodyPr wrap="square" rtlCol="0" anchor="t"/>
          <a:lstStyle/>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Architecture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Core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Frequency</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Flash</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RAM</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GPIO</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ADC / DAC</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PWM</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UART / SPI / I²C</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CAN</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USB</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Package</a:t>
            </a:r>
            <a:endParaRPr lang="en-US" sz="1100" dirty="0"/>
          </a:p>
          <a:p>
            <a:pPr marL="127000" indent="-127000">
              <a:lnSpc>
                <a:spcPct val="128000"/>
              </a:lnSpc>
              <a:buSzPct val="100000"/>
              <a:buChar char="▪"/>
            </a:pPr>
            <a:r>
              <a:rPr lang="en-US" sz="1100" dirty="0">
                <a:solidFill>
                  <a:srgbClr val="16213E"/>
                </a:solidFill>
                <a:latin typeface="Calibri" pitchFamily="34" charset="0"/>
                <a:ea typeface="Calibri" pitchFamily="34" charset="-122"/>
                <a:cs typeface="Calibri" pitchFamily="34" charset="-120"/>
              </a:rPr>
              <a:t>Operating Temp.</a:t>
            </a:r>
            <a:endParaRPr lang="en-US" sz="1100" dirty="0"/>
          </a:p>
        </p:txBody>
      </p:sp>
      <p:sp>
        <p:nvSpPr>
          <p:cNvPr id="31" name="Shape 25"/>
          <p:cNvSpPr/>
          <p:nvPr/>
        </p:nvSpPr>
        <p:spPr>
          <a:xfrm>
            <a:off x="457200" y="6053328"/>
            <a:ext cx="11247120" cy="457200"/>
          </a:xfrm>
          <a:prstGeom prst="roundRect">
            <a:avLst>
              <a:gd name="adj" fmla="val 16000"/>
            </a:avLst>
          </a:prstGeom>
          <a:solidFill>
            <a:srgbClr val="F4F6FA"/>
          </a:solidFill>
          <a:ln/>
        </p:spPr>
      </p:sp>
      <p:sp>
        <p:nvSpPr>
          <p:cNvPr id="32" name="Text 26"/>
          <p:cNvSpPr/>
          <p:nvPr/>
        </p:nvSpPr>
        <p:spPr>
          <a:xfrm>
            <a:off x="640080" y="6053328"/>
            <a:ext cx="10881360" cy="457200"/>
          </a:xfrm>
          <a:prstGeom prst="rect">
            <a:avLst/>
          </a:prstGeom>
          <a:noFill/>
          <a:ln/>
        </p:spPr>
        <p:txBody>
          <a:bodyPr wrap="square" rtlCol="0" anchor="ctr"/>
          <a:lstStyle/>
          <a:p>
            <a:pPr marL="0" indent="0" algn="ctr">
              <a:buNone/>
            </a:pPr>
            <a:r>
              <a:rPr lang="en-US" sz="1050" b="1" i="1" dirty="0">
                <a:solidFill>
                  <a:srgbClr val="0B1F3D"/>
                </a:solidFill>
                <a:latin typeface="Calibri" pitchFamily="34" charset="0"/>
                <a:ea typeface="Calibri" pitchFamily="34" charset="-122"/>
                <a:cs typeface="Calibri" pitchFamily="34" charset="-120"/>
              </a:rPr>
              <a:t>“The search interface adapts to the component category” — making ElectroMart closer to an engineering procurement platform than a generic marketplace.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NETWORK EFFECTS</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Community That Benefits Both Customers &amp; Suppliers</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07 / 10</a:t>
            </a:r>
            <a:endParaRPr lang="en-US" sz="850" dirty="0"/>
          </a:p>
        </p:txBody>
      </p:sp>
      <p:sp>
        <p:nvSpPr>
          <p:cNvPr id="6" name="Shape 4"/>
          <p:cNvSpPr/>
          <p:nvPr/>
        </p:nvSpPr>
        <p:spPr>
          <a:xfrm>
            <a:off x="457200" y="1371600"/>
            <a:ext cx="5440680" cy="2788920"/>
          </a:xfrm>
          <a:prstGeom prst="roundRect">
            <a:avLst>
              <a:gd name="adj" fmla="val 262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7" name="Shape 5"/>
          <p:cNvSpPr/>
          <p:nvPr/>
        </p:nvSpPr>
        <p:spPr>
          <a:xfrm>
            <a:off x="621792" y="1517904"/>
            <a:ext cx="457200" cy="457200"/>
          </a:xfrm>
          <a:prstGeom prst="ellipse">
            <a:avLst/>
          </a:prstGeom>
          <a:solidFill>
            <a:srgbClr val="2F6FED"/>
          </a:solidFill>
          <a:ln/>
        </p:spPr>
      </p:sp>
      <p:pic>
        <p:nvPicPr>
          <p:cNvPr id="8" name="Image 0" descr="/home/claude/electromart/icons/chat.png"/>
          <p:cNvPicPr>
            <a:picLocks noChangeAspect="1"/>
          </p:cNvPicPr>
          <p:nvPr/>
        </p:nvPicPr>
        <p:blipFill>
          <a:blip r:embed="rId3"/>
          <a:stretch>
            <a:fillRect/>
          </a:stretch>
        </p:blipFill>
        <p:spPr>
          <a:xfrm>
            <a:off x="740664" y="1636776"/>
            <a:ext cx="219456" cy="219456"/>
          </a:xfrm>
          <a:prstGeom prst="rect">
            <a:avLst/>
          </a:prstGeom>
        </p:spPr>
      </p:pic>
      <p:sp>
        <p:nvSpPr>
          <p:cNvPr id="9" name="Text 6"/>
          <p:cNvSpPr/>
          <p:nvPr/>
        </p:nvSpPr>
        <p:spPr>
          <a:xfrm>
            <a:off x="1188720" y="1572768"/>
            <a:ext cx="4480560" cy="274320"/>
          </a:xfrm>
          <a:prstGeom prst="rect">
            <a:avLst/>
          </a:prstGeom>
          <a:noFill/>
          <a:ln/>
        </p:spPr>
        <p:txBody>
          <a:bodyPr wrap="square" rtlCol="0" anchor="ctr"/>
          <a:lstStyle/>
          <a:p>
            <a:pPr marL="0" indent="0">
              <a:buNone/>
            </a:pPr>
            <a:r>
              <a:rPr lang="en-US" sz="1250" b="1" dirty="0">
                <a:solidFill>
                  <a:srgbClr val="0B1F3D"/>
                </a:solidFill>
                <a:latin typeface="Calibri" pitchFamily="34" charset="0"/>
                <a:ea typeface="Calibri" pitchFamily="34" charset="-122"/>
                <a:cs typeface="Calibri" pitchFamily="34" charset="-120"/>
              </a:rPr>
              <a:t>CUSTOMER BENEFIT</a:t>
            </a:r>
            <a:endParaRPr lang="en-US" sz="1250" dirty="0"/>
          </a:p>
        </p:txBody>
      </p:sp>
      <p:sp>
        <p:nvSpPr>
          <p:cNvPr id="10" name="Shape 7"/>
          <p:cNvSpPr/>
          <p:nvPr/>
        </p:nvSpPr>
        <p:spPr>
          <a:xfrm>
            <a:off x="960120" y="1929384"/>
            <a:ext cx="4864608" cy="640080"/>
          </a:xfrm>
          <a:prstGeom prst="roundRect">
            <a:avLst>
              <a:gd name="adj" fmla="val 8571"/>
            </a:avLst>
          </a:prstGeom>
          <a:solidFill>
            <a:srgbClr val="F4F6FA"/>
          </a:solidFill>
          <a:ln/>
        </p:spPr>
      </p:sp>
      <p:sp>
        <p:nvSpPr>
          <p:cNvPr id="11" name="Text 8"/>
          <p:cNvSpPr/>
          <p:nvPr/>
        </p:nvSpPr>
        <p:spPr>
          <a:xfrm>
            <a:off x="1095056" y="1929384"/>
            <a:ext cx="4601656" cy="640080"/>
          </a:xfrm>
          <a:prstGeom prst="rect">
            <a:avLst/>
          </a:prstGeom>
          <a:noFill/>
          <a:ln/>
        </p:spPr>
        <p:txBody>
          <a:bodyPr wrap="square" rtlCol="0" anchor="ctr"/>
          <a:lstStyle/>
          <a:p>
            <a:pPr marL="0" indent="0">
              <a:buNone/>
            </a:pPr>
            <a:r>
              <a:rPr lang="en-US" sz="1200" i="1" dirty="0">
                <a:solidFill>
                  <a:srgbClr val="16213E"/>
                </a:solidFill>
                <a:latin typeface="Calibri" pitchFamily="34" charset="0"/>
                <a:ea typeface="Calibri" pitchFamily="34" charset="-122"/>
                <a:cs typeface="Calibri" pitchFamily="34" charset="-120"/>
              </a:rPr>
              <a:t>“I need a 470 µF, 100 V capacitor, low ESR, diameter &lt;10 mm. I cannot find the exact component.”</a:t>
            </a:r>
            <a:endParaRPr lang="en-US" sz="1200" dirty="0"/>
          </a:p>
        </p:txBody>
      </p:sp>
      <p:sp>
        <p:nvSpPr>
          <p:cNvPr id="12" name="Text 9"/>
          <p:cNvSpPr/>
          <p:nvPr/>
        </p:nvSpPr>
        <p:spPr>
          <a:xfrm>
            <a:off x="621792" y="2578608"/>
            <a:ext cx="5074920" cy="228600"/>
          </a:xfrm>
          <a:prstGeom prst="rect">
            <a:avLst/>
          </a:prstGeom>
          <a:noFill/>
          <a:ln/>
        </p:spPr>
        <p:txBody>
          <a:bodyPr wrap="square" rtlCol="0" anchor="ctr"/>
          <a:lstStyle/>
          <a:p>
            <a:pPr marL="0" indent="0">
              <a:buNone/>
            </a:pPr>
            <a:r>
              <a:rPr lang="en-US" sz="1100" b="1" dirty="0">
                <a:solidFill>
                  <a:srgbClr val="5A6786"/>
                </a:solidFill>
                <a:latin typeface="Calibri" pitchFamily="34" charset="0"/>
                <a:ea typeface="Calibri" pitchFamily="34" charset="-122"/>
                <a:cs typeface="Calibri" pitchFamily="34" charset="-120"/>
              </a:rPr>
              <a:t>Customer uploads: specification, datasheet, image, circuit, BOM</a:t>
            </a:r>
            <a:endParaRPr lang="en-US" sz="1100" dirty="0"/>
          </a:p>
        </p:txBody>
      </p:sp>
      <p:sp>
        <p:nvSpPr>
          <p:cNvPr id="13" name="Text 10"/>
          <p:cNvSpPr/>
          <p:nvPr/>
        </p:nvSpPr>
        <p:spPr>
          <a:xfrm>
            <a:off x="621792" y="2852928"/>
            <a:ext cx="5074920" cy="960120"/>
          </a:xfrm>
          <a:prstGeom prst="rect">
            <a:avLst/>
          </a:prstGeom>
          <a:noFill/>
          <a:ln/>
        </p:spPr>
        <p:txBody>
          <a:bodyPr wrap="square" rtlCol="0" anchor="t"/>
          <a:lstStyle/>
          <a:p>
            <a:pPr marL="127000" indent="-127000">
              <a:lnSpc>
                <a:spcPct val="105000"/>
              </a:lnSpc>
              <a:buSzPct val="100000"/>
              <a:buChar char="✓"/>
            </a:pPr>
            <a:r>
              <a:rPr lang="en-US" sz="1100" dirty="0">
                <a:solidFill>
                  <a:srgbClr val="13684A"/>
                </a:solidFill>
                <a:latin typeface="Calibri" pitchFamily="34" charset="0"/>
                <a:ea typeface="Calibri" pitchFamily="34" charset="-122"/>
                <a:cs typeface="Calibri" pitchFamily="34" charset="-120"/>
              </a:rPr>
              <a:t>Exact component</a:t>
            </a:r>
            <a:endParaRPr lang="en-US" sz="1100" dirty="0"/>
          </a:p>
          <a:p>
            <a:pPr marL="127000" indent="-127000">
              <a:lnSpc>
                <a:spcPct val="105000"/>
              </a:lnSpc>
              <a:buSzPct val="100000"/>
              <a:buChar char="✓"/>
            </a:pPr>
            <a:r>
              <a:rPr lang="en-US" sz="1100" dirty="0">
                <a:solidFill>
                  <a:srgbClr val="13684A"/>
                </a:solidFill>
                <a:latin typeface="Calibri" pitchFamily="34" charset="0"/>
                <a:ea typeface="Calibri" pitchFamily="34" charset="-122"/>
                <a:cs typeface="Calibri" pitchFamily="34" charset="-120"/>
              </a:rPr>
              <a:t>Equivalent component</a:t>
            </a:r>
            <a:endParaRPr lang="en-US" sz="1100" dirty="0"/>
          </a:p>
          <a:p>
            <a:pPr marL="127000" indent="-127000">
              <a:lnSpc>
                <a:spcPct val="105000"/>
              </a:lnSpc>
              <a:buSzPct val="100000"/>
              <a:buChar char="✓"/>
            </a:pPr>
            <a:r>
              <a:rPr lang="en-US" sz="1100" dirty="0">
                <a:solidFill>
                  <a:srgbClr val="13684A"/>
                </a:solidFill>
                <a:latin typeface="Calibri" pitchFamily="34" charset="0"/>
                <a:ea typeface="Calibri" pitchFamily="34" charset="-122"/>
                <a:cs typeface="Calibri" pitchFamily="34" charset="-120"/>
              </a:rPr>
              <a:t>Alternative manufacturer</a:t>
            </a:r>
            <a:endParaRPr lang="en-US" sz="1100" dirty="0"/>
          </a:p>
          <a:p>
            <a:pPr marL="127000" indent="-127000">
              <a:lnSpc>
                <a:spcPct val="105000"/>
              </a:lnSpc>
              <a:buSzPct val="100000"/>
              <a:buChar char="✓"/>
            </a:pPr>
            <a:r>
              <a:rPr lang="en-US" sz="1100" dirty="0">
                <a:solidFill>
                  <a:srgbClr val="13684A"/>
                </a:solidFill>
                <a:latin typeface="Calibri" pitchFamily="34" charset="0"/>
                <a:ea typeface="Calibri" pitchFamily="34" charset="-122"/>
                <a:cs typeface="Calibri" pitchFamily="34" charset="-120"/>
              </a:rPr>
              <a:t>Supplier</a:t>
            </a:r>
            <a:endParaRPr lang="en-US" sz="1100" dirty="0"/>
          </a:p>
          <a:p>
            <a:pPr marL="127000" indent="-127000">
              <a:lnSpc>
                <a:spcPct val="105000"/>
              </a:lnSpc>
              <a:buSzPct val="100000"/>
              <a:buChar char="✓"/>
            </a:pPr>
            <a:r>
              <a:rPr lang="en-US" sz="1100" dirty="0">
                <a:solidFill>
                  <a:srgbClr val="13684A"/>
                </a:solidFill>
                <a:latin typeface="Calibri" pitchFamily="34" charset="0"/>
                <a:ea typeface="Calibri" pitchFamily="34" charset="-122"/>
                <a:cs typeface="Calibri" pitchFamily="34" charset="-120"/>
              </a:rPr>
              <a:t>Technical solution</a:t>
            </a:r>
            <a:endParaRPr lang="en-US" sz="1100" dirty="0"/>
          </a:p>
        </p:txBody>
      </p:sp>
      <p:sp>
        <p:nvSpPr>
          <p:cNvPr id="14" name="Shape 11"/>
          <p:cNvSpPr/>
          <p:nvPr/>
        </p:nvSpPr>
        <p:spPr>
          <a:xfrm>
            <a:off x="621792" y="3822192"/>
            <a:ext cx="1920240" cy="292608"/>
          </a:xfrm>
          <a:prstGeom prst="roundRect">
            <a:avLst>
              <a:gd name="adj" fmla="val 50000"/>
            </a:avLst>
          </a:prstGeom>
          <a:solidFill>
            <a:srgbClr val="1FA97A"/>
          </a:solidFill>
          <a:ln/>
        </p:spPr>
      </p:sp>
      <p:sp>
        <p:nvSpPr>
          <p:cNvPr id="15" name="Text 12"/>
          <p:cNvSpPr/>
          <p:nvPr/>
        </p:nvSpPr>
        <p:spPr>
          <a:xfrm>
            <a:off x="621792" y="3822192"/>
            <a:ext cx="1920240" cy="292608"/>
          </a:xfrm>
          <a:prstGeom prst="rect">
            <a:avLst/>
          </a:prstGeom>
          <a:noFill/>
          <a:ln/>
        </p:spPr>
        <p:txBody>
          <a:bodyPr wrap="square"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 BEST ANSWER</a:t>
            </a:r>
            <a:endParaRPr lang="en-US" sz="860" dirty="0"/>
          </a:p>
        </p:txBody>
      </p:sp>
      <p:sp>
        <p:nvSpPr>
          <p:cNvPr id="16" name="Shape 13"/>
          <p:cNvSpPr/>
          <p:nvPr/>
        </p:nvSpPr>
        <p:spPr>
          <a:xfrm>
            <a:off x="6263640" y="1371600"/>
            <a:ext cx="5440680" cy="2788920"/>
          </a:xfrm>
          <a:prstGeom prst="roundRect">
            <a:avLst>
              <a:gd name="adj" fmla="val 2623"/>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7" name="Shape 14"/>
          <p:cNvSpPr/>
          <p:nvPr/>
        </p:nvSpPr>
        <p:spPr>
          <a:xfrm>
            <a:off x="6428232" y="1517904"/>
            <a:ext cx="457200" cy="457200"/>
          </a:xfrm>
          <a:prstGeom prst="ellipse">
            <a:avLst/>
          </a:prstGeom>
          <a:solidFill>
            <a:srgbClr val="1FA97A"/>
          </a:solidFill>
          <a:ln/>
        </p:spPr>
      </p:sp>
      <p:pic>
        <p:nvPicPr>
          <p:cNvPr id="18" name="Image 1" descr="/home/claude/electromart/icons/send.png"/>
          <p:cNvPicPr>
            <a:picLocks noChangeAspect="1"/>
          </p:cNvPicPr>
          <p:nvPr/>
        </p:nvPicPr>
        <p:blipFill>
          <a:blip r:embed="rId4"/>
          <a:stretch>
            <a:fillRect/>
          </a:stretch>
        </p:blipFill>
        <p:spPr>
          <a:xfrm>
            <a:off x="6547104" y="1636776"/>
            <a:ext cx="219456" cy="219456"/>
          </a:xfrm>
          <a:prstGeom prst="rect">
            <a:avLst/>
          </a:prstGeom>
        </p:spPr>
      </p:pic>
      <p:sp>
        <p:nvSpPr>
          <p:cNvPr id="19" name="Text 15"/>
          <p:cNvSpPr/>
          <p:nvPr/>
        </p:nvSpPr>
        <p:spPr>
          <a:xfrm>
            <a:off x="6995160" y="1572768"/>
            <a:ext cx="4480560" cy="274320"/>
          </a:xfrm>
          <a:prstGeom prst="rect">
            <a:avLst/>
          </a:prstGeom>
          <a:noFill/>
          <a:ln/>
        </p:spPr>
        <p:txBody>
          <a:bodyPr wrap="square" rtlCol="0" anchor="ctr"/>
          <a:lstStyle/>
          <a:p>
            <a:pPr marL="0" indent="0">
              <a:buNone/>
            </a:pPr>
            <a:r>
              <a:rPr lang="en-US" sz="1250" b="1" dirty="0">
                <a:solidFill>
                  <a:srgbClr val="0B1F3D"/>
                </a:solidFill>
                <a:latin typeface="Calibri" pitchFamily="34" charset="0"/>
                <a:ea typeface="Calibri" pitchFamily="34" charset="-122"/>
                <a:cs typeface="Calibri" pitchFamily="34" charset="-120"/>
              </a:rPr>
              <a:t>SUPPLIER BENEFIT</a:t>
            </a:r>
            <a:endParaRPr lang="en-US" sz="1250" dirty="0"/>
          </a:p>
        </p:txBody>
      </p:sp>
      <p:sp>
        <p:nvSpPr>
          <p:cNvPr id="20" name="Text 16"/>
          <p:cNvSpPr/>
          <p:nvPr/>
        </p:nvSpPr>
        <p:spPr>
          <a:xfrm>
            <a:off x="6428232" y="2103120"/>
            <a:ext cx="5074920" cy="274320"/>
          </a:xfrm>
          <a:prstGeom prst="rect">
            <a:avLst/>
          </a:prstGeom>
          <a:noFill/>
          <a:ln/>
        </p:spPr>
        <p:txBody>
          <a:bodyPr wrap="square" rtlCol="0" anchor="ctr"/>
          <a:lstStyle/>
          <a:p>
            <a:pPr marL="0" indent="0">
              <a:buNone/>
            </a:pPr>
            <a:r>
              <a:rPr lang="en-US" sz="950" dirty="0">
                <a:solidFill>
                  <a:srgbClr val="5A6786"/>
                </a:solidFill>
                <a:latin typeface="Calibri" pitchFamily="34" charset="0"/>
                <a:ea typeface="Calibri" pitchFamily="34" charset="-122"/>
                <a:cs typeface="Calibri" pitchFamily="34" charset="-120"/>
              </a:rPr>
              <a:t>Suppliers monitor relevant requirements and respond with:</a:t>
            </a:r>
            <a:endParaRPr lang="en-US" sz="950" dirty="0"/>
          </a:p>
        </p:txBody>
      </p:sp>
      <p:sp>
        <p:nvSpPr>
          <p:cNvPr id="21" name="Text 17"/>
          <p:cNvSpPr/>
          <p:nvPr/>
        </p:nvSpPr>
        <p:spPr>
          <a:xfrm>
            <a:off x="6428232" y="2274430"/>
            <a:ext cx="5074920" cy="1051560"/>
          </a:xfrm>
          <a:prstGeom prst="rect">
            <a:avLst/>
          </a:prstGeom>
          <a:noFill/>
          <a:ln/>
        </p:spPr>
        <p:txBody>
          <a:bodyPr wrap="square" rtlCol="0" anchor="t"/>
          <a:lstStyle/>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Available component</a:t>
            </a:r>
            <a:endParaRPr lang="en-US" sz="1100" dirty="0"/>
          </a:p>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Datasheet</a:t>
            </a:r>
            <a:endParaRPr lang="en-US" sz="1100" dirty="0"/>
          </a:p>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Price</a:t>
            </a:r>
            <a:endParaRPr lang="en-US" sz="1100" dirty="0"/>
          </a:p>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MOQ</a:t>
            </a:r>
            <a:endParaRPr lang="en-US" sz="1100" dirty="0"/>
          </a:p>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Lead time</a:t>
            </a:r>
            <a:endParaRPr lang="en-US" sz="1100" dirty="0"/>
          </a:p>
          <a:p>
            <a:pPr marL="127000" indent="-127000">
              <a:lnSpc>
                <a:spcPct val="115000"/>
              </a:lnSpc>
              <a:buSzPct val="100000"/>
              <a:buChar char="✓"/>
            </a:pPr>
            <a:r>
              <a:rPr lang="en-US" sz="1100" dirty="0">
                <a:solidFill>
                  <a:srgbClr val="13684A"/>
                </a:solidFill>
                <a:latin typeface="Calibri" pitchFamily="34" charset="0"/>
                <a:ea typeface="Calibri" pitchFamily="34" charset="-122"/>
                <a:cs typeface="Calibri" pitchFamily="34" charset="-120"/>
              </a:rPr>
              <a:t>Equivalent product</a:t>
            </a:r>
            <a:endParaRPr lang="en-US" sz="1100" dirty="0"/>
          </a:p>
        </p:txBody>
      </p:sp>
      <p:sp>
        <p:nvSpPr>
          <p:cNvPr id="22" name="Shape 18"/>
          <p:cNvSpPr/>
          <p:nvPr/>
        </p:nvSpPr>
        <p:spPr>
          <a:xfrm>
            <a:off x="6428232" y="3520440"/>
            <a:ext cx="5074920" cy="502920"/>
          </a:xfrm>
          <a:prstGeom prst="roundRect">
            <a:avLst>
              <a:gd name="adj" fmla="val 14545"/>
            </a:avLst>
          </a:prstGeom>
          <a:solidFill>
            <a:srgbClr val="0B1F3D"/>
          </a:solidFill>
          <a:ln/>
        </p:spPr>
      </p:sp>
      <p:sp>
        <p:nvSpPr>
          <p:cNvPr id="23" name="Text 19"/>
          <p:cNvSpPr/>
          <p:nvPr/>
        </p:nvSpPr>
        <p:spPr>
          <a:xfrm>
            <a:off x="6583680" y="3520440"/>
            <a:ext cx="4754880" cy="502920"/>
          </a:xfrm>
          <a:prstGeom prst="rect">
            <a:avLst/>
          </a:prstGeom>
          <a:noFill/>
          <a:ln/>
        </p:spPr>
        <p:txBody>
          <a:bodyPr wrap="square" rtlCol="0" anchor="ctr"/>
          <a:lstStyle/>
          <a:p>
            <a:pPr marL="0" indent="0">
              <a:buNone/>
            </a:pPr>
            <a:r>
              <a:rPr lang="en-US" sz="1050" b="1" i="1" dirty="0">
                <a:solidFill>
                  <a:srgbClr val="FFFFFF"/>
                </a:solidFill>
                <a:latin typeface="Calibri" pitchFamily="34" charset="0"/>
                <a:ea typeface="Calibri" pitchFamily="34" charset="-122"/>
                <a:cs typeface="Calibri" pitchFamily="34" charset="-120"/>
              </a:rPr>
              <a:t>This creates a continuous lead-generation mechanism.</a:t>
            </a:r>
            <a:endParaRPr lang="en-US" sz="1050" dirty="0"/>
          </a:p>
        </p:txBody>
      </p:sp>
      <p:sp>
        <p:nvSpPr>
          <p:cNvPr id="24" name="Text 20"/>
          <p:cNvSpPr/>
          <p:nvPr/>
        </p:nvSpPr>
        <p:spPr>
          <a:xfrm>
            <a:off x="6400800" y="4415806"/>
            <a:ext cx="5074920" cy="228600"/>
          </a:xfrm>
          <a:prstGeom prst="rect">
            <a:avLst/>
          </a:prstGeom>
          <a:noFill/>
          <a:ln/>
        </p:spPr>
        <p:txBody>
          <a:bodyPr wrap="square" rtlCol="0" anchor="ctr"/>
          <a:lstStyle/>
          <a:p>
            <a:pPr marL="0" indent="0">
              <a:buNone/>
            </a:pPr>
            <a:r>
              <a:rPr lang="en-US" sz="1100" b="1" kern="0" spc="100" dirty="0">
                <a:solidFill>
                  <a:srgbClr val="5A6786"/>
                </a:solidFill>
                <a:latin typeface="Calibri" pitchFamily="34" charset="0"/>
                <a:ea typeface="Calibri" pitchFamily="34" charset="-122"/>
                <a:cs typeface="Calibri" pitchFamily="34" charset="-120"/>
              </a:rPr>
              <a:t>SUPPLIER PROFILE SHOWS</a:t>
            </a:r>
            <a:endParaRPr lang="en-US" sz="1100" dirty="0"/>
          </a:p>
        </p:txBody>
      </p:sp>
      <p:sp>
        <p:nvSpPr>
          <p:cNvPr id="25" name="Shape 21"/>
          <p:cNvSpPr/>
          <p:nvPr/>
        </p:nvSpPr>
        <p:spPr>
          <a:xfrm>
            <a:off x="6400800" y="4662694"/>
            <a:ext cx="658368" cy="292608"/>
          </a:xfrm>
          <a:prstGeom prst="roundRect">
            <a:avLst>
              <a:gd name="adj" fmla="val 50000"/>
            </a:avLst>
          </a:prstGeom>
          <a:solidFill>
            <a:srgbClr val="E4F5EE"/>
          </a:solidFill>
          <a:ln w="9525">
            <a:solidFill>
              <a:srgbClr val="1FA97A"/>
            </a:solidFill>
            <a:prstDash val="solid"/>
          </a:ln>
        </p:spPr>
      </p:sp>
      <p:sp>
        <p:nvSpPr>
          <p:cNvPr id="26" name="Text 22"/>
          <p:cNvSpPr/>
          <p:nvPr/>
        </p:nvSpPr>
        <p:spPr>
          <a:xfrm>
            <a:off x="6400800"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GST</a:t>
            </a:r>
            <a:endParaRPr lang="en-US" sz="840" dirty="0"/>
          </a:p>
        </p:txBody>
      </p:sp>
      <p:sp>
        <p:nvSpPr>
          <p:cNvPr id="27" name="Shape 23"/>
          <p:cNvSpPr/>
          <p:nvPr/>
        </p:nvSpPr>
        <p:spPr>
          <a:xfrm>
            <a:off x="7150608" y="4662694"/>
            <a:ext cx="658368" cy="292608"/>
          </a:xfrm>
          <a:prstGeom prst="roundRect">
            <a:avLst>
              <a:gd name="adj" fmla="val 50000"/>
            </a:avLst>
          </a:prstGeom>
          <a:solidFill>
            <a:srgbClr val="E4F5EE"/>
          </a:solidFill>
          <a:ln w="9525">
            <a:solidFill>
              <a:srgbClr val="1FA97A"/>
            </a:solidFill>
            <a:prstDash val="solid"/>
          </a:ln>
        </p:spPr>
      </p:sp>
      <p:sp>
        <p:nvSpPr>
          <p:cNvPr id="28" name="Text 24"/>
          <p:cNvSpPr/>
          <p:nvPr/>
        </p:nvSpPr>
        <p:spPr>
          <a:xfrm>
            <a:off x="7150608"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MSME</a:t>
            </a:r>
            <a:endParaRPr lang="en-US" sz="840" dirty="0"/>
          </a:p>
        </p:txBody>
      </p:sp>
      <p:sp>
        <p:nvSpPr>
          <p:cNvPr id="29" name="Shape 25"/>
          <p:cNvSpPr/>
          <p:nvPr/>
        </p:nvSpPr>
        <p:spPr>
          <a:xfrm>
            <a:off x="7900416" y="4662694"/>
            <a:ext cx="658368" cy="292608"/>
          </a:xfrm>
          <a:prstGeom prst="roundRect">
            <a:avLst>
              <a:gd name="adj" fmla="val 50000"/>
            </a:avLst>
          </a:prstGeom>
          <a:solidFill>
            <a:srgbClr val="E4F5EE"/>
          </a:solidFill>
          <a:ln w="9525">
            <a:solidFill>
              <a:srgbClr val="1FA97A"/>
            </a:solidFill>
            <a:prstDash val="solid"/>
          </a:ln>
        </p:spPr>
      </p:sp>
      <p:sp>
        <p:nvSpPr>
          <p:cNvPr id="30" name="Text 26"/>
          <p:cNvSpPr/>
          <p:nvPr/>
        </p:nvSpPr>
        <p:spPr>
          <a:xfrm>
            <a:off x="7900416"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ISO</a:t>
            </a:r>
            <a:endParaRPr lang="en-US" sz="840" dirty="0"/>
          </a:p>
        </p:txBody>
      </p:sp>
      <p:sp>
        <p:nvSpPr>
          <p:cNvPr id="31" name="Shape 27"/>
          <p:cNvSpPr/>
          <p:nvPr/>
        </p:nvSpPr>
        <p:spPr>
          <a:xfrm>
            <a:off x="8650224" y="4662694"/>
            <a:ext cx="658368" cy="292608"/>
          </a:xfrm>
          <a:prstGeom prst="roundRect">
            <a:avLst>
              <a:gd name="adj" fmla="val 50000"/>
            </a:avLst>
          </a:prstGeom>
          <a:solidFill>
            <a:srgbClr val="E4F5EE"/>
          </a:solidFill>
          <a:ln w="9525">
            <a:solidFill>
              <a:srgbClr val="1FA97A"/>
            </a:solidFill>
            <a:prstDash val="solid"/>
          </a:ln>
        </p:spPr>
      </p:sp>
      <p:sp>
        <p:nvSpPr>
          <p:cNvPr id="32" name="Text 28"/>
          <p:cNvSpPr/>
          <p:nvPr/>
        </p:nvSpPr>
        <p:spPr>
          <a:xfrm>
            <a:off x="8650224"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BIS</a:t>
            </a:r>
            <a:endParaRPr lang="en-US" sz="840" dirty="0"/>
          </a:p>
        </p:txBody>
      </p:sp>
      <p:sp>
        <p:nvSpPr>
          <p:cNvPr id="33" name="Shape 29"/>
          <p:cNvSpPr/>
          <p:nvPr/>
        </p:nvSpPr>
        <p:spPr>
          <a:xfrm>
            <a:off x="9400032" y="4662694"/>
            <a:ext cx="658368" cy="292608"/>
          </a:xfrm>
          <a:prstGeom prst="roundRect">
            <a:avLst>
              <a:gd name="adj" fmla="val 50000"/>
            </a:avLst>
          </a:prstGeom>
          <a:solidFill>
            <a:srgbClr val="E4F5EE"/>
          </a:solidFill>
          <a:ln w="9525">
            <a:solidFill>
              <a:srgbClr val="1FA97A"/>
            </a:solidFill>
            <a:prstDash val="solid"/>
          </a:ln>
        </p:spPr>
      </p:sp>
      <p:sp>
        <p:nvSpPr>
          <p:cNvPr id="34" name="Text 30"/>
          <p:cNvSpPr/>
          <p:nvPr/>
        </p:nvSpPr>
        <p:spPr>
          <a:xfrm>
            <a:off x="9400032"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CE</a:t>
            </a:r>
            <a:endParaRPr lang="en-US" sz="840" dirty="0"/>
          </a:p>
        </p:txBody>
      </p:sp>
      <p:sp>
        <p:nvSpPr>
          <p:cNvPr id="35" name="Shape 31"/>
          <p:cNvSpPr/>
          <p:nvPr/>
        </p:nvSpPr>
        <p:spPr>
          <a:xfrm>
            <a:off x="10149840" y="4662694"/>
            <a:ext cx="658368" cy="292608"/>
          </a:xfrm>
          <a:prstGeom prst="roundRect">
            <a:avLst>
              <a:gd name="adj" fmla="val 50000"/>
            </a:avLst>
          </a:prstGeom>
          <a:solidFill>
            <a:srgbClr val="E4F5EE"/>
          </a:solidFill>
          <a:ln w="9525">
            <a:solidFill>
              <a:srgbClr val="1FA97A"/>
            </a:solidFill>
            <a:prstDash val="solid"/>
          </a:ln>
        </p:spPr>
      </p:sp>
      <p:sp>
        <p:nvSpPr>
          <p:cNvPr id="36" name="Text 32"/>
          <p:cNvSpPr/>
          <p:nvPr/>
        </p:nvSpPr>
        <p:spPr>
          <a:xfrm>
            <a:off x="10149840" y="4662694"/>
            <a:ext cx="658368" cy="292608"/>
          </a:xfrm>
          <a:prstGeom prst="rect">
            <a:avLst/>
          </a:prstGeom>
          <a:noFill/>
          <a:ln/>
        </p:spPr>
        <p:txBody>
          <a:bodyPr wrap="square" rtlCol="0" anchor="ctr"/>
          <a:lstStyle/>
          <a:p>
            <a:pPr marL="0" indent="0" algn="ctr">
              <a:buNone/>
            </a:pPr>
            <a:r>
              <a:rPr lang="en-US" sz="840" b="1" dirty="0">
                <a:solidFill>
                  <a:srgbClr val="13684A"/>
                </a:solidFill>
                <a:latin typeface="Calibri" pitchFamily="34" charset="0"/>
                <a:ea typeface="Calibri" pitchFamily="34" charset="-122"/>
                <a:cs typeface="Calibri" pitchFamily="34" charset="-120"/>
              </a:rPr>
              <a:t>✓ RoHS</a:t>
            </a:r>
            <a:endParaRPr lang="en-US" sz="840" dirty="0"/>
          </a:p>
        </p:txBody>
      </p:sp>
      <p:sp>
        <p:nvSpPr>
          <p:cNvPr id="37" name="Text 33"/>
          <p:cNvSpPr/>
          <p:nvPr/>
        </p:nvSpPr>
        <p:spPr>
          <a:xfrm>
            <a:off x="457200" y="4343400"/>
            <a:ext cx="5440680" cy="274320"/>
          </a:xfrm>
          <a:prstGeom prst="rect">
            <a:avLst/>
          </a:prstGeom>
          <a:noFill/>
          <a:ln/>
        </p:spPr>
        <p:txBody>
          <a:bodyPr wrap="square" rtlCol="0" anchor="ctr"/>
          <a:lstStyle/>
          <a:p>
            <a:pPr marL="0" indent="0">
              <a:buNone/>
            </a:pPr>
            <a:r>
              <a:rPr lang="en-US" sz="1100" b="1" kern="0" spc="100" dirty="0">
                <a:solidFill>
                  <a:srgbClr val="0B1F3D"/>
                </a:solidFill>
                <a:latin typeface="Calibri" pitchFamily="34" charset="0"/>
                <a:ea typeface="Calibri" pitchFamily="34" charset="-122"/>
                <a:cs typeface="Calibri" pitchFamily="34" charset="-120"/>
              </a:rPr>
              <a:t>THE NETWORK EFFECT</a:t>
            </a:r>
            <a:endParaRPr lang="en-US" sz="1100" dirty="0"/>
          </a:p>
        </p:txBody>
      </p:sp>
      <p:sp>
        <p:nvSpPr>
          <p:cNvPr id="38" name="Shape 34"/>
          <p:cNvSpPr/>
          <p:nvPr/>
        </p:nvSpPr>
        <p:spPr>
          <a:xfrm>
            <a:off x="457200" y="4663440"/>
            <a:ext cx="1029614" cy="566928"/>
          </a:xfrm>
          <a:prstGeom prst="roundRect">
            <a:avLst>
              <a:gd name="adj" fmla="val 8065"/>
            </a:avLst>
          </a:prstGeom>
          <a:solidFill>
            <a:srgbClr val="2F6FED"/>
          </a:solidFill>
          <a:ln/>
        </p:spPr>
      </p:sp>
      <p:sp>
        <p:nvSpPr>
          <p:cNvPr id="39" name="Text 35"/>
          <p:cNvSpPr/>
          <p:nvPr/>
        </p:nvSpPr>
        <p:spPr>
          <a:xfrm>
            <a:off x="484632" y="4663440"/>
            <a:ext cx="97475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More Customers</a:t>
            </a:r>
            <a:endParaRPr lang="en-US" sz="1100" dirty="0"/>
          </a:p>
        </p:txBody>
      </p:sp>
      <p:sp>
        <p:nvSpPr>
          <p:cNvPr id="40" name="Text 36"/>
          <p:cNvSpPr/>
          <p:nvPr/>
        </p:nvSpPr>
        <p:spPr>
          <a:xfrm>
            <a:off x="1468526" y="4828032"/>
            <a:ext cx="128016" cy="237744"/>
          </a:xfrm>
          <a:prstGeom prst="rect">
            <a:avLst/>
          </a:prstGeom>
          <a:noFill/>
          <a:ln/>
        </p:spPr>
        <p:txBody>
          <a:bodyPr wrap="square" rtlCol="0" anchor="ctr"/>
          <a:lstStyle/>
          <a:p>
            <a:pPr marL="0" indent="0" algn="ctr">
              <a:buNone/>
            </a:pPr>
            <a:r>
              <a:rPr lang="en-US" sz="1000" dirty="0">
                <a:solidFill>
                  <a:srgbClr val="5A6786"/>
                </a:solidFill>
                <a:latin typeface="Calibri" pitchFamily="34" charset="0"/>
                <a:ea typeface="Calibri" pitchFamily="34" charset="-122"/>
                <a:cs typeface="Calibri" pitchFamily="34" charset="-120"/>
              </a:rPr>
              <a:t>→</a:t>
            </a:r>
            <a:endParaRPr lang="en-US" sz="1000" dirty="0"/>
          </a:p>
        </p:txBody>
      </p:sp>
      <p:sp>
        <p:nvSpPr>
          <p:cNvPr id="41" name="Shape 37"/>
          <p:cNvSpPr/>
          <p:nvPr/>
        </p:nvSpPr>
        <p:spPr>
          <a:xfrm>
            <a:off x="1559966" y="4663440"/>
            <a:ext cx="1029614" cy="566928"/>
          </a:xfrm>
          <a:prstGeom prst="roundRect">
            <a:avLst>
              <a:gd name="adj" fmla="val 8065"/>
            </a:avLst>
          </a:prstGeom>
          <a:solidFill>
            <a:srgbClr val="0B1F3D"/>
          </a:solidFill>
          <a:ln/>
        </p:spPr>
      </p:sp>
      <p:sp>
        <p:nvSpPr>
          <p:cNvPr id="42" name="Text 38"/>
          <p:cNvSpPr/>
          <p:nvPr/>
        </p:nvSpPr>
        <p:spPr>
          <a:xfrm>
            <a:off x="1587398" y="4663440"/>
            <a:ext cx="97475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More Technical Questions</a:t>
            </a:r>
            <a:endParaRPr lang="en-US" sz="1100" dirty="0"/>
          </a:p>
        </p:txBody>
      </p:sp>
      <p:sp>
        <p:nvSpPr>
          <p:cNvPr id="43" name="Text 39"/>
          <p:cNvSpPr/>
          <p:nvPr/>
        </p:nvSpPr>
        <p:spPr>
          <a:xfrm>
            <a:off x="2571293" y="4828032"/>
            <a:ext cx="128016" cy="237744"/>
          </a:xfrm>
          <a:prstGeom prst="rect">
            <a:avLst/>
          </a:prstGeom>
          <a:noFill/>
          <a:ln/>
        </p:spPr>
        <p:txBody>
          <a:bodyPr wrap="square" rtlCol="0" anchor="ctr"/>
          <a:lstStyle/>
          <a:p>
            <a:pPr marL="0" indent="0" algn="ctr">
              <a:buNone/>
            </a:pPr>
            <a:r>
              <a:rPr lang="en-US" sz="1000" dirty="0">
                <a:solidFill>
                  <a:srgbClr val="5A6786"/>
                </a:solidFill>
                <a:latin typeface="Calibri" pitchFamily="34" charset="0"/>
                <a:ea typeface="Calibri" pitchFamily="34" charset="-122"/>
                <a:cs typeface="Calibri" pitchFamily="34" charset="-120"/>
              </a:rPr>
              <a:t>→</a:t>
            </a:r>
            <a:endParaRPr lang="en-US" sz="1000" dirty="0"/>
          </a:p>
        </p:txBody>
      </p:sp>
      <p:sp>
        <p:nvSpPr>
          <p:cNvPr id="44" name="Shape 40"/>
          <p:cNvSpPr/>
          <p:nvPr/>
        </p:nvSpPr>
        <p:spPr>
          <a:xfrm>
            <a:off x="2662733" y="4663440"/>
            <a:ext cx="1029614" cy="566928"/>
          </a:xfrm>
          <a:prstGeom prst="roundRect">
            <a:avLst>
              <a:gd name="adj" fmla="val 8065"/>
            </a:avLst>
          </a:prstGeom>
          <a:solidFill>
            <a:srgbClr val="2F6FED"/>
          </a:solidFill>
          <a:ln/>
        </p:spPr>
      </p:sp>
      <p:sp>
        <p:nvSpPr>
          <p:cNvPr id="45" name="Text 41"/>
          <p:cNvSpPr/>
          <p:nvPr/>
        </p:nvSpPr>
        <p:spPr>
          <a:xfrm>
            <a:off x="2690165" y="4663440"/>
            <a:ext cx="97475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More Supplier Participation</a:t>
            </a:r>
            <a:endParaRPr lang="en-US" sz="1100" dirty="0"/>
          </a:p>
        </p:txBody>
      </p:sp>
      <p:sp>
        <p:nvSpPr>
          <p:cNvPr id="46" name="Text 42"/>
          <p:cNvSpPr/>
          <p:nvPr/>
        </p:nvSpPr>
        <p:spPr>
          <a:xfrm>
            <a:off x="3674059" y="4828032"/>
            <a:ext cx="128016" cy="237744"/>
          </a:xfrm>
          <a:prstGeom prst="rect">
            <a:avLst/>
          </a:prstGeom>
          <a:noFill/>
          <a:ln/>
        </p:spPr>
        <p:txBody>
          <a:bodyPr wrap="square" rtlCol="0" anchor="ctr"/>
          <a:lstStyle/>
          <a:p>
            <a:pPr marL="0" indent="0" algn="ctr">
              <a:buNone/>
            </a:pPr>
            <a:r>
              <a:rPr lang="en-US" sz="1000" dirty="0">
                <a:solidFill>
                  <a:srgbClr val="5A6786"/>
                </a:solidFill>
                <a:latin typeface="Calibri" pitchFamily="34" charset="0"/>
                <a:ea typeface="Calibri" pitchFamily="34" charset="-122"/>
                <a:cs typeface="Calibri" pitchFamily="34" charset="-120"/>
              </a:rPr>
              <a:t>→</a:t>
            </a:r>
            <a:endParaRPr lang="en-US" sz="1000" dirty="0"/>
          </a:p>
        </p:txBody>
      </p:sp>
      <p:sp>
        <p:nvSpPr>
          <p:cNvPr id="47" name="Shape 43"/>
          <p:cNvSpPr/>
          <p:nvPr/>
        </p:nvSpPr>
        <p:spPr>
          <a:xfrm>
            <a:off x="3765499" y="4663440"/>
            <a:ext cx="1029614" cy="566928"/>
          </a:xfrm>
          <a:prstGeom prst="roundRect">
            <a:avLst>
              <a:gd name="adj" fmla="val 8065"/>
            </a:avLst>
          </a:prstGeom>
          <a:solidFill>
            <a:srgbClr val="0B1F3D"/>
          </a:solidFill>
          <a:ln/>
        </p:spPr>
      </p:sp>
      <p:sp>
        <p:nvSpPr>
          <p:cNvPr id="48" name="Text 44"/>
          <p:cNvSpPr/>
          <p:nvPr/>
        </p:nvSpPr>
        <p:spPr>
          <a:xfrm>
            <a:off x="3792931" y="4663440"/>
            <a:ext cx="97475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More Useful Answers</a:t>
            </a:r>
            <a:endParaRPr lang="en-US" sz="1100" dirty="0"/>
          </a:p>
        </p:txBody>
      </p:sp>
      <p:sp>
        <p:nvSpPr>
          <p:cNvPr id="49" name="Text 45"/>
          <p:cNvSpPr/>
          <p:nvPr/>
        </p:nvSpPr>
        <p:spPr>
          <a:xfrm>
            <a:off x="4776826" y="4828032"/>
            <a:ext cx="128016" cy="237744"/>
          </a:xfrm>
          <a:prstGeom prst="rect">
            <a:avLst/>
          </a:prstGeom>
          <a:noFill/>
          <a:ln/>
        </p:spPr>
        <p:txBody>
          <a:bodyPr wrap="square" rtlCol="0" anchor="ctr"/>
          <a:lstStyle/>
          <a:p>
            <a:pPr marL="0" indent="0" algn="ctr">
              <a:buNone/>
            </a:pPr>
            <a:r>
              <a:rPr lang="en-US" sz="1000" dirty="0">
                <a:solidFill>
                  <a:srgbClr val="5A6786"/>
                </a:solidFill>
                <a:latin typeface="Calibri" pitchFamily="34" charset="0"/>
                <a:ea typeface="Calibri" pitchFamily="34" charset="-122"/>
                <a:cs typeface="Calibri" pitchFamily="34" charset="-120"/>
              </a:rPr>
              <a:t>→</a:t>
            </a:r>
            <a:endParaRPr lang="en-US" sz="1000" dirty="0"/>
          </a:p>
        </p:txBody>
      </p:sp>
      <p:sp>
        <p:nvSpPr>
          <p:cNvPr id="50" name="Shape 46"/>
          <p:cNvSpPr/>
          <p:nvPr/>
        </p:nvSpPr>
        <p:spPr>
          <a:xfrm>
            <a:off x="4868266" y="4663440"/>
            <a:ext cx="1029614" cy="566928"/>
          </a:xfrm>
          <a:prstGeom prst="roundRect">
            <a:avLst>
              <a:gd name="adj" fmla="val 8065"/>
            </a:avLst>
          </a:prstGeom>
          <a:solidFill>
            <a:srgbClr val="2F6FED"/>
          </a:solidFill>
          <a:ln/>
        </p:spPr>
      </p:sp>
      <p:sp>
        <p:nvSpPr>
          <p:cNvPr id="51" name="Text 47"/>
          <p:cNvSpPr/>
          <p:nvPr/>
        </p:nvSpPr>
        <p:spPr>
          <a:xfrm>
            <a:off x="4895698" y="4663440"/>
            <a:ext cx="97475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More Product Discovery</a:t>
            </a:r>
            <a:endParaRPr lang="en-US" sz="1100" dirty="0"/>
          </a:p>
        </p:txBody>
      </p:sp>
      <p:sp>
        <p:nvSpPr>
          <p:cNvPr id="52" name="Text 48"/>
          <p:cNvSpPr/>
          <p:nvPr/>
        </p:nvSpPr>
        <p:spPr>
          <a:xfrm>
            <a:off x="457200" y="5285232"/>
            <a:ext cx="5440680" cy="228600"/>
          </a:xfrm>
          <a:prstGeom prst="rect">
            <a:avLst/>
          </a:prstGeom>
          <a:noFill/>
          <a:ln/>
        </p:spPr>
        <p:txBody>
          <a:bodyPr wrap="square" rtlCol="0" anchor="ctr"/>
          <a:lstStyle/>
          <a:p>
            <a:pPr marL="0" indent="0" algn="r">
              <a:buNone/>
            </a:pPr>
            <a:r>
              <a:rPr lang="en-US" sz="1200" i="1" dirty="0">
                <a:solidFill>
                  <a:srgbClr val="5A6786"/>
                </a:solidFill>
                <a:latin typeface="Calibri" pitchFamily="34" charset="0"/>
                <a:ea typeface="Calibri" pitchFamily="34" charset="-122"/>
                <a:cs typeface="Calibri" pitchFamily="34" charset="-120"/>
              </a:rPr>
              <a:t>↻ back to more customers</a:t>
            </a:r>
            <a:endParaRPr lang="en-US" sz="1200" dirty="0"/>
          </a:p>
        </p:txBody>
      </p:sp>
      <p:sp>
        <p:nvSpPr>
          <p:cNvPr id="53" name="Shape 49"/>
          <p:cNvSpPr/>
          <p:nvPr/>
        </p:nvSpPr>
        <p:spPr>
          <a:xfrm>
            <a:off x="457200" y="5623560"/>
            <a:ext cx="11247120" cy="594360"/>
          </a:xfrm>
          <a:prstGeom prst="roundRect">
            <a:avLst>
              <a:gd name="adj" fmla="val 12308"/>
            </a:avLst>
          </a:prstGeom>
          <a:solidFill>
            <a:srgbClr val="2F6FED"/>
          </a:solidFill>
          <a:ln/>
        </p:spPr>
      </p:sp>
      <p:sp>
        <p:nvSpPr>
          <p:cNvPr id="54" name="Text 50"/>
          <p:cNvSpPr/>
          <p:nvPr/>
        </p:nvSpPr>
        <p:spPr>
          <a:xfrm>
            <a:off x="640080" y="5623560"/>
            <a:ext cx="10881360" cy="594360"/>
          </a:xfrm>
          <a:prstGeom prst="rect">
            <a:avLst/>
          </a:prstGeom>
          <a:noFill/>
          <a:ln/>
        </p:spPr>
        <p:txBody>
          <a:bodyPr wrap="square"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“The community is not only a support feature — it can become a marketplace growth engine.”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EXECUTION ROADMAP</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How We Convert the Concept into a Working Prototype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08 / 10</a:t>
            </a:r>
            <a:endParaRPr lang="en-US" sz="850" dirty="0"/>
          </a:p>
        </p:txBody>
      </p:sp>
      <p:sp>
        <p:nvSpPr>
          <p:cNvPr id="6" name="Shape 4"/>
          <p:cNvSpPr/>
          <p:nvPr/>
        </p:nvSpPr>
        <p:spPr>
          <a:xfrm>
            <a:off x="457200" y="1417320"/>
            <a:ext cx="2103120" cy="4434840"/>
          </a:xfrm>
          <a:prstGeom prst="roundRect">
            <a:avLst>
              <a:gd name="adj" fmla="val 3478"/>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7" name="Shape 5"/>
          <p:cNvSpPr/>
          <p:nvPr/>
        </p:nvSpPr>
        <p:spPr>
          <a:xfrm>
            <a:off x="457200" y="1417320"/>
            <a:ext cx="2103120" cy="1051560"/>
          </a:xfrm>
          <a:prstGeom prst="rect">
            <a:avLst/>
          </a:prstGeom>
          <a:solidFill>
            <a:srgbClr val="0B1F3D"/>
          </a:solidFill>
          <a:ln/>
        </p:spPr>
      </p:sp>
      <p:sp>
        <p:nvSpPr>
          <p:cNvPr id="8" name="Shape 6"/>
          <p:cNvSpPr/>
          <p:nvPr/>
        </p:nvSpPr>
        <p:spPr>
          <a:xfrm>
            <a:off x="1252728" y="1639015"/>
            <a:ext cx="512064" cy="512064"/>
          </a:xfrm>
          <a:prstGeom prst="ellipse">
            <a:avLst/>
          </a:prstGeom>
          <a:solidFill>
            <a:srgbClr val="2F6FED"/>
          </a:solidFill>
          <a:ln/>
        </p:spPr>
      </p:sp>
      <p:pic>
        <p:nvPicPr>
          <p:cNvPr id="9" name="Image 0" descr="/home/claude/electromart/icons/flask.png"/>
          <p:cNvPicPr>
            <a:picLocks noChangeAspect="1"/>
          </p:cNvPicPr>
          <p:nvPr/>
        </p:nvPicPr>
        <p:blipFill>
          <a:blip r:embed="rId3"/>
          <a:stretch>
            <a:fillRect/>
          </a:stretch>
        </p:blipFill>
        <p:spPr>
          <a:xfrm>
            <a:off x="1385865" y="1772152"/>
            <a:ext cx="245791" cy="245791"/>
          </a:xfrm>
          <a:prstGeom prst="rect">
            <a:avLst/>
          </a:prstGeom>
        </p:spPr>
      </p:pic>
      <p:sp>
        <p:nvSpPr>
          <p:cNvPr id="10" name="Text 7"/>
          <p:cNvSpPr/>
          <p:nvPr/>
        </p:nvSpPr>
        <p:spPr>
          <a:xfrm>
            <a:off x="457200" y="1435608"/>
            <a:ext cx="2103120" cy="182880"/>
          </a:xfrm>
          <a:prstGeom prst="rect">
            <a:avLst/>
          </a:prstGeom>
          <a:noFill/>
          <a:ln/>
        </p:spPr>
        <p:txBody>
          <a:bodyPr wrap="square" rtlCol="0" anchor="ctr"/>
          <a:lstStyle/>
          <a:p>
            <a:pPr marL="0" indent="0" algn="ctr">
              <a:buNone/>
            </a:pPr>
            <a:r>
              <a:rPr lang="en-US" sz="750" b="1" dirty="0">
                <a:solidFill>
                  <a:srgbClr val="9DB6F2"/>
                </a:solidFill>
                <a:latin typeface="Calibri" pitchFamily="34" charset="0"/>
                <a:ea typeface="Calibri" pitchFamily="34" charset="-122"/>
                <a:cs typeface="Calibri" pitchFamily="34" charset="-120"/>
              </a:rPr>
              <a:t>PHASE 1</a:t>
            </a:r>
            <a:endParaRPr lang="en-US" sz="750" dirty="0"/>
          </a:p>
        </p:txBody>
      </p:sp>
      <p:sp>
        <p:nvSpPr>
          <p:cNvPr id="11" name="Text 8"/>
          <p:cNvSpPr/>
          <p:nvPr/>
        </p:nvSpPr>
        <p:spPr>
          <a:xfrm>
            <a:off x="502920" y="2130552"/>
            <a:ext cx="2011680" cy="2743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VALIDATE</a:t>
            </a:r>
            <a:endParaRPr lang="en-US" sz="1150" dirty="0"/>
          </a:p>
        </p:txBody>
      </p:sp>
      <p:sp>
        <p:nvSpPr>
          <p:cNvPr id="12" name="Text 9"/>
          <p:cNvSpPr/>
          <p:nvPr/>
        </p:nvSpPr>
        <p:spPr>
          <a:xfrm>
            <a:off x="457200" y="2514600"/>
            <a:ext cx="2103120" cy="228600"/>
          </a:xfrm>
          <a:prstGeom prst="rect">
            <a:avLst/>
          </a:prstGeom>
          <a:noFill/>
          <a:ln/>
        </p:spPr>
        <p:txBody>
          <a:bodyPr wrap="square" rtlCol="0" anchor="ctr"/>
          <a:lstStyle/>
          <a:p>
            <a:pPr marL="0" indent="0" algn="ctr">
              <a:buNone/>
            </a:pPr>
            <a:r>
              <a:rPr lang="en-US" sz="1400" b="1" dirty="0">
                <a:solidFill>
                  <a:srgbClr val="1D4FBF"/>
                </a:solidFill>
                <a:latin typeface="Calibri" pitchFamily="34" charset="0"/>
                <a:ea typeface="Calibri" pitchFamily="34" charset="-122"/>
                <a:cs typeface="Calibri" pitchFamily="34" charset="-120"/>
              </a:rPr>
              <a:t>Week 1</a:t>
            </a:r>
            <a:endParaRPr lang="en-US" sz="1400" dirty="0"/>
          </a:p>
        </p:txBody>
      </p:sp>
      <p:sp>
        <p:nvSpPr>
          <p:cNvPr id="13" name="Text 10"/>
          <p:cNvSpPr/>
          <p:nvPr/>
        </p:nvSpPr>
        <p:spPr>
          <a:xfrm>
            <a:off x="585216" y="3040847"/>
            <a:ext cx="1847088" cy="2103120"/>
          </a:xfrm>
          <a:prstGeom prst="rect">
            <a:avLst/>
          </a:prstGeom>
          <a:noFill/>
          <a:ln/>
        </p:spPr>
        <p:txBody>
          <a:bodyPr wrap="square" rtlCol="0" anchor="t"/>
          <a:lstStyle/>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Customer interviews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Supplier interviews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Procurement pain points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Competitor study</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Validate search problem</a:t>
            </a:r>
            <a:endParaRPr lang="en-US" sz="1200" dirty="0"/>
          </a:p>
        </p:txBody>
      </p:sp>
      <p:sp>
        <p:nvSpPr>
          <p:cNvPr id="14" name="Shape 11"/>
          <p:cNvSpPr/>
          <p:nvPr/>
        </p:nvSpPr>
        <p:spPr>
          <a:xfrm>
            <a:off x="548640" y="5230368"/>
            <a:ext cx="1920240" cy="512064"/>
          </a:xfrm>
          <a:prstGeom prst="roundRect">
            <a:avLst>
              <a:gd name="adj" fmla="val 10714"/>
            </a:avLst>
          </a:prstGeom>
          <a:solidFill>
            <a:srgbClr val="E4F5EE"/>
          </a:solidFill>
          <a:ln w="9525">
            <a:solidFill>
              <a:srgbClr val="1FA97A"/>
            </a:solidFill>
            <a:prstDash val="solid"/>
          </a:ln>
        </p:spPr>
      </p:sp>
      <p:sp>
        <p:nvSpPr>
          <p:cNvPr id="15" name="Text 12"/>
          <p:cNvSpPr/>
          <p:nvPr/>
        </p:nvSpPr>
        <p:spPr>
          <a:xfrm>
            <a:off x="585216" y="5230368"/>
            <a:ext cx="1847088" cy="512064"/>
          </a:xfrm>
          <a:prstGeom prst="rect">
            <a:avLst/>
          </a:prstGeom>
          <a:noFill/>
          <a:ln/>
        </p:spPr>
        <p:txBody>
          <a:bodyPr wrap="square" rtlCol="0" anchor="ctr"/>
          <a:lstStyle/>
          <a:p>
            <a:pPr marL="0" indent="0" algn="ctr">
              <a:buNone/>
            </a:pPr>
            <a:r>
              <a:rPr lang="en-US" sz="1100" b="1" dirty="0">
                <a:solidFill>
                  <a:srgbClr val="13684A"/>
                </a:solidFill>
                <a:latin typeface="Calibri" pitchFamily="34" charset="0"/>
                <a:ea typeface="Calibri" pitchFamily="34" charset="-122"/>
                <a:cs typeface="Calibri" pitchFamily="34" charset="-120"/>
              </a:rPr>
              <a:t>Validated problem + target users</a:t>
            </a:r>
            <a:endParaRPr lang="en-US" sz="1100" dirty="0"/>
          </a:p>
        </p:txBody>
      </p:sp>
      <p:sp>
        <p:nvSpPr>
          <p:cNvPr id="16" name="Text 13"/>
          <p:cNvSpPr/>
          <p:nvPr/>
        </p:nvSpPr>
        <p:spPr>
          <a:xfrm>
            <a:off x="2542032" y="3451860"/>
            <a:ext cx="201168" cy="365760"/>
          </a:xfrm>
          <a:prstGeom prst="rect">
            <a:avLst/>
          </a:prstGeom>
          <a:noFill/>
          <a:ln/>
        </p:spPr>
        <p:txBody>
          <a:bodyPr wrap="square" rtlCol="0" anchor="ctr"/>
          <a:lstStyle/>
          <a:p>
            <a:pPr marL="0" indent="0" algn="ctr">
              <a:buNone/>
            </a:pPr>
            <a:r>
              <a:rPr lang="en-US" sz="1800" b="1" dirty="0">
                <a:solidFill>
                  <a:srgbClr val="2F6FED"/>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2743200" y="1417320"/>
            <a:ext cx="2103120" cy="4434840"/>
          </a:xfrm>
          <a:prstGeom prst="roundRect">
            <a:avLst>
              <a:gd name="adj" fmla="val 3478"/>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8" name="Shape 15"/>
          <p:cNvSpPr/>
          <p:nvPr/>
        </p:nvSpPr>
        <p:spPr>
          <a:xfrm>
            <a:off x="2743200" y="1417320"/>
            <a:ext cx="2103120" cy="1051560"/>
          </a:xfrm>
          <a:prstGeom prst="rect">
            <a:avLst/>
          </a:prstGeom>
          <a:solidFill>
            <a:srgbClr val="0B1F3D"/>
          </a:solidFill>
          <a:ln/>
        </p:spPr>
      </p:sp>
      <p:sp>
        <p:nvSpPr>
          <p:cNvPr id="19" name="Shape 16"/>
          <p:cNvSpPr/>
          <p:nvPr/>
        </p:nvSpPr>
        <p:spPr>
          <a:xfrm>
            <a:off x="3538728" y="1639015"/>
            <a:ext cx="512064" cy="512064"/>
          </a:xfrm>
          <a:prstGeom prst="ellipse">
            <a:avLst/>
          </a:prstGeom>
          <a:solidFill>
            <a:srgbClr val="2F6FED"/>
          </a:solidFill>
          <a:ln/>
        </p:spPr>
      </p:sp>
      <p:pic>
        <p:nvPicPr>
          <p:cNvPr id="20" name="Image 1" descr="/home/claude/electromart/icons/gear.png"/>
          <p:cNvPicPr>
            <a:picLocks noChangeAspect="1"/>
          </p:cNvPicPr>
          <p:nvPr/>
        </p:nvPicPr>
        <p:blipFill>
          <a:blip r:embed="rId4"/>
          <a:stretch>
            <a:fillRect/>
          </a:stretch>
        </p:blipFill>
        <p:spPr>
          <a:xfrm>
            <a:off x="3671865" y="1772152"/>
            <a:ext cx="245791" cy="245791"/>
          </a:xfrm>
          <a:prstGeom prst="rect">
            <a:avLst/>
          </a:prstGeom>
        </p:spPr>
      </p:pic>
      <p:sp>
        <p:nvSpPr>
          <p:cNvPr id="21" name="Text 17"/>
          <p:cNvSpPr/>
          <p:nvPr/>
        </p:nvSpPr>
        <p:spPr>
          <a:xfrm>
            <a:off x="2743200" y="1435608"/>
            <a:ext cx="2103120" cy="182880"/>
          </a:xfrm>
          <a:prstGeom prst="rect">
            <a:avLst/>
          </a:prstGeom>
          <a:noFill/>
          <a:ln/>
        </p:spPr>
        <p:txBody>
          <a:bodyPr wrap="square" rtlCol="0" anchor="ctr"/>
          <a:lstStyle/>
          <a:p>
            <a:pPr marL="0" indent="0" algn="ctr">
              <a:buNone/>
            </a:pPr>
            <a:r>
              <a:rPr lang="en-US" sz="750" b="1" dirty="0">
                <a:solidFill>
                  <a:srgbClr val="9DB6F2"/>
                </a:solidFill>
                <a:latin typeface="Calibri" pitchFamily="34" charset="0"/>
                <a:ea typeface="Calibri" pitchFamily="34" charset="-122"/>
                <a:cs typeface="Calibri" pitchFamily="34" charset="-120"/>
              </a:rPr>
              <a:t>PHASE 2</a:t>
            </a:r>
            <a:endParaRPr lang="en-US" sz="750" dirty="0"/>
          </a:p>
        </p:txBody>
      </p:sp>
      <p:sp>
        <p:nvSpPr>
          <p:cNvPr id="22" name="Text 18"/>
          <p:cNvSpPr/>
          <p:nvPr/>
        </p:nvSpPr>
        <p:spPr>
          <a:xfrm>
            <a:off x="2788920" y="2130552"/>
            <a:ext cx="2011680" cy="2743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DEFINE</a:t>
            </a:r>
            <a:endParaRPr lang="en-US" sz="1150" dirty="0"/>
          </a:p>
        </p:txBody>
      </p:sp>
      <p:sp>
        <p:nvSpPr>
          <p:cNvPr id="23" name="Text 19"/>
          <p:cNvSpPr/>
          <p:nvPr/>
        </p:nvSpPr>
        <p:spPr>
          <a:xfrm>
            <a:off x="2743200" y="2514600"/>
            <a:ext cx="2103120" cy="228600"/>
          </a:xfrm>
          <a:prstGeom prst="rect">
            <a:avLst/>
          </a:prstGeom>
          <a:noFill/>
          <a:ln/>
        </p:spPr>
        <p:txBody>
          <a:bodyPr wrap="square" rtlCol="0" anchor="ctr"/>
          <a:lstStyle/>
          <a:p>
            <a:pPr algn="ctr"/>
            <a:r>
              <a:rPr lang="en-US" sz="1400" b="1" dirty="0">
                <a:solidFill>
                  <a:srgbClr val="1D4FBF"/>
                </a:solidFill>
                <a:latin typeface="Calibri" pitchFamily="34" charset="0"/>
                <a:ea typeface="Calibri" pitchFamily="34" charset="-122"/>
                <a:cs typeface="Calibri" pitchFamily="34" charset="-120"/>
              </a:rPr>
              <a:t>Week 2</a:t>
            </a:r>
            <a:endParaRPr lang="en-US" sz="1400" dirty="0"/>
          </a:p>
        </p:txBody>
      </p:sp>
      <p:sp>
        <p:nvSpPr>
          <p:cNvPr id="24" name="Text 20"/>
          <p:cNvSpPr/>
          <p:nvPr/>
        </p:nvSpPr>
        <p:spPr>
          <a:xfrm>
            <a:off x="2871216" y="3040847"/>
            <a:ext cx="1847088" cy="2103120"/>
          </a:xfrm>
          <a:prstGeom prst="rect">
            <a:avLst/>
          </a:prstGeom>
          <a:noFill/>
          <a:ln/>
        </p:spPr>
        <p:txBody>
          <a:bodyPr wrap="square" rtlCol="0" anchor="t"/>
          <a:lstStyle/>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MVP features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User journeys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Component data model</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Supplier verification model</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Search / filter logic</a:t>
            </a:r>
            <a:endParaRPr lang="en-US" sz="1200" dirty="0"/>
          </a:p>
        </p:txBody>
      </p:sp>
      <p:sp>
        <p:nvSpPr>
          <p:cNvPr id="25" name="Shape 21"/>
          <p:cNvSpPr/>
          <p:nvPr/>
        </p:nvSpPr>
        <p:spPr>
          <a:xfrm>
            <a:off x="2834640" y="5230368"/>
            <a:ext cx="1920240" cy="512064"/>
          </a:xfrm>
          <a:prstGeom prst="roundRect">
            <a:avLst>
              <a:gd name="adj" fmla="val 10714"/>
            </a:avLst>
          </a:prstGeom>
          <a:solidFill>
            <a:srgbClr val="E4F5EE"/>
          </a:solidFill>
          <a:ln w="9525">
            <a:solidFill>
              <a:srgbClr val="1FA97A"/>
            </a:solidFill>
            <a:prstDash val="solid"/>
          </a:ln>
        </p:spPr>
      </p:sp>
      <p:sp>
        <p:nvSpPr>
          <p:cNvPr id="26" name="Text 22"/>
          <p:cNvSpPr/>
          <p:nvPr/>
        </p:nvSpPr>
        <p:spPr>
          <a:xfrm>
            <a:off x="2871216" y="5230368"/>
            <a:ext cx="1847088" cy="512064"/>
          </a:xfrm>
          <a:prstGeom prst="rect">
            <a:avLst/>
          </a:prstGeom>
          <a:noFill/>
          <a:ln/>
        </p:spPr>
        <p:txBody>
          <a:bodyPr wrap="square" rtlCol="0" anchor="ctr"/>
          <a:lstStyle/>
          <a:p>
            <a:pPr marL="0" indent="0" algn="ctr">
              <a:buNone/>
            </a:pPr>
            <a:r>
              <a:rPr lang="en-US" sz="1100" b="1" dirty="0">
                <a:solidFill>
                  <a:srgbClr val="13684A"/>
                </a:solidFill>
                <a:latin typeface="Calibri" pitchFamily="34" charset="0"/>
                <a:ea typeface="Calibri" pitchFamily="34" charset="-122"/>
                <a:cs typeface="Calibri" pitchFamily="34" charset="-120"/>
              </a:rPr>
              <a:t>MVP specification</a:t>
            </a:r>
            <a:endParaRPr lang="en-US" sz="1100" dirty="0"/>
          </a:p>
        </p:txBody>
      </p:sp>
      <p:sp>
        <p:nvSpPr>
          <p:cNvPr id="27" name="Text 23"/>
          <p:cNvSpPr/>
          <p:nvPr/>
        </p:nvSpPr>
        <p:spPr>
          <a:xfrm>
            <a:off x="4828032" y="3451860"/>
            <a:ext cx="201168" cy="365760"/>
          </a:xfrm>
          <a:prstGeom prst="rect">
            <a:avLst/>
          </a:prstGeom>
          <a:noFill/>
          <a:ln/>
        </p:spPr>
        <p:txBody>
          <a:bodyPr wrap="square" rtlCol="0" anchor="ctr"/>
          <a:lstStyle/>
          <a:p>
            <a:pPr marL="0" indent="0" algn="ctr">
              <a:buNone/>
            </a:pPr>
            <a:r>
              <a:rPr lang="en-US" sz="1800" b="1" dirty="0">
                <a:solidFill>
                  <a:srgbClr val="2F6FED"/>
                </a:solidFill>
                <a:latin typeface="Calibri" pitchFamily="34" charset="0"/>
                <a:ea typeface="Calibri" pitchFamily="34" charset="-122"/>
                <a:cs typeface="Calibri" pitchFamily="34" charset="-120"/>
              </a:rPr>
              <a:t>›</a:t>
            </a:r>
            <a:endParaRPr lang="en-US" sz="1800" dirty="0"/>
          </a:p>
        </p:txBody>
      </p:sp>
      <p:sp>
        <p:nvSpPr>
          <p:cNvPr id="28" name="Shape 24"/>
          <p:cNvSpPr/>
          <p:nvPr/>
        </p:nvSpPr>
        <p:spPr>
          <a:xfrm>
            <a:off x="5029200" y="1417320"/>
            <a:ext cx="2103120" cy="4434840"/>
          </a:xfrm>
          <a:prstGeom prst="roundRect">
            <a:avLst>
              <a:gd name="adj" fmla="val 3478"/>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9" name="Shape 25"/>
          <p:cNvSpPr/>
          <p:nvPr/>
        </p:nvSpPr>
        <p:spPr>
          <a:xfrm>
            <a:off x="5029200" y="1417320"/>
            <a:ext cx="2103120" cy="1051560"/>
          </a:xfrm>
          <a:prstGeom prst="rect">
            <a:avLst/>
          </a:prstGeom>
          <a:solidFill>
            <a:srgbClr val="0B1F3D"/>
          </a:solidFill>
          <a:ln/>
        </p:spPr>
      </p:sp>
      <p:sp>
        <p:nvSpPr>
          <p:cNvPr id="30" name="Shape 26"/>
          <p:cNvSpPr/>
          <p:nvPr/>
        </p:nvSpPr>
        <p:spPr>
          <a:xfrm>
            <a:off x="5824728" y="1639015"/>
            <a:ext cx="512064" cy="512064"/>
          </a:xfrm>
          <a:prstGeom prst="ellipse">
            <a:avLst/>
          </a:prstGeom>
          <a:solidFill>
            <a:srgbClr val="2F6FED"/>
          </a:solidFill>
          <a:ln/>
        </p:spPr>
      </p:sp>
      <p:pic>
        <p:nvPicPr>
          <p:cNvPr id="31" name="Image 2" descr="/home/claude/electromart/icons/layers.png"/>
          <p:cNvPicPr>
            <a:picLocks noChangeAspect="1"/>
          </p:cNvPicPr>
          <p:nvPr/>
        </p:nvPicPr>
        <p:blipFill>
          <a:blip r:embed="rId5"/>
          <a:stretch>
            <a:fillRect/>
          </a:stretch>
        </p:blipFill>
        <p:spPr>
          <a:xfrm>
            <a:off x="5957865" y="1772152"/>
            <a:ext cx="245791" cy="245791"/>
          </a:xfrm>
          <a:prstGeom prst="rect">
            <a:avLst/>
          </a:prstGeom>
        </p:spPr>
      </p:pic>
      <p:sp>
        <p:nvSpPr>
          <p:cNvPr id="32" name="Text 27"/>
          <p:cNvSpPr/>
          <p:nvPr/>
        </p:nvSpPr>
        <p:spPr>
          <a:xfrm>
            <a:off x="5029200" y="1435608"/>
            <a:ext cx="2103120" cy="182880"/>
          </a:xfrm>
          <a:prstGeom prst="rect">
            <a:avLst/>
          </a:prstGeom>
          <a:noFill/>
          <a:ln/>
        </p:spPr>
        <p:txBody>
          <a:bodyPr wrap="square" rtlCol="0" anchor="ctr"/>
          <a:lstStyle/>
          <a:p>
            <a:pPr marL="0" indent="0" algn="ctr">
              <a:buNone/>
            </a:pPr>
            <a:r>
              <a:rPr lang="en-US" sz="750" b="1" dirty="0">
                <a:solidFill>
                  <a:srgbClr val="9DB6F2"/>
                </a:solidFill>
                <a:latin typeface="Calibri" pitchFamily="34" charset="0"/>
                <a:ea typeface="Calibri" pitchFamily="34" charset="-122"/>
                <a:cs typeface="Calibri" pitchFamily="34" charset="-120"/>
              </a:rPr>
              <a:t>PHASE 3</a:t>
            </a:r>
            <a:endParaRPr lang="en-US" sz="750" dirty="0"/>
          </a:p>
        </p:txBody>
      </p:sp>
      <p:sp>
        <p:nvSpPr>
          <p:cNvPr id="33" name="Text 28"/>
          <p:cNvSpPr/>
          <p:nvPr/>
        </p:nvSpPr>
        <p:spPr>
          <a:xfrm>
            <a:off x="5074920" y="2130552"/>
            <a:ext cx="2011680" cy="2743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p>
        </p:txBody>
      </p:sp>
      <p:sp>
        <p:nvSpPr>
          <p:cNvPr id="34" name="Text 29"/>
          <p:cNvSpPr/>
          <p:nvPr/>
        </p:nvSpPr>
        <p:spPr>
          <a:xfrm>
            <a:off x="5029200" y="2514600"/>
            <a:ext cx="2103120" cy="228600"/>
          </a:xfrm>
          <a:prstGeom prst="rect">
            <a:avLst/>
          </a:prstGeom>
          <a:noFill/>
          <a:ln/>
        </p:spPr>
        <p:txBody>
          <a:bodyPr wrap="square" rtlCol="0" anchor="ctr"/>
          <a:lstStyle/>
          <a:p>
            <a:pPr algn="ctr"/>
            <a:r>
              <a:rPr lang="en-US" sz="1400" b="1" dirty="0">
                <a:solidFill>
                  <a:srgbClr val="1D4FBF"/>
                </a:solidFill>
                <a:latin typeface="Calibri" pitchFamily="34" charset="0"/>
                <a:ea typeface="Calibri" pitchFamily="34" charset="-122"/>
                <a:cs typeface="Calibri" pitchFamily="34" charset="-120"/>
              </a:rPr>
              <a:t>Week 3</a:t>
            </a:r>
            <a:endParaRPr lang="en-US" sz="1400" dirty="0"/>
          </a:p>
        </p:txBody>
      </p:sp>
      <p:sp>
        <p:nvSpPr>
          <p:cNvPr id="35" name="Text 30"/>
          <p:cNvSpPr/>
          <p:nvPr/>
        </p:nvSpPr>
        <p:spPr>
          <a:xfrm>
            <a:off x="5157216" y="3040847"/>
            <a:ext cx="1847088" cy="2103120"/>
          </a:xfrm>
          <a:prstGeom prst="rect">
            <a:avLst/>
          </a:prstGeom>
          <a:noFill/>
          <a:ln/>
        </p:spPr>
        <p:txBody>
          <a:bodyPr wrap="square" rtlCol="0" anchor="t"/>
          <a:lstStyle/>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UX / UI</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Customer interface</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Supplier dashboard</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Product registration</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Search, community, RFQ</a:t>
            </a:r>
            <a:endParaRPr lang="en-US" sz="1200" dirty="0"/>
          </a:p>
        </p:txBody>
      </p:sp>
      <p:sp>
        <p:nvSpPr>
          <p:cNvPr id="36" name="Shape 31"/>
          <p:cNvSpPr/>
          <p:nvPr/>
        </p:nvSpPr>
        <p:spPr>
          <a:xfrm>
            <a:off x="5120640" y="5230368"/>
            <a:ext cx="1920240" cy="512064"/>
          </a:xfrm>
          <a:prstGeom prst="roundRect">
            <a:avLst>
              <a:gd name="adj" fmla="val 10714"/>
            </a:avLst>
          </a:prstGeom>
          <a:solidFill>
            <a:srgbClr val="E4F5EE"/>
          </a:solidFill>
          <a:ln w="9525">
            <a:solidFill>
              <a:srgbClr val="1FA97A"/>
            </a:solidFill>
            <a:prstDash val="solid"/>
          </a:ln>
        </p:spPr>
      </p:sp>
      <p:sp>
        <p:nvSpPr>
          <p:cNvPr id="37" name="Text 32"/>
          <p:cNvSpPr/>
          <p:nvPr/>
        </p:nvSpPr>
        <p:spPr>
          <a:xfrm>
            <a:off x="5157216" y="5230368"/>
            <a:ext cx="1847088" cy="512064"/>
          </a:xfrm>
          <a:prstGeom prst="rect">
            <a:avLst/>
          </a:prstGeom>
          <a:noFill/>
          <a:ln/>
        </p:spPr>
        <p:txBody>
          <a:bodyPr wrap="square" rtlCol="0" anchor="ctr"/>
          <a:lstStyle/>
          <a:p>
            <a:pPr marL="0" indent="0" algn="ctr">
              <a:buNone/>
            </a:pPr>
            <a:r>
              <a:rPr lang="en-US" sz="1100" b="1" dirty="0">
                <a:solidFill>
                  <a:srgbClr val="13684A"/>
                </a:solidFill>
                <a:latin typeface="Calibri" pitchFamily="34" charset="0"/>
                <a:ea typeface="Calibri" pitchFamily="34" charset="-122"/>
                <a:cs typeface="Calibri" pitchFamily="34" charset="-120"/>
              </a:rPr>
              <a:t>Clickable prototype</a:t>
            </a:r>
            <a:endParaRPr lang="en-US" sz="1100" dirty="0"/>
          </a:p>
        </p:txBody>
      </p:sp>
      <p:sp>
        <p:nvSpPr>
          <p:cNvPr id="38" name="Text 33"/>
          <p:cNvSpPr/>
          <p:nvPr/>
        </p:nvSpPr>
        <p:spPr>
          <a:xfrm>
            <a:off x="7114032" y="3451860"/>
            <a:ext cx="201168" cy="365760"/>
          </a:xfrm>
          <a:prstGeom prst="rect">
            <a:avLst/>
          </a:prstGeom>
          <a:noFill/>
          <a:ln/>
        </p:spPr>
        <p:txBody>
          <a:bodyPr wrap="square" rtlCol="0" anchor="ctr"/>
          <a:lstStyle/>
          <a:p>
            <a:pPr marL="0" indent="0" algn="ctr">
              <a:buNone/>
            </a:pPr>
            <a:r>
              <a:rPr lang="en-US" sz="1800" b="1" dirty="0">
                <a:solidFill>
                  <a:srgbClr val="2F6FED"/>
                </a:solidFill>
                <a:latin typeface="Calibri" pitchFamily="34" charset="0"/>
                <a:ea typeface="Calibri" pitchFamily="34" charset="-122"/>
                <a:cs typeface="Calibri" pitchFamily="34" charset="-120"/>
              </a:rPr>
              <a:t>›</a:t>
            </a:r>
            <a:endParaRPr lang="en-US" sz="1800" dirty="0"/>
          </a:p>
        </p:txBody>
      </p:sp>
      <p:sp>
        <p:nvSpPr>
          <p:cNvPr id="39" name="Shape 34"/>
          <p:cNvSpPr/>
          <p:nvPr/>
        </p:nvSpPr>
        <p:spPr>
          <a:xfrm>
            <a:off x="7315200" y="1417320"/>
            <a:ext cx="2103120" cy="4434840"/>
          </a:xfrm>
          <a:prstGeom prst="roundRect">
            <a:avLst>
              <a:gd name="adj" fmla="val 3478"/>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40" name="Shape 35"/>
          <p:cNvSpPr/>
          <p:nvPr/>
        </p:nvSpPr>
        <p:spPr>
          <a:xfrm>
            <a:off x="7315200" y="1417320"/>
            <a:ext cx="2103120" cy="1051560"/>
          </a:xfrm>
          <a:prstGeom prst="rect">
            <a:avLst/>
          </a:prstGeom>
          <a:solidFill>
            <a:srgbClr val="0B1F3D"/>
          </a:solidFill>
          <a:ln/>
        </p:spPr>
      </p:sp>
      <p:sp>
        <p:nvSpPr>
          <p:cNvPr id="41" name="Shape 36"/>
          <p:cNvSpPr/>
          <p:nvPr/>
        </p:nvSpPr>
        <p:spPr>
          <a:xfrm>
            <a:off x="8110728" y="1639015"/>
            <a:ext cx="512064" cy="512064"/>
          </a:xfrm>
          <a:prstGeom prst="ellipse">
            <a:avLst/>
          </a:prstGeom>
          <a:solidFill>
            <a:srgbClr val="2F6FED"/>
          </a:solidFill>
          <a:ln/>
        </p:spPr>
      </p:sp>
      <p:pic>
        <p:nvPicPr>
          <p:cNvPr id="42" name="Image 3" descr="/home/claude/electromart/icons/wrench.png"/>
          <p:cNvPicPr>
            <a:picLocks noChangeAspect="1"/>
          </p:cNvPicPr>
          <p:nvPr/>
        </p:nvPicPr>
        <p:blipFill>
          <a:blip r:embed="rId6"/>
          <a:stretch>
            <a:fillRect/>
          </a:stretch>
        </p:blipFill>
        <p:spPr>
          <a:xfrm>
            <a:off x="8243865" y="1772152"/>
            <a:ext cx="245791" cy="245791"/>
          </a:xfrm>
          <a:prstGeom prst="rect">
            <a:avLst/>
          </a:prstGeom>
        </p:spPr>
      </p:pic>
      <p:sp>
        <p:nvSpPr>
          <p:cNvPr id="43" name="Text 37"/>
          <p:cNvSpPr/>
          <p:nvPr/>
        </p:nvSpPr>
        <p:spPr>
          <a:xfrm>
            <a:off x="7315200" y="1435608"/>
            <a:ext cx="2103120" cy="182880"/>
          </a:xfrm>
          <a:prstGeom prst="rect">
            <a:avLst/>
          </a:prstGeom>
          <a:noFill/>
          <a:ln/>
        </p:spPr>
        <p:txBody>
          <a:bodyPr wrap="square" rtlCol="0" anchor="ctr"/>
          <a:lstStyle/>
          <a:p>
            <a:pPr marL="0" indent="0" algn="ctr">
              <a:buNone/>
            </a:pPr>
            <a:r>
              <a:rPr lang="en-US" sz="750" b="1" dirty="0">
                <a:solidFill>
                  <a:srgbClr val="9DB6F2"/>
                </a:solidFill>
                <a:latin typeface="Calibri" pitchFamily="34" charset="0"/>
                <a:ea typeface="Calibri" pitchFamily="34" charset="-122"/>
                <a:cs typeface="Calibri" pitchFamily="34" charset="-120"/>
              </a:rPr>
              <a:t>PHASE 4</a:t>
            </a:r>
            <a:endParaRPr lang="en-US" sz="750" dirty="0"/>
          </a:p>
        </p:txBody>
      </p:sp>
      <p:sp>
        <p:nvSpPr>
          <p:cNvPr id="44" name="Text 38"/>
          <p:cNvSpPr/>
          <p:nvPr/>
        </p:nvSpPr>
        <p:spPr>
          <a:xfrm>
            <a:off x="7360920" y="2130552"/>
            <a:ext cx="2011680" cy="2743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45" name="Text 39"/>
          <p:cNvSpPr/>
          <p:nvPr/>
        </p:nvSpPr>
        <p:spPr>
          <a:xfrm>
            <a:off x="7315200" y="2514600"/>
            <a:ext cx="2103120" cy="228600"/>
          </a:xfrm>
          <a:prstGeom prst="rect">
            <a:avLst/>
          </a:prstGeom>
          <a:noFill/>
          <a:ln/>
        </p:spPr>
        <p:txBody>
          <a:bodyPr wrap="square" rtlCol="0" anchor="ctr"/>
          <a:lstStyle/>
          <a:p>
            <a:pPr algn="ctr"/>
            <a:r>
              <a:rPr lang="en-US" sz="1400" b="1" dirty="0">
                <a:solidFill>
                  <a:srgbClr val="1D4FBF"/>
                </a:solidFill>
                <a:latin typeface="Calibri" pitchFamily="34" charset="0"/>
                <a:ea typeface="Calibri" pitchFamily="34" charset="-122"/>
                <a:cs typeface="Calibri" pitchFamily="34" charset="-120"/>
              </a:rPr>
              <a:t>Week 4</a:t>
            </a:r>
            <a:endParaRPr lang="en-US" sz="1400" dirty="0"/>
          </a:p>
        </p:txBody>
      </p:sp>
      <p:sp>
        <p:nvSpPr>
          <p:cNvPr id="46" name="Text 40"/>
          <p:cNvSpPr/>
          <p:nvPr/>
        </p:nvSpPr>
        <p:spPr>
          <a:xfrm>
            <a:off x="7443216" y="3040847"/>
            <a:ext cx="1847088" cy="2103120"/>
          </a:xfrm>
          <a:prstGeom prst="rect">
            <a:avLst/>
          </a:prstGeom>
          <a:noFill/>
          <a:ln/>
        </p:spPr>
        <p:txBody>
          <a:bodyPr wrap="square" rtlCol="0" anchor="t"/>
          <a:lstStyle/>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Authentication</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Catalog &amp; category specs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Search &amp; reviews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Community &amp; RFQ</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Chat &amp; admin verification</a:t>
            </a:r>
            <a:endParaRPr lang="en-US" sz="1200" dirty="0"/>
          </a:p>
        </p:txBody>
      </p:sp>
      <p:sp>
        <p:nvSpPr>
          <p:cNvPr id="47" name="Shape 41"/>
          <p:cNvSpPr/>
          <p:nvPr/>
        </p:nvSpPr>
        <p:spPr>
          <a:xfrm>
            <a:off x="7406640" y="5230368"/>
            <a:ext cx="1920240" cy="512064"/>
          </a:xfrm>
          <a:prstGeom prst="roundRect">
            <a:avLst>
              <a:gd name="adj" fmla="val 10714"/>
            </a:avLst>
          </a:prstGeom>
          <a:solidFill>
            <a:srgbClr val="E4F5EE"/>
          </a:solidFill>
          <a:ln w="9525">
            <a:solidFill>
              <a:srgbClr val="1FA97A"/>
            </a:solidFill>
            <a:prstDash val="solid"/>
          </a:ln>
        </p:spPr>
      </p:sp>
      <p:sp>
        <p:nvSpPr>
          <p:cNvPr id="48" name="Text 42"/>
          <p:cNvSpPr/>
          <p:nvPr/>
        </p:nvSpPr>
        <p:spPr>
          <a:xfrm>
            <a:off x="7443216" y="5230368"/>
            <a:ext cx="1847088" cy="512064"/>
          </a:xfrm>
          <a:prstGeom prst="rect">
            <a:avLst/>
          </a:prstGeom>
          <a:noFill/>
          <a:ln/>
        </p:spPr>
        <p:txBody>
          <a:bodyPr wrap="square" rtlCol="0" anchor="ctr"/>
          <a:lstStyle/>
          <a:p>
            <a:pPr marL="0" indent="0" algn="ctr">
              <a:buNone/>
            </a:pPr>
            <a:r>
              <a:rPr lang="en-US" sz="1100" b="1" dirty="0">
                <a:solidFill>
                  <a:srgbClr val="13684A"/>
                </a:solidFill>
                <a:latin typeface="Calibri" pitchFamily="34" charset="0"/>
                <a:ea typeface="Calibri" pitchFamily="34" charset="-122"/>
                <a:cs typeface="Calibri" pitchFamily="34" charset="-120"/>
              </a:rPr>
              <a:t>Functional MVP</a:t>
            </a:r>
            <a:endParaRPr lang="en-US" sz="1100" dirty="0"/>
          </a:p>
        </p:txBody>
      </p:sp>
      <p:sp>
        <p:nvSpPr>
          <p:cNvPr id="49" name="Text 43"/>
          <p:cNvSpPr/>
          <p:nvPr/>
        </p:nvSpPr>
        <p:spPr>
          <a:xfrm>
            <a:off x="9400032" y="3451860"/>
            <a:ext cx="201168" cy="365760"/>
          </a:xfrm>
          <a:prstGeom prst="rect">
            <a:avLst/>
          </a:prstGeom>
          <a:noFill/>
          <a:ln/>
        </p:spPr>
        <p:txBody>
          <a:bodyPr wrap="square" rtlCol="0" anchor="ctr"/>
          <a:lstStyle/>
          <a:p>
            <a:pPr marL="0" indent="0" algn="ctr">
              <a:buNone/>
            </a:pPr>
            <a:r>
              <a:rPr lang="en-US" sz="1800" b="1" dirty="0">
                <a:solidFill>
                  <a:srgbClr val="2F6FED"/>
                </a:solidFill>
                <a:latin typeface="Calibri" pitchFamily="34" charset="0"/>
                <a:ea typeface="Calibri" pitchFamily="34" charset="-122"/>
                <a:cs typeface="Calibri" pitchFamily="34" charset="-120"/>
              </a:rPr>
              <a:t>›</a:t>
            </a:r>
            <a:endParaRPr lang="en-US" sz="1800" dirty="0"/>
          </a:p>
        </p:txBody>
      </p:sp>
      <p:sp>
        <p:nvSpPr>
          <p:cNvPr id="50" name="Shape 44"/>
          <p:cNvSpPr/>
          <p:nvPr/>
        </p:nvSpPr>
        <p:spPr>
          <a:xfrm>
            <a:off x="9601200" y="1417320"/>
            <a:ext cx="2103120" cy="4434840"/>
          </a:xfrm>
          <a:prstGeom prst="roundRect">
            <a:avLst>
              <a:gd name="adj" fmla="val 3478"/>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51" name="Shape 45"/>
          <p:cNvSpPr/>
          <p:nvPr/>
        </p:nvSpPr>
        <p:spPr>
          <a:xfrm>
            <a:off x="9601200" y="1417320"/>
            <a:ext cx="2103120" cy="1051560"/>
          </a:xfrm>
          <a:prstGeom prst="rect">
            <a:avLst/>
          </a:prstGeom>
          <a:solidFill>
            <a:srgbClr val="0B1F3D"/>
          </a:solidFill>
          <a:ln/>
        </p:spPr>
      </p:sp>
      <p:sp>
        <p:nvSpPr>
          <p:cNvPr id="52" name="Shape 46"/>
          <p:cNvSpPr/>
          <p:nvPr/>
        </p:nvSpPr>
        <p:spPr>
          <a:xfrm>
            <a:off x="10396728" y="1639015"/>
            <a:ext cx="512064" cy="512064"/>
          </a:xfrm>
          <a:prstGeom prst="ellipse">
            <a:avLst/>
          </a:prstGeom>
          <a:solidFill>
            <a:srgbClr val="2F6FED"/>
          </a:solidFill>
          <a:ln/>
        </p:spPr>
      </p:sp>
      <p:pic>
        <p:nvPicPr>
          <p:cNvPr id="53" name="Image 4" descr="/home/claude/electromart/icons/rocket.png"/>
          <p:cNvPicPr>
            <a:picLocks noChangeAspect="1"/>
          </p:cNvPicPr>
          <p:nvPr/>
        </p:nvPicPr>
        <p:blipFill>
          <a:blip r:embed="rId7"/>
          <a:stretch>
            <a:fillRect/>
          </a:stretch>
        </p:blipFill>
        <p:spPr>
          <a:xfrm>
            <a:off x="10529865" y="1772152"/>
            <a:ext cx="245791" cy="245791"/>
          </a:xfrm>
          <a:prstGeom prst="rect">
            <a:avLst/>
          </a:prstGeom>
        </p:spPr>
      </p:pic>
      <p:sp>
        <p:nvSpPr>
          <p:cNvPr id="54" name="Text 47"/>
          <p:cNvSpPr/>
          <p:nvPr/>
        </p:nvSpPr>
        <p:spPr>
          <a:xfrm>
            <a:off x="9601200" y="1435608"/>
            <a:ext cx="2103120" cy="182880"/>
          </a:xfrm>
          <a:prstGeom prst="rect">
            <a:avLst/>
          </a:prstGeom>
          <a:noFill/>
          <a:ln/>
        </p:spPr>
        <p:txBody>
          <a:bodyPr wrap="square" rtlCol="0" anchor="ctr"/>
          <a:lstStyle/>
          <a:p>
            <a:pPr marL="0" indent="0" algn="ctr">
              <a:buNone/>
            </a:pPr>
            <a:r>
              <a:rPr lang="en-US" sz="750" b="1" dirty="0">
                <a:solidFill>
                  <a:srgbClr val="9DB6F2"/>
                </a:solidFill>
                <a:latin typeface="Calibri" pitchFamily="34" charset="0"/>
                <a:ea typeface="Calibri" pitchFamily="34" charset="-122"/>
                <a:cs typeface="Calibri" pitchFamily="34" charset="-120"/>
              </a:rPr>
              <a:t>PHASE 5</a:t>
            </a:r>
            <a:endParaRPr lang="en-US" sz="750" dirty="0"/>
          </a:p>
        </p:txBody>
      </p:sp>
      <p:sp>
        <p:nvSpPr>
          <p:cNvPr id="55" name="Text 48"/>
          <p:cNvSpPr/>
          <p:nvPr/>
        </p:nvSpPr>
        <p:spPr>
          <a:xfrm>
            <a:off x="9646920" y="2130552"/>
            <a:ext cx="2011680" cy="2743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PILOT</a:t>
            </a:r>
            <a:endParaRPr lang="en-US" sz="1150" dirty="0"/>
          </a:p>
        </p:txBody>
      </p:sp>
      <p:sp>
        <p:nvSpPr>
          <p:cNvPr id="56" name="Text 49"/>
          <p:cNvSpPr/>
          <p:nvPr/>
        </p:nvSpPr>
        <p:spPr>
          <a:xfrm>
            <a:off x="9601200" y="2514600"/>
            <a:ext cx="2103120" cy="228600"/>
          </a:xfrm>
          <a:prstGeom prst="rect">
            <a:avLst/>
          </a:prstGeom>
          <a:noFill/>
          <a:ln/>
        </p:spPr>
        <p:txBody>
          <a:bodyPr wrap="square" rtlCol="0" anchor="ctr"/>
          <a:lstStyle/>
          <a:p>
            <a:pPr algn="ctr"/>
            <a:r>
              <a:rPr lang="en-US" sz="1400" b="1" dirty="0">
                <a:solidFill>
                  <a:srgbClr val="1D4FBF"/>
                </a:solidFill>
                <a:latin typeface="Calibri" pitchFamily="34" charset="0"/>
                <a:ea typeface="Calibri" pitchFamily="34" charset="-122"/>
                <a:cs typeface="Calibri" pitchFamily="34" charset="-120"/>
              </a:rPr>
              <a:t>Week 5 – Week 7</a:t>
            </a:r>
            <a:endParaRPr lang="en-US" sz="1400" dirty="0"/>
          </a:p>
        </p:txBody>
      </p:sp>
      <p:sp>
        <p:nvSpPr>
          <p:cNvPr id="57" name="Text 50"/>
          <p:cNvSpPr/>
          <p:nvPr/>
        </p:nvSpPr>
        <p:spPr>
          <a:xfrm>
            <a:off x="9729216" y="3040847"/>
            <a:ext cx="1847088" cy="2103120"/>
          </a:xfrm>
          <a:prstGeom prst="rect">
            <a:avLst/>
          </a:prstGeom>
          <a:noFill/>
          <a:ln/>
        </p:spPr>
        <p:txBody>
          <a:bodyPr wrap="square" rtlCol="0" anchor="t"/>
          <a:lstStyle/>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10–20 suppliers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100–500 products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50–100 customers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Resistors, capacitors, batteries</a:t>
            </a:r>
            <a:endParaRPr lang="en-US" sz="1200" dirty="0"/>
          </a:p>
          <a:p>
            <a:pPr marL="114300" indent="-114300">
              <a:lnSpc>
                <a:spcPct val="120000"/>
              </a:lnSpc>
              <a:buSzPct val="100000"/>
              <a:buChar char="▪"/>
            </a:pPr>
            <a:r>
              <a:rPr lang="en-US" sz="1200" dirty="0">
                <a:solidFill>
                  <a:srgbClr val="16213E"/>
                </a:solidFill>
                <a:latin typeface="Calibri" pitchFamily="34" charset="0"/>
                <a:ea typeface="Calibri" pitchFamily="34" charset="-122"/>
                <a:cs typeface="Calibri" pitchFamily="34" charset="-120"/>
              </a:rPr>
              <a:t>Connectors, sensors, ICs</a:t>
            </a:r>
            <a:endParaRPr lang="en-US" sz="1200" dirty="0"/>
          </a:p>
        </p:txBody>
      </p:sp>
      <p:sp>
        <p:nvSpPr>
          <p:cNvPr id="58" name="Shape 51"/>
          <p:cNvSpPr/>
          <p:nvPr/>
        </p:nvSpPr>
        <p:spPr>
          <a:xfrm>
            <a:off x="9692640" y="5230368"/>
            <a:ext cx="1920240" cy="512064"/>
          </a:xfrm>
          <a:prstGeom prst="roundRect">
            <a:avLst>
              <a:gd name="adj" fmla="val 10714"/>
            </a:avLst>
          </a:prstGeom>
          <a:solidFill>
            <a:srgbClr val="E4F5EE"/>
          </a:solidFill>
          <a:ln w="9525">
            <a:solidFill>
              <a:srgbClr val="1FA97A"/>
            </a:solidFill>
            <a:prstDash val="solid"/>
          </a:ln>
        </p:spPr>
      </p:sp>
      <p:sp>
        <p:nvSpPr>
          <p:cNvPr id="59" name="Text 52"/>
          <p:cNvSpPr/>
          <p:nvPr/>
        </p:nvSpPr>
        <p:spPr>
          <a:xfrm>
            <a:off x="9729216" y="5230368"/>
            <a:ext cx="1847088" cy="512064"/>
          </a:xfrm>
          <a:prstGeom prst="rect">
            <a:avLst/>
          </a:prstGeom>
          <a:noFill/>
          <a:ln/>
        </p:spPr>
        <p:txBody>
          <a:bodyPr wrap="square" rtlCol="0" anchor="ctr"/>
          <a:lstStyle/>
          <a:p>
            <a:pPr marL="0" indent="0" algn="ctr">
              <a:buNone/>
            </a:pPr>
            <a:r>
              <a:rPr lang="en-US" sz="1100" b="1" dirty="0">
                <a:solidFill>
                  <a:srgbClr val="13684A"/>
                </a:solidFill>
                <a:latin typeface="Calibri" pitchFamily="34" charset="0"/>
                <a:ea typeface="Calibri" pitchFamily="34" charset="-122"/>
                <a:cs typeface="Calibri" pitchFamily="34" charset="-120"/>
              </a:rPr>
              <a:t>Validated pilot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1D4FBF"/>
                </a:solidFill>
                <a:latin typeface="Calibri" pitchFamily="34" charset="0"/>
                <a:ea typeface="Calibri" pitchFamily="34" charset="-122"/>
                <a:cs typeface="Calibri" pitchFamily="34" charset="-120"/>
              </a:rPr>
              <a:t>SCOPE &amp; SUCCESS CRITERIA</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lgn="l">
              <a:buNone/>
            </a:pPr>
            <a:r>
              <a:rPr lang="en-US" sz="3000" b="1" dirty="0">
                <a:solidFill>
                  <a:srgbClr val="0B1F3D"/>
                </a:solidFill>
                <a:latin typeface="Calibri" pitchFamily="34" charset="0"/>
                <a:ea typeface="Calibri" pitchFamily="34" charset="-122"/>
                <a:cs typeface="Calibri" pitchFamily="34" charset="-120"/>
              </a:rPr>
              <a:t>What Will the First Prototype Actually Prove?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5A6786"/>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5A6786"/>
                </a:solidFill>
                <a:latin typeface="Calibri" pitchFamily="34" charset="0"/>
                <a:ea typeface="Calibri" pitchFamily="34" charset="-122"/>
                <a:cs typeface="Calibri" pitchFamily="34" charset="-120"/>
              </a:rPr>
              <a:t>09 / 10</a:t>
            </a:r>
            <a:endParaRPr lang="en-US" sz="850" dirty="0"/>
          </a:p>
        </p:txBody>
      </p:sp>
      <p:sp>
        <p:nvSpPr>
          <p:cNvPr id="6" name="Text 4"/>
          <p:cNvSpPr/>
          <p:nvPr/>
        </p:nvSpPr>
        <p:spPr>
          <a:xfrm>
            <a:off x="457200" y="1353312"/>
            <a:ext cx="5486400" cy="256032"/>
          </a:xfrm>
          <a:prstGeom prst="rect">
            <a:avLst/>
          </a:prstGeom>
          <a:noFill/>
          <a:ln/>
        </p:spPr>
        <p:txBody>
          <a:bodyPr wrap="square" rtlCol="0" anchor="ctr"/>
          <a:lstStyle/>
          <a:p>
            <a:pPr marL="0" indent="0">
              <a:buNone/>
            </a:pPr>
            <a:r>
              <a:rPr lang="en-US" sz="1150" b="1" kern="0" spc="100" dirty="0">
                <a:solidFill>
                  <a:srgbClr val="0B1F3D"/>
                </a:solidFill>
                <a:latin typeface="Calibri" pitchFamily="34" charset="0"/>
                <a:ea typeface="Calibri" pitchFamily="34" charset="-122"/>
                <a:cs typeface="Calibri" pitchFamily="34" charset="-120"/>
              </a:rPr>
              <a:t>PROTOTYPE FEATURES</a:t>
            </a:r>
            <a:endParaRPr lang="en-US" sz="1150" dirty="0"/>
          </a:p>
        </p:txBody>
      </p:sp>
      <p:sp>
        <p:nvSpPr>
          <p:cNvPr id="7" name="Shape 5"/>
          <p:cNvSpPr/>
          <p:nvPr/>
        </p:nvSpPr>
        <p:spPr>
          <a:xfrm>
            <a:off x="457200" y="1664208"/>
            <a:ext cx="1737360" cy="2880360"/>
          </a:xfrm>
          <a:prstGeom prst="roundRect">
            <a:avLst>
              <a:gd name="adj" fmla="val 421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8" name="Shape 6"/>
          <p:cNvSpPr/>
          <p:nvPr/>
        </p:nvSpPr>
        <p:spPr>
          <a:xfrm>
            <a:off x="457200" y="1664208"/>
            <a:ext cx="1737360" cy="685800"/>
          </a:xfrm>
          <a:prstGeom prst="rect">
            <a:avLst/>
          </a:prstGeom>
          <a:solidFill>
            <a:srgbClr val="2F6FED"/>
          </a:solidFill>
          <a:ln/>
        </p:spPr>
      </p:sp>
      <p:sp>
        <p:nvSpPr>
          <p:cNvPr id="9" name="Shape 7"/>
          <p:cNvSpPr/>
          <p:nvPr/>
        </p:nvSpPr>
        <p:spPr>
          <a:xfrm>
            <a:off x="1106424" y="1755648"/>
            <a:ext cx="438912" cy="438912"/>
          </a:xfrm>
          <a:prstGeom prst="ellipse">
            <a:avLst/>
          </a:prstGeom>
          <a:solidFill>
            <a:schemeClr val="bg2"/>
          </a:solidFill>
          <a:ln/>
        </p:spPr>
      </p:sp>
      <p:pic>
        <p:nvPicPr>
          <p:cNvPr id="10" name="Image 0" descr="/home/claude/electromart/icons/users.png"/>
          <p:cNvPicPr>
            <a:picLocks noChangeAspect="1"/>
          </p:cNvPicPr>
          <p:nvPr/>
        </p:nvPicPr>
        <p:blipFill>
          <a:blip r:embed="rId3"/>
          <a:stretch>
            <a:fillRect/>
          </a:stretch>
        </p:blipFill>
        <p:spPr>
          <a:xfrm>
            <a:off x="1220541" y="1869765"/>
            <a:ext cx="210678" cy="210678"/>
          </a:xfrm>
          <a:prstGeom prst="rect">
            <a:avLst/>
          </a:prstGeom>
        </p:spPr>
      </p:pic>
      <p:sp>
        <p:nvSpPr>
          <p:cNvPr id="11" name="Text 8"/>
          <p:cNvSpPr/>
          <p:nvPr/>
        </p:nvSpPr>
        <p:spPr>
          <a:xfrm>
            <a:off x="457200" y="2377440"/>
            <a:ext cx="1737360" cy="237744"/>
          </a:xfrm>
          <a:prstGeom prst="rect">
            <a:avLst/>
          </a:prstGeom>
          <a:noFill/>
          <a:ln/>
        </p:spPr>
        <p:txBody>
          <a:bodyPr wrap="square" rtlCol="0" anchor="ctr"/>
          <a:lstStyle/>
          <a:p>
            <a:pPr marL="0" indent="0" algn="ctr">
              <a:buNone/>
            </a:pPr>
            <a:r>
              <a:rPr lang="en-US" sz="1100" b="1" dirty="0">
                <a:solidFill>
                  <a:srgbClr val="0B1F3D"/>
                </a:solidFill>
                <a:latin typeface="Calibri" pitchFamily="34" charset="0"/>
                <a:ea typeface="Calibri" pitchFamily="34" charset="-122"/>
                <a:cs typeface="Calibri" pitchFamily="34" charset="-120"/>
              </a:rPr>
              <a:t>CUSTOMER</a:t>
            </a:r>
            <a:endParaRPr lang="en-US" sz="1100" dirty="0"/>
          </a:p>
        </p:txBody>
      </p:sp>
      <p:sp>
        <p:nvSpPr>
          <p:cNvPr id="12" name="Text 9"/>
          <p:cNvSpPr/>
          <p:nvPr/>
        </p:nvSpPr>
        <p:spPr>
          <a:xfrm>
            <a:off x="482764" y="2642429"/>
            <a:ext cx="1755648" cy="1783080"/>
          </a:xfrm>
          <a:prstGeom prst="rect">
            <a:avLst/>
          </a:prstGeom>
          <a:noFill/>
          <a:ln/>
        </p:spPr>
        <p:txBody>
          <a:bodyPr wrap="square" rtlCol="0" anchor="t"/>
          <a:lstStyle/>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Registration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Search &amp; category filters</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Component specifications</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Supplier comparison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Certifications &amp; reviews</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Community &amp; chat</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RFQ</a:t>
            </a:r>
            <a:endParaRPr lang="en-US" sz="1100" dirty="0"/>
          </a:p>
        </p:txBody>
      </p:sp>
      <p:sp>
        <p:nvSpPr>
          <p:cNvPr id="13" name="Shape 10"/>
          <p:cNvSpPr/>
          <p:nvPr/>
        </p:nvSpPr>
        <p:spPr>
          <a:xfrm>
            <a:off x="2331720" y="1664208"/>
            <a:ext cx="1737360" cy="2880360"/>
          </a:xfrm>
          <a:prstGeom prst="roundRect">
            <a:avLst>
              <a:gd name="adj" fmla="val 421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14" name="Shape 11"/>
          <p:cNvSpPr/>
          <p:nvPr/>
        </p:nvSpPr>
        <p:spPr>
          <a:xfrm>
            <a:off x="2331720" y="1664208"/>
            <a:ext cx="1737360" cy="685800"/>
          </a:xfrm>
          <a:prstGeom prst="rect">
            <a:avLst/>
          </a:prstGeom>
          <a:solidFill>
            <a:srgbClr val="2F6FED"/>
          </a:solidFill>
          <a:ln/>
        </p:spPr>
      </p:sp>
      <p:sp>
        <p:nvSpPr>
          <p:cNvPr id="15" name="Shape 12"/>
          <p:cNvSpPr/>
          <p:nvPr/>
        </p:nvSpPr>
        <p:spPr>
          <a:xfrm>
            <a:off x="2980944" y="1755648"/>
            <a:ext cx="438912" cy="438912"/>
          </a:xfrm>
          <a:prstGeom prst="ellipse">
            <a:avLst/>
          </a:prstGeom>
          <a:solidFill>
            <a:schemeClr val="bg2"/>
          </a:solidFill>
          <a:ln/>
        </p:spPr>
      </p:sp>
      <p:pic>
        <p:nvPicPr>
          <p:cNvPr id="16" name="Image 1" descr="/home/claude/electromart/icons/building.png"/>
          <p:cNvPicPr>
            <a:picLocks noChangeAspect="1"/>
          </p:cNvPicPr>
          <p:nvPr/>
        </p:nvPicPr>
        <p:blipFill>
          <a:blip r:embed="rId4"/>
          <a:stretch>
            <a:fillRect/>
          </a:stretch>
        </p:blipFill>
        <p:spPr>
          <a:xfrm>
            <a:off x="3095061" y="1869765"/>
            <a:ext cx="210678" cy="210678"/>
          </a:xfrm>
          <a:prstGeom prst="rect">
            <a:avLst/>
          </a:prstGeom>
        </p:spPr>
      </p:pic>
      <p:sp>
        <p:nvSpPr>
          <p:cNvPr id="17" name="Text 13"/>
          <p:cNvSpPr/>
          <p:nvPr/>
        </p:nvSpPr>
        <p:spPr>
          <a:xfrm>
            <a:off x="2331720" y="2377440"/>
            <a:ext cx="1737360" cy="237744"/>
          </a:xfrm>
          <a:prstGeom prst="rect">
            <a:avLst/>
          </a:prstGeom>
          <a:noFill/>
          <a:ln/>
        </p:spPr>
        <p:txBody>
          <a:bodyPr wrap="square" rtlCol="0" anchor="ctr"/>
          <a:lstStyle/>
          <a:p>
            <a:pPr marL="0" indent="0" algn="ctr">
              <a:buNone/>
            </a:pPr>
            <a:r>
              <a:rPr lang="en-US" sz="1100" b="1" dirty="0">
                <a:solidFill>
                  <a:srgbClr val="0B1F3D"/>
                </a:solidFill>
                <a:latin typeface="Calibri" pitchFamily="34" charset="0"/>
                <a:ea typeface="Calibri" pitchFamily="34" charset="-122"/>
                <a:cs typeface="Calibri" pitchFamily="34" charset="-120"/>
              </a:rPr>
              <a:t>BUSINESS</a:t>
            </a:r>
            <a:endParaRPr lang="en-US" sz="1100" dirty="0"/>
          </a:p>
        </p:txBody>
      </p:sp>
      <p:sp>
        <p:nvSpPr>
          <p:cNvPr id="18" name="Text 14"/>
          <p:cNvSpPr/>
          <p:nvPr/>
        </p:nvSpPr>
        <p:spPr>
          <a:xfrm>
            <a:off x="2357284" y="2642429"/>
            <a:ext cx="1755648" cy="1783080"/>
          </a:xfrm>
          <a:prstGeom prst="rect">
            <a:avLst/>
          </a:prstGeom>
          <a:noFill/>
          <a:ln/>
        </p:spPr>
        <p:txBody>
          <a:bodyPr wrap="square" rtlCol="0" anchor="t"/>
          <a:lstStyle/>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Registration &amp; doc upload</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Verification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Point of Contact</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Product registration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Dynamic specifications</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Inventory</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RFQ management</a:t>
            </a:r>
            <a:endParaRPr lang="en-US" sz="1100" dirty="0"/>
          </a:p>
        </p:txBody>
      </p:sp>
      <p:sp>
        <p:nvSpPr>
          <p:cNvPr id="19" name="Shape 15"/>
          <p:cNvSpPr/>
          <p:nvPr/>
        </p:nvSpPr>
        <p:spPr>
          <a:xfrm>
            <a:off x="4206240" y="1664208"/>
            <a:ext cx="1737360" cy="2880360"/>
          </a:xfrm>
          <a:prstGeom prst="roundRect">
            <a:avLst>
              <a:gd name="adj" fmla="val 4211"/>
            </a:avLst>
          </a:prstGeom>
          <a:solidFill>
            <a:srgbClr val="FFFFFF"/>
          </a:solidFill>
          <a:ln w="12700">
            <a:solidFill>
              <a:srgbClr val="DDE3EE"/>
            </a:solidFill>
            <a:prstDash val="solid"/>
          </a:ln>
          <a:effectLst>
            <a:outerShdw blurRad="101600" dist="25400" dir="5400000" algn="bl" rotWithShape="0">
              <a:srgbClr val="1B2A4A">
                <a:alpha val="16000"/>
              </a:srgbClr>
            </a:outerShdw>
          </a:effectLst>
        </p:spPr>
      </p:sp>
      <p:sp>
        <p:nvSpPr>
          <p:cNvPr id="20" name="Shape 16"/>
          <p:cNvSpPr/>
          <p:nvPr/>
        </p:nvSpPr>
        <p:spPr>
          <a:xfrm>
            <a:off x="4206240" y="1664208"/>
            <a:ext cx="1737360" cy="685800"/>
          </a:xfrm>
          <a:prstGeom prst="rect">
            <a:avLst/>
          </a:prstGeom>
          <a:solidFill>
            <a:srgbClr val="2F6FED"/>
          </a:solidFill>
          <a:ln/>
        </p:spPr>
      </p:sp>
      <p:sp>
        <p:nvSpPr>
          <p:cNvPr id="21" name="Shape 17"/>
          <p:cNvSpPr/>
          <p:nvPr/>
        </p:nvSpPr>
        <p:spPr>
          <a:xfrm>
            <a:off x="4855464" y="1755648"/>
            <a:ext cx="438912" cy="438912"/>
          </a:xfrm>
          <a:prstGeom prst="ellipse">
            <a:avLst/>
          </a:prstGeom>
          <a:solidFill>
            <a:schemeClr val="bg2"/>
          </a:solidFill>
          <a:ln/>
        </p:spPr>
      </p:sp>
      <p:pic>
        <p:nvPicPr>
          <p:cNvPr id="22" name="Image 2" descr="/home/claude/electromart/icons/gear.png"/>
          <p:cNvPicPr>
            <a:picLocks noChangeAspect="1"/>
          </p:cNvPicPr>
          <p:nvPr/>
        </p:nvPicPr>
        <p:blipFill>
          <a:blip r:embed="rId5"/>
          <a:stretch>
            <a:fillRect/>
          </a:stretch>
        </p:blipFill>
        <p:spPr>
          <a:xfrm>
            <a:off x="4969581" y="1869765"/>
            <a:ext cx="210678" cy="210678"/>
          </a:xfrm>
          <a:prstGeom prst="rect">
            <a:avLst/>
          </a:prstGeom>
        </p:spPr>
      </p:pic>
      <p:sp>
        <p:nvSpPr>
          <p:cNvPr id="23" name="Text 18"/>
          <p:cNvSpPr/>
          <p:nvPr/>
        </p:nvSpPr>
        <p:spPr>
          <a:xfrm>
            <a:off x="4206240" y="2377440"/>
            <a:ext cx="1737360" cy="237744"/>
          </a:xfrm>
          <a:prstGeom prst="rect">
            <a:avLst/>
          </a:prstGeom>
          <a:noFill/>
          <a:ln/>
        </p:spPr>
        <p:txBody>
          <a:bodyPr wrap="square" rtlCol="0" anchor="ctr"/>
          <a:lstStyle/>
          <a:p>
            <a:pPr marL="0" indent="0" algn="ctr">
              <a:buNone/>
            </a:pPr>
            <a:r>
              <a:rPr lang="en-US" sz="1100" b="1" dirty="0">
                <a:solidFill>
                  <a:srgbClr val="0B1F3D"/>
                </a:solidFill>
                <a:latin typeface="Calibri" pitchFamily="34" charset="0"/>
                <a:ea typeface="Calibri" pitchFamily="34" charset="-122"/>
                <a:cs typeface="Calibri" pitchFamily="34" charset="-120"/>
              </a:rPr>
              <a:t>ADMIN</a:t>
            </a:r>
            <a:endParaRPr lang="en-US" sz="1100" dirty="0"/>
          </a:p>
        </p:txBody>
      </p:sp>
      <p:sp>
        <p:nvSpPr>
          <p:cNvPr id="24" name="Text 19"/>
          <p:cNvSpPr/>
          <p:nvPr/>
        </p:nvSpPr>
        <p:spPr>
          <a:xfrm>
            <a:off x="4231804" y="2642429"/>
            <a:ext cx="1755648" cy="1783080"/>
          </a:xfrm>
          <a:prstGeom prst="rect">
            <a:avLst/>
          </a:prstGeom>
          <a:noFill/>
          <a:ln/>
        </p:spPr>
        <p:txBody>
          <a:bodyPr wrap="square" rtlCol="0" anchor="t"/>
          <a:lstStyle/>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Business verification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Product approval</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Review moderation</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User management</a:t>
            </a:r>
            <a:endParaRPr lang="en-US" sz="1100" dirty="0"/>
          </a:p>
          <a:p>
            <a:pPr marL="114300" indent="-114300">
              <a:lnSpc>
                <a:spcPct val="115000"/>
              </a:lnSpc>
              <a:buSzPct val="100000"/>
              <a:buChar char="✓"/>
            </a:pPr>
            <a:r>
              <a:rPr lang="en-US" sz="1100" dirty="0">
                <a:solidFill>
                  <a:srgbClr val="16213E"/>
                </a:solidFill>
                <a:latin typeface="Calibri" pitchFamily="34" charset="0"/>
                <a:ea typeface="Calibri" pitchFamily="34" charset="-122"/>
                <a:cs typeface="Calibri" pitchFamily="34" charset="-120"/>
              </a:rPr>
              <a:t>Analytics</a:t>
            </a:r>
            <a:endParaRPr lang="en-US" sz="1100" dirty="0"/>
          </a:p>
        </p:txBody>
      </p:sp>
      <p:sp>
        <p:nvSpPr>
          <p:cNvPr id="25" name="Text 20"/>
          <p:cNvSpPr/>
          <p:nvPr/>
        </p:nvSpPr>
        <p:spPr>
          <a:xfrm>
            <a:off x="6263640" y="1353312"/>
            <a:ext cx="5440680" cy="256032"/>
          </a:xfrm>
          <a:prstGeom prst="rect">
            <a:avLst/>
          </a:prstGeom>
          <a:noFill/>
          <a:ln/>
        </p:spPr>
        <p:txBody>
          <a:bodyPr wrap="square" rtlCol="0" anchor="ctr"/>
          <a:lstStyle/>
          <a:p>
            <a:pPr marL="0" indent="0">
              <a:buNone/>
            </a:pPr>
            <a:r>
              <a:rPr lang="en-US" sz="1150" b="1" kern="0" spc="100" dirty="0">
                <a:solidFill>
                  <a:srgbClr val="0B1F3D"/>
                </a:solidFill>
                <a:latin typeface="Calibri" pitchFamily="34" charset="0"/>
                <a:ea typeface="Calibri" pitchFamily="34" charset="-122"/>
                <a:cs typeface="Calibri" pitchFamily="34" charset="-120"/>
              </a:rPr>
              <a:t>SUCCESS METRICS</a:t>
            </a:r>
            <a:endParaRPr lang="en-US" sz="1150" dirty="0"/>
          </a:p>
        </p:txBody>
      </p:sp>
      <p:sp>
        <p:nvSpPr>
          <p:cNvPr id="26" name="Shape 21"/>
          <p:cNvSpPr/>
          <p:nvPr/>
        </p:nvSpPr>
        <p:spPr>
          <a:xfrm>
            <a:off x="6263640" y="1664208"/>
            <a:ext cx="1722120" cy="2880360"/>
          </a:xfrm>
          <a:prstGeom prst="roundRect">
            <a:avLst>
              <a:gd name="adj" fmla="val 4248"/>
            </a:avLst>
          </a:prstGeom>
          <a:solidFill>
            <a:srgbClr val="0B1F3D"/>
          </a:solidFill>
          <a:ln/>
        </p:spPr>
      </p:sp>
      <p:sp>
        <p:nvSpPr>
          <p:cNvPr id="27" name="Text 22"/>
          <p:cNvSpPr/>
          <p:nvPr/>
        </p:nvSpPr>
        <p:spPr>
          <a:xfrm>
            <a:off x="6355080" y="1792224"/>
            <a:ext cx="1539240" cy="274320"/>
          </a:xfrm>
          <a:prstGeom prst="rect">
            <a:avLst/>
          </a:prstGeom>
          <a:noFill/>
          <a:ln/>
        </p:spPr>
        <p:txBody>
          <a:bodyPr wrap="square" rtlCol="0" anchor="ctr"/>
          <a:lstStyle/>
          <a:p>
            <a:pPr marL="0" indent="0">
              <a:buNone/>
            </a:pPr>
            <a:r>
              <a:rPr lang="en-US" sz="1100" b="1" dirty="0">
                <a:solidFill>
                  <a:srgbClr val="9DB6F2"/>
                </a:solidFill>
                <a:latin typeface="Calibri" pitchFamily="34" charset="0"/>
                <a:ea typeface="Calibri" pitchFamily="34" charset="-122"/>
                <a:cs typeface="Calibri" pitchFamily="34" charset="-120"/>
              </a:rPr>
              <a:t>CUSTOMER</a:t>
            </a:r>
            <a:endParaRPr lang="en-US" sz="1100" dirty="0"/>
          </a:p>
        </p:txBody>
      </p:sp>
      <p:sp>
        <p:nvSpPr>
          <p:cNvPr id="28" name="Text 23"/>
          <p:cNvSpPr/>
          <p:nvPr/>
        </p:nvSpPr>
        <p:spPr>
          <a:xfrm>
            <a:off x="6289204" y="2130365"/>
            <a:ext cx="1737806" cy="2286000"/>
          </a:xfrm>
          <a:prstGeom prst="rect">
            <a:avLst/>
          </a:prstGeom>
          <a:noFill/>
          <a:ln/>
        </p:spPr>
        <p:txBody>
          <a:bodyPr wrap="square" rtlCol="0" anchor="t"/>
          <a:lstStyle/>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Search success rate</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Time to find a component</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RFQ conversion</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Repeat usage</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Customer satisfaction</a:t>
            </a:r>
            <a:endParaRPr lang="en-US" sz="1100" dirty="0"/>
          </a:p>
        </p:txBody>
      </p:sp>
      <p:sp>
        <p:nvSpPr>
          <p:cNvPr id="29" name="Shape 24"/>
          <p:cNvSpPr/>
          <p:nvPr/>
        </p:nvSpPr>
        <p:spPr>
          <a:xfrm>
            <a:off x="8122920" y="1664208"/>
            <a:ext cx="1722120" cy="2880360"/>
          </a:xfrm>
          <a:prstGeom prst="roundRect">
            <a:avLst>
              <a:gd name="adj" fmla="val 4248"/>
            </a:avLst>
          </a:prstGeom>
          <a:solidFill>
            <a:srgbClr val="0B1F3D"/>
          </a:solidFill>
          <a:ln/>
        </p:spPr>
      </p:sp>
      <p:sp>
        <p:nvSpPr>
          <p:cNvPr id="30" name="Text 25"/>
          <p:cNvSpPr/>
          <p:nvPr/>
        </p:nvSpPr>
        <p:spPr>
          <a:xfrm>
            <a:off x="8214360" y="1792224"/>
            <a:ext cx="1539240" cy="274320"/>
          </a:xfrm>
          <a:prstGeom prst="rect">
            <a:avLst/>
          </a:prstGeom>
          <a:noFill/>
          <a:ln/>
        </p:spPr>
        <p:txBody>
          <a:bodyPr wrap="square" rtlCol="0" anchor="ctr"/>
          <a:lstStyle/>
          <a:p>
            <a:pPr marL="0" indent="0">
              <a:buNone/>
            </a:pPr>
            <a:r>
              <a:rPr lang="en-US" sz="1100" b="1" dirty="0">
                <a:solidFill>
                  <a:srgbClr val="9DB6F2"/>
                </a:solidFill>
                <a:latin typeface="Calibri" pitchFamily="34" charset="0"/>
                <a:ea typeface="Calibri" pitchFamily="34" charset="-122"/>
                <a:cs typeface="Calibri" pitchFamily="34" charset="-120"/>
              </a:rPr>
              <a:t>SUPPLIER</a:t>
            </a:r>
            <a:endParaRPr lang="en-US" sz="1100" dirty="0"/>
          </a:p>
        </p:txBody>
      </p:sp>
      <p:sp>
        <p:nvSpPr>
          <p:cNvPr id="31" name="Text 26"/>
          <p:cNvSpPr/>
          <p:nvPr/>
        </p:nvSpPr>
        <p:spPr>
          <a:xfrm>
            <a:off x="8148484" y="2130365"/>
            <a:ext cx="1737806" cy="2286000"/>
          </a:xfrm>
          <a:prstGeom prst="rect">
            <a:avLst/>
          </a:prstGeom>
          <a:noFill/>
          <a:ln/>
        </p:spPr>
        <p:txBody>
          <a:bodyPr wrap="square" rtlCol="0" anchor="t"/>
          <a:lstStyle/>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Verified suppliers</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Products listed</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RFQ response rate</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Response time</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Leads generated</a:t>
            </a:r>
            <a:endParaRPr lang="en-US" sz="1100" dirty="0"/>
          </a:p>
        </p:txBody>
      </p:sp>
      <p:sp>
        <p:nvSpPr>
          <p:cNvPr id="32" name="Shape 27"/>
          <p:cNvSpPr/>
          <p:nvPr/>
        </p:nvSpPr>
        <p:spPr>
          <a:xfrm>
            <a:off x="9982200" y="1664208"/>
            <a:ext cx="1722120" cy="2880360"/>
          </a:xfrm>
          <a:prstGeom prst="roundRect">
            <a:avLst>
              <a:gd name="adj" fmla="val 4248"/>
            </a:avLst>
          </a:prstGeom>
          <a:solidFill>
            <a:srgbClr val="0B1F3D"/>
          </a:solidFill>
          <a:ln/>
        </p:spPr>
      </p:sp>
      <p:sp>
        <p:nvSpPr>
          <p:cNvPr id="33" name="Text 28"/>
          <p:cNvSpPr/>
          <p:nvPr/>
        </p:nvSpPr>
        <p:spPr>
          <a:xfrm>
            <a:off x="10073640" y="1792224"/>
            <a:ext cx="1539240" cy="274320"/>
          </a:xfrm>
          <a:prstGeom prst="rect">
            <a:avLst/>
          </a:prstGeom>
          <a:noFill/>
          <a:ln/>
        </p:spPr>
        <p:txBody>
          <a:bodyPr wrap="square" rtlCol="0" anchor="ctr"/>
          <a:lstStyle/>
          <a:p>
            <a:pPr marL="0" indent="0">
              <a:buNone/>
            </a:pPr>
            <a:r>
              <a:rPr lang="en-US" sz="1100" b="1" dirty="0">
                <a:solidFill>
                  <a:srgbClr val="9DB6F2"/>
                </a:solidFill>
                <a:latin typeface="Calibri" pitchFamily="34" charset="0"/>
                <a:ea typeface="Calibri" pitchFamily="34" charset="-122"/>
                <a:cs typeface="Calibri" pitchFamily="34" charset="-120"/>
              </a:rPr>
              <a:t>MARKETPLACE</a:t>
            </a:r>
            <a:endParaRPr lang="en-US" sz="1100" dirty="0"/>
          </a:p>
        </p:txBody>
      </p:sp>
      <p:sp>
        <p:nvSpPr>
          <p:cNvPr id="34" name="Text 29"/>
          <p:cNvSpPr/>
          <p:nvPr/>
        </p:nvSpPr>
        <p:spPr>
          <a:xfrm>
            <a:off x="10007764" y="2130365"/>
            <a:ext cx="1737806" cy="2286000"/>
          </a:xfrm>
          <a:prstGeom prst="rect">
            <a:avLst/>
          </a:prstGeom>
          <a:noFill/>
          <a:ln/>
        </p:spPr>
        <p:txBody>
          <a:bodyPr wrap="square" rtlCol="0" anchor="t"/>
          <a:lstStyle/>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Active customers</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Active suppliers</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RFQs generated</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Successful connections</a:t>
            </a:r>
            <a:endParaRPr lang="en-US" sz="1100" dirty="0"/>
          </a:p>
          <a:p>
            <a:pPr marL="101600" indent="-101600">
              <a:lnSpc>
                <a:spcPct val="125000"/>
              </a:lnSpc>
              <a:buSzPct val="100000"/>
              <a:buChar char="▪"/>
            </a:pPr>
            <a:r>
              <a:rPr lang="en-US" sz="1100" dirty="0">
                <a:solidFill>
                  <a:srgbClr val="E4E8F5"/>
                </a:solidFill>
                <a:latin typeface="Calibri" pitchFamily="34" charset="0"/>
                <a:ea typeface="Calibri" pitchFamily="34" charset="-122"/>
                <a:cs typeface="Calibri" pitchFamily="34" charset="-120"/>
              </a:rPr>
              <a:t>Repeat transactions</a:t>
            </a:r>
            <a:endParaRPr lang="en-US" sz="1100" dirty="0"/>
          </a:p>
        </p:txBody>
      </p:sp>
      <p:sp>
        <p:nvSpPr>
          <p:cNvPr id="35" name="Shape 30"/>
          <p:cNvSpPr/>
          <p:nvPr/>
        </p:nvSpPr>
        <p:spPr>
          <a:xfrm>
            <a:off x="457200" y="4736592"/>
            <a:ext cx="11247120" cy="1536192"/>
          </a:xfrm>
          <a:prstGeom prst="roundRect">
            <a:avLst>
              <a:gd name="adj" fmla="val 4762"/>
            </a:avLst>
          </a:prstGeom>
          <a:solidFill>
            <a:srgbClr val="FFF7E8"/>
          </a:solidFill>
          <a:ln/>
        </p:spPr>
      </p:sp>
      <p:sp>
        <p:nvSpPr>
          <p:cNvPr id="36" name="Text 31"/>
          <p:cNvSpPr/>
          <p:nvPr/>
        </p:nvSpPr>
        <p:spPr>
          <a:xfrm>
            <a:off x="640080" y="4864608"/>
            <a:ext cx="10881360" cy="274320"/>
          </a:xfrm>
          <a:prstGeom prst="rect">
            <a:avLst/>
          </a:prstGeom>
          <a:noFill/>
          <a:ln/>
        </p:spPr>
        <p:txBody>
          <a:bodyPr wrap="square" rtlCol="0" anchor="ctr"/>
          <a:lstStyle/>
          <a:p>
            <a:pPr marL="0" indent="0">
              <a:buNone/>
            </a:pPr>
            <a:r>
              <a:rPr lang="en-US" sz="1100" b="1" kern="0" spc="100" dirty="0">
                <a:solidFill>
                  <a:srgbClr val="8A5A0A"/>
                </a:solidFill>
                <a:latin typeface="Calibri" pitchFamily="34" charset="0"/>
                <a:ea typeface="Calibri" pitchFamily="34" charset="-122"/>
                <a:cs typeface="Calibri" pitchFamily="34" charset="-120"/>
              </a:rPr>
              <a:t>INITIAL PILOT TARGETS — TO BE VALIDATED</a:t>
            </a:r>
            <a:endParaRPr lang="en-US" sz="1100" dirty="0"/>
          </a:p>
        </p:txBody>
      </p:sp>
      <p:sp>
        <p:nvSpPr>
          <p:cNvPr id="37" name="Text 32"/>
          <p:cNvSpPr/>
          <p:nvPr/>
        </p:nvSpPr>
        <p:spPr>
          <a:xfrm>
            <a:off x="640080" y="5193792"/>
            <a:ext cx="3444240" cy="457200"/>
          </a:xfrm>
          <a:prstGeom prst="rect">
            <a:avLst/>
          </a:prstGeom>
          <a:noFill/>
          <a:ln/>
        </p:spPr>
        <p:txBody>
          <a:bodyPr wrap="square" rtlCol="0" anchor="ctr"/>
          <a:lstStyle/>
          <a:p>
            <a:pPr marL="0" indent="0" algn="l">
              <a:buNone/>
            </a:pPr>
            <a:r>
              <a:rPr lang="en-US" sz="2400" b="1" dirty="0">
                <a:solidFill>
                  <a:srgbClr val="E8A33D"/>
                </a:solidFill>
                <a:latin typeface="Calibri" pitchFamily="34" charset="0"/>
                <a:ea typeface="Calibri" pitchFamily="34" charset="-122"/>
                <a:cs typeface="Calibri" pitchFamily="34" charset="-120"/>
              </a:rPr>
              <a:t>&gt;70%</a:t>
            </a:r>
            <a:endParaRPr lang="en-US" sz="2400" dirty="0"/>
          </a:p>
        </p:txBody>
      </p:sp>
      <p:sp>
        <p:nvSpPr>
          <p:cNvPr id="38" name="Text 33"/>
          <p:cNvSpPr/>
          <p:nvPr/>
        </p:nvSpPr>
        <p:spPr>
          <a:xfrm>
            <a:off x="640080" y="5669280"/>
            <a:ext cx="3444240" cy="502920"/>
          </a:xfrm>
          <a:prstGeom prst="rect">
            <a:avLst/>
          </a:prstGeom>
          <a:noFill/>
          <a:ln/>
        </p:spPr>
        <p:txBody>
          <a:bodyPr wrap="square" rtlCol="0" anchor="t"/>
          <a:lstStyle/>
          <a:p>
            <a:pPr marL="0" indent="0">
              <a:buNone/>
            </a:pPr>
            <a:r>
              <a:rPr lang="en-US" sz="1200" dirty="0">
                <a:solidFill>
                  <a:srgbClr val="6B4A16"/>
                </a:solidFill>
                <a:latin typeface="Calibri" pitchFamily="34" charset="0"/>
                <a:ea typeface="Calibri" pitchFamily="34" charset="-122"/>
                <a:cs typeface="Calibri" pitchFamily="34" charset="-120"/>
              </a:rPr>
              <a:t>Successful component discovery during pilot</a:t>
            </a:r>
            <a:endParaRPr lang="en-US" sz="1200" dirty="0"/>
          </a:p>
        </p:txBody>
      </p:sp>
      <p:sp>
        <p:nvSpPr>
          <p:cNvPr id="39" name="Text 34"/>
          <p:cNvSpPr/>
          <p:nvPr/>
        </p:nvSpPr>
        <p:spPr>
          <a:xfrm>
            <a:off x="4358640" y="5193792"/>
            <a:ext cx="3444240" cy="457200"/>
          </a:xfrm>
          <a:prstGeom prst="rect">
            <a:avLst/>
          </a:prstGeom>
          <a:noFill/>
          <a:ln/>
        </p:spPr>
        <p:txBody>
          <a:bodyPr wrap="square" rtlCol="0" anchor="ctr"/>
          <a:lstStyle/>
          <a:p>
            <a:pPr marL="0" indent="0" algn="l">
              <a:buNone/>
            </a:pPr>
            <a:r>
              <a:rPr lang="en-US" sz="2400" b="1" dirty="0">
                <a:solidFill>
                  <a:srgbClr val="E8A33D"/>
                </a:solidFill>
                <a:latin typeface="Calibri" pitchFamily="34" charset="0"/>
                <a:ea typeface="Calibri" pitchFamily="34" charset="-122"/>
                <a:cs typeface="Calibri" pitchFamily="34" charset="-120"/>
              </a:rPr>
              <a:t>&lt;5 min</a:t>
            </a:r>
            <a:endParaRPr lang="en-US" sz="2400" dirty="0"/>
          </a:p>
        </p:txBody>
      </p:sp>
      <p:sp>
        <p:nvSpPr>
          <p:cNvPr id="40" name="Text 35"/>
          <p:cNvSpPr/>
          <p:nvPr/>
        </p:nvSpPr>
        <p:spPr>
          <a:xfrm>
            <a:off x="4358640" y="5669280"/>
            <a:ext cx="3444240" cy="502920"/>
          </a:xfrm>
          <a:prstGeom prst="rect">
            <a:avLst/>
          </a:prstGeom>
          <a:noFill/>
          <a:ln/>
        </p:spPr>
        <p:txBody>
          <a:bodyPr wrap="square" rtlCol="0" anchor="t"/>
          <a:lstStyle/>
          <a:p>
            <a:pPr marL="0" indent="0">
              <a:buNone/>
            </a:pPr>
            <a:r>
              <a:rPr lang="en-US" sz="1200" dirty="0">
                <a:solidFill>
                  <a:srgbClr val="6B4A16"/>
                </a:solidFill>
                <a:latin typeface="Calibri" pitchFamily="34" charset="0"/>
                <a:ea typeface="Calibri" pitchFamily="34" charset="-122"/>
                <a:cs typeface="Calibri" pitchFamily="34" charset="-120"/>
              </a:rPr>
              <a:t>To identify suitable suppliers</a:t>
            </a:r>
            <a:endParaRPr lang="en-US" sz="1200" dirty="0"/>
          </a:p>
        </p:txBody>
      </p:sp>
      <p:sp>
        <p:nvSpPr>
          <p:cNvPr id="41" name="Text 36"/>
          <p:cNvSpPr/>
          <p:nvPr/>
        </p:nvSpPr>
        <p:spPr>
          <a:xfrm>
            <a:off x="8077200" y="5193792"/>
            <a:ext cx="3444240" cy="457200"/>
          </a:xfrm>
          <a:prstGeom prst="rect">
            <a:avLst/>
          </a:prstGeom>
          <a:noFill/>
          <a:ln/>
        </p:spPr>
        <p:txBody>
          <a:bodyPr wrap="square" rtlCol="0" anchor="ctr"/>
          <a:lstStyle/>
          <a:p>
            <a:pPr marL="0" indent="0" algn="l">
              <a:buNone/>
            </a:pPr>
            <a:r>
              <a:rPr lang="en-US" sz="2400" b="1" dirty="0">
                <a:solidFill>
                  <a:srgbClr val="E8A33D"/>
                </a:solidFill>
                <a:latin typeface="Calibri" pitchFamily="34" charset="0"/>
                <a:ea typeface="Calibri" pitchFamily="34" charset="-122"/>
                <a:cs typeface="Calibri" pitchFamily="34" charset="-120"/>
              </a:rPr>
              <a:t>&gt;50%</a:t>
            </a:r>
            <a:endParaRPr lang="en-US" sz="2400" dirty="0"/>
          </a:p>
        </p:txBody>
      </p:sp>
      <p:sp>
        <p:nvSpPr>
          <p:cNvPr id="42" name="Text 37"/>
          <p:cNvSpPr/>
          <p:nvPr/>
        </p:nvSpPr>
        <p:spPr>
          <a:xfrm>
            <a:off x="8077200" y="5669280"/>
            <a:ext cx="3444240" cy="502920"/>
          </a:xfrm>
          <a:prstGeom prst="rect">
            <a:avLst/>
          </a:prstGeom>
          <a:noFill/>
          <a:ln/>
        </p:spPr>
        <p:txBody>
          <a:bodyPr wrap="square" rtlCol="0" anchor="t"/>
          <a:lstStyle/>
          <a:p>
            <a:pPr marL="0" indent="0">
              <a:buNone/>
            </a:pPr>
            <a:r>
              <a:rPr lang="en-US" sz="1200" dirty="0">
                <a:solidFill>
                  <a:srgbClr val="6B4A16"/>
                </a:solidFill>
                <a:latin typeface="Calibri" pitchFamily="34" charset="0"/>
                <a:ea typeface="Calibri" pitchFamily="34" charset="-122"/>
                <a:cs typeface="Calibri" pitchFamily="34" charset="-120"/>
              </a:rPr>
              <a:t>RFQ response rate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D"/>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marL="0" indent="0">
              <a:buNone/>
            </a:pPr>
            <a:r>
              <a:rPr lang="en-US" sz="1200" b="1" kern="0" spc="200" dirty="0">
                <a:solidFill>
                  <a:srgbClr val="7FA6FF"/>
                </a:solidFill>
                <a:latin typeface="Calibri" pitchFamily="34" charset="0"/>
                <a:ea typeface="Calibri" pitchFamily="34" charset="-122"/>
                <a:cs typeface="Calibri" pitchFamily="34" charset="-120"/>
              </a:rPr>
              <a:t>THE BIGGER VISION</a:t>
            </a:r>
            <a:endParaRPr lang="en-US" sz="1200" dirty="0"/>
          </a:p>
        </p:txBody>
      </p:sp>
      <p:sp>
        <p:nvSpPr>
          <p:cNvPr id="3" name="Text 1"/>
          <p:cNvSpPr/>
          <p:nvPr/>
        </p:nvSpPr>
        <p:spPr>
          <a:xfrm>
            <a:off x="457200" y="566928"/>
            <a:ext cx="11247120" cy="658368"/>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ElectroMart — From Marketplace to Electronics Procurement Ecosystem</a:t>
            </a:r>
            <a:endParaRPr lang="en-US" sz="27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850" kern="0" spc="100" dirty="0">
                <a:solidFill>
                  <a:srgbClr val="8FA3CC"/>
                </a:solidFill>
                <a:latin typeface="Calibri" pitchFamily="34" charset="0"/>
                <a:ea typeface="Calibri" pitchFamily="34" charset="-122"/>
                <a:cs typeface="Calibri" pitchFamily="34" charset="-120"/>
              </a:rPr>
              <a:t>ELECTROMART  |  CONCEPT-TO-PROTOTYPE EXECUTION PLAN</a:t>
            </a:r>
            <a:endParaRPr lang="en-US" sz="850" dirty="0"/>
          </a:p>
        </p:txBody>
      </p:sp>
      <p:sp>
        <p:nvSpPr>
          <p:cNvPr id="5" name="Text 3"/>
          <p:cNvSpPr/>
          <p:nvPr/>
        </p:nvSpPr>
        <p:spPr>
          <a:xfrm>
            <a:off x="11002975" y="6547104"/>
            <a:ext cx="822960" cy="256032"/>
          </a:xfrm>
          <a:prstGeom prst="rect">
            <a:avLst/>
          </a:prstGeom>
          <a:noFill/>
          <a:ln/>
        </p:spPr>
        <p:txBody>
          <a:bodyPr wrap="square" rtlCol="0" anchor="ctr"/>
          <a:lstStyle/>
          <a:p>
            <a:pPr marL="0" indent="0" algn="r">
              <a:buNone/>
            </a:pPr>
            <a:r>
              <a:rPr lang="en-US" sz="850" dirty="0">
                <a:solidFill>
                  <a:srgbClr val="8FA3CC"/>
                </a:solidFill>
                <a:latin typeface="Calibri" pitchFamily="34" charset="0"/>
                <a:ea typeface="Calibri" pitchFamily="34" charset="-122"/>
                <a:cs typeface="Calibri" pitchFamily="34" charset="-120"/>
              </a:rPr>
              <a:t>10 / 10</a:t>
            </a:r>
            <a:endParaRPr lang="en-US" sz="850" dirty="0"/>
          </a:p>
        </p:txBody>
      </p:sp>
      <p:sp>
        <p:nvSpPr>
          <p:cNvPr id="6" name="Shape 4"/>
          <p:cNvSpPr/>
          <p:nvPr/>
        </p:nvSpPr>
        <p:spPr>
          <a:xfrm>
            <a:off x="457200" y="1371600"/>
            <a:ext cx="2571750" cy="1234440"/>
          </a:xfrm>
          <a:prstGeom prst="roundRect">
            <a:avLst>
              <a:gd name="adj" fmla="val 5926"/>
            </a:avLst>
          </a:prstGeom>
          <a:solidFill>
            <a:srgbClr val="132A54"/>
          </a:solidFill>
          <a:ln w="12700">
            <a:solidFill>
              <a:srgbClr val="2A4A86"/>
            </a:solidFill>
            <a:prstDash val="solid"/>
          </a:ln>
        </p:spPr>
      </p:sp>
      <p:sp>
        <p:nvSpPr>
          <p:cNvPr id="7" name="Text 5"/>
          <p:cNvSpPr/>
          <p:nvPr/>
        </p:nvSpPr>
        <p:spPr>
          <a:xfrm>
            <a:off x="566928" y="1481328"/>
            <a:ext cx="2352294" cy="256032"/>
          </a:xfrm>
          <a:prstGeom prst="rect">
            <a:avLst/>
          </a:prstGeom>
          <a:noFill/>
          <a:ln/>
        </p:spPr>
        <p:txBody>
          <a:bodyPr wrap="square" rtlCol="0" anchor="ctr"/>
          <a:lstStyle/>
          <a:p>
            <a:pPr marL="0" indent="0">
              <a:buNone/>
            </a:pPr>
            <a:r>
              <a:rPr lang="en-US" sz="1400" b="1" kern="0" spc="100" dirty="0">
                <a:solidFill>
                  <a:srgbClr val="7FA6FF"/>
                </a:solidFill>
                <a:latin typeface="Calibri" pitchFamily="34" charset="0"/>
                <a:ea typeface="Calibri" pitchFamily="34" charset="-122"/>
                <a:cs typeface="Calibri" pitchFamily="34" charset="-120"/>
              </a:rPr>
              <a:t>TODAY</a:t>
            </a:r>
            <a:endParaRPr lang="en-US" sz="1400" dirty="0"/>
          </a:p>
        </p:txBody>
      </p:sp>
      <p:sp>
        <p:nvSpPr>
          <p:cNvPr id="8" name="Text 6"/>
          <p:cNvSpPr/>
          <p:nvPr/>
        </p:nvSpPr>
        <p:spPr>
          <a:xfrm>
            <a:off x="566928" y="1773936"/>
            <a:ext cx="2352294"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Fragmented sourcing</a:t>
            </a:r>
            <a:endParaRPr lang="en-US" sz="1200" dirty="0"/>
          </a:p>
        </p:txBody>
      </p:sp>
      <p:sp>
        <p:nvSpPr>
          <p:cNvPr id="9" name="Text 7"/>
          <p:cNvSpPr/>
          <p:nvPr/>
        </p:nvSpPr>
        <p:spPr>
          <a:xfrm>
            <a:off x="3028950" y="1851660"/>
            <a:ext cx="320040" cy="274320"/>
          </a:xfrm>
          <a:prstGeom prst="rect">
            <a:avLst/>
          </a:prstGeom>
          <a:noFill/>
          <a:ln/>
        </p:spPr>
        <p:txBody>
          <a:bodyPr wrap="square" rtlCol="0" anchor="ctr"/>
          <a:lstStyle/>
          <a:p>
            <a:pPr marL="0" indent="0" algn="ctr">
              <a:buNone/>
            </a:pPr>
            <a:r>
              <a:rPr lang="en-US" sz="1600" b="1" dirty="0">
                <a:solidFill>
                  <a:srgbClr val="2F6FED"/>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48990" y="1371600"/>
            <a:ext cx="2571750" cy="1234440"/>
          </a:xfrm>
          <a:prstGeom prst="roundRect">
            <a:avLst>
              <a:gd name="adj" fmla="val 5926"/>
            </a:avLst>
          </a:prstGeom>
          <a:solidFill>
            <a:srgbClr val="132A54"/>
          </a:solidFill>
          <a:ln w="12700">
            <a:solidFill>
              <a:srgbClr val="2A4A86"/>
            </a:solidFill>
            <a:prstDash val="solid"/>
          </a:ln>
        </p:spPr>
      </p:sp>
      <p:sp>
        <p:nvSpPr>
          <p:cNvPr id="11" name="Text 9"/>
          <p:cNvSpPr/>
          <p:nvPr/>
        </p:nvSpPr>
        <p:spPr>
          <a:xfrm>
            <a:off x="3458718" y="1481328"/>
            <a:ext cx="2352294" cy="256032"/>
          </a:xfrm>
          <a:prstGeom prst="rect">
            <a:avLst/>
          </a:prstGeom>
          <a:noFill/>
          <a:ln/>
        </p:spPr>
        <p:txBody>
          <a:bodyPr wrap="square" rtlCol="0" anchor="ctr"/>
          <a:lstStyle/>
          <a:p>
            <a:pPr marL="0" indent="0">
              <a:buNone/>
            </a:pPr>
            <a:r>
              <a:rPr lang="en-US" sz="1400" b="1" kern="0" spc="100" dirty="0">
                <a:solidFill>
                  <a:srgbClr val="7FA6FF"/>
                </a:solidFill>
                <a:latin typeface="Calibri" pitchFamily="34" charset="0"/>
                <a:ea typeface="Calibri" pitchFamily="34" charset="-122"/>
                <a:cs typeface="Calibri" pitchFamily="34" charset="-120"/>
              </a:rPr>
              <a:t>ELECTROMART MVP</a:t>
            </a:r>
            <a:endParaRPr lang="en-US" sz="1400" dirty="0"/>
          </a:p>
        </p:txBody>
      </p:sp>
      <p:sp>
        <p:nvSpPr>
          <p:cNvPr id="12" name="Text 10"/>
          <p:cNvSpPr/>
          <p:nvPr/>
        </p:nvSpPr>
        <p:spPr>
          <a:xfrm>
            <a:off x="3458718" y="1773936"/>
            <a:ext cx="2352294"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Search + Suppliers +</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Community + RFQ</a:t>
            </a:r>
            <a:endParaRPr lang="en-US" sz="1200" dirty="0"/>
          </a:p>
        </p:txBody>
      </p:sp>
      <p:sp>
        <p:nvSpPr>
          <p:cNvPr id="13" name="Text 11"/>
          <p:cNvSpPr/>
          <p:nvPr/>
        </p:nvSpPr>
        <p:spPr>
          <a:xfrm>
            <a:off x="5920740" y="1851660"/>
            <a:ext cx="320040" cy="274320"/>
          </a:xfrm>
          <a:prstGeom prst="rect">
            <a:avLst/>
          </a:prstGeom>
          <a:noFill/>
          <a:ln/>
        </p:spPr>
        <p:txBody>
          <a:bodyPr wrap="square" rtlCol="0" anchor="ctr"/>
          <a:lstStyle/>
          <a:p>
            <a:pPr marL="0" indent="0" algn="ctr">
              <a:buNone/>
            </a:pPr>
            <a:r>
              <a:rPr lang="en-US" sz="1600" b="1" dirty="0">
                <a:solidFill>
                  <a:srgbClr val="2F6FED"/>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240780" y="1371600"/>
            <a:ext cx="2571750" cy="1234440"/>
          </a:xfrm>
          <a:prstGeom prst="roundRect">
            <a:avLst>
              <a:gd name="adj" fmla="val 5926"/>
            </a:avLst>
          </a:prstGeom>
          <a:solidFill>
            <a:srgbClr val="132A54"/>
          </a:solidFill>
          <a:ln w="12700">
            <a:solidFill>
              <a:srgbClr val="2A4A86"/>
            </a:solidFill>
            <a:prstDash val="solid"/>
          </a:ln>
        </p:spPr>
      </p:sp>
      <p:sp>
        <p:nvSpPr>
          <p:cNvPr id="15" name="Text 13"/>
          <p:cNvSpPr/>
          <p:nvPr/>
        </p:nvSpPr>
        <p:spPr>
          <a:xfrm>
            <a:off x="6350508" y="1481328"/>
            <a:ext cx="2352294" cy="256032"/>
          </a:xfrm>
          <a:prstGeom prst="rect">
            <a:avLst/>
          </a:prstGeom>
          <a:noFill/>
          <a:ln/>
        </p:spPr>
        <p:txBody>
          <a:bodyPr wrap="square" rtlCol="0" anchor="ctr"/>
          <a:lstStyle/>
          <a:p>
            <a:pPr marL="0" indent="0">
              <a:buNone/>
            </a:pPr>
            <a:r>
              <a:rPr lang="en-US" sz="1400" b="1" kern="0" spc="100" dirty="0">
                <a:solidFill>
                  <a:srgbClr val="7FA6FF"/>
                </a:solidFill>
                <a:latin typeface="Calibri" pitchFamily="34" charset="0"/>
                <a:ea typeface="Calibri" pitchFamily="34" charset="-122"/>
                <a:cs typeface="Calibri" pitchFamily="34" charset="-120"/>
              </a:rPr>
              <a:t>NEXT</a:t>
            </a:r>
            <a:endParaRPr lang="en-US" sz="1400" dirty="0"/>
          </a:p>
        </p:txBody>
      </p:sp>
      <p:sp>
        <p:nvSpPr>
          <p:cNvPr id="16" name="Text 14"/>
          <p:cNvSpPr/>
          <p:nvPr/>
        </p:nvSpPr>
        <p:spPr>
          <a:xfrm>
            <a:off x="6350508" y="1773936"/>
            <a:ext cx="2352294"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BOM (Bill Of Materials) → AI Matching →</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Equivalents → ERP/Logistics</a:t>
            </a:r>
            <a:endParaRPr lang="en-US" sz="1200" dirty="0"/>
          </a:p>
        </p:txBody>
      </p:sp>
      <p:sp>
        <p:nvSpPr>
          <p:cNvPr id="17" name="Text 15"/>
          <p:cNvSpPr/>
          <p:nvPr/>
        </p:nvSpPr>
        <p:spPr>
          <a:xfrm>
            <a:off x="8812530" y="1851660"/>
            <a:ext cx="320040" cy="274320"/>
          </a:xfrm>
          <a:prstGeom prst="rect">
            <a:avLst/>
          </a:prstGeom>
          <a:noFill/>
          <a:ln/>
        </p:spPr>
        <p:txBody>
          <a:bodyPr wrap="square" rtlCol="0" anchor="ctr"/>
          <a:lstStyle/>
          <a:p>
            <a:pPr marL="0" indent="0" algn="ctr">
              <a:buNone/>
            </a:pPr>
            <a:r>
              <a:rPr lang="en-US" sz="1600" b="1" dirty="0">
                <a:solidFill>
                  <a:srgbClr val="2F6FED"/>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132570" y="1371600"/>
            <a:ext cx="2571750" cy="1234440"/>
          </a:xfrm>
          <a:prstGeom prst="roundRect">
            <a:avLst>
              <a:gd name="adj" fmla="val 5926"/>
            </a:avLst>
          </a:prstGeom>
          <a:solidFill>
            <a:srgbClr val="2F6FED"/>
          </a:solidFill>
          <a:ln w="12700">
            <a:solidFill>
              <a:srgbClr val="2A4A86"/>
            </a:solidFill>
            <a:prstDash val="solid"/>
          </a:ln>
        </p:spPr>
      </p:sp>
      <p:sp>
        <p:nvSpPr>
          <p:cNvPr id="19" name="Text 17"/>
          <p:cNvSpPr/>
          <p:nvPr/>
        </p:nvSpPr>
        <p:spPr>
          <a:xfrm>
            <a:off x="9242298" y="1481328"/>
            <a:ext cx="2352294" cy="256032"/>
          </a:xfrm>
          <a:prstGeom prst="rect">
            <a:avLst/>
          </a:prstGeom>
          <a:noFill/>
          <a:ln/>
        </p:spPr>
        <p:txBody>
          <a:bodyPr wrap="square"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FUTURE</a:t>
            </a:r>
            <a:endParaRPr lang="en-US" sz="1400" dirty="0"/>
          </a:p>
        </p:txBody>
      </p:sp>
      <p:sp>
        <p:nvSpPr>
          <p:cNvPr id="20" name="Text 18"/>
          <p:cNvSpPr/>
          <p:nvPr/>
        </p:nvSpPr>
        <p:spPr>
          <a:xfrm>
            <a:off x="9242298" y="1773936"/>
            <a:ext cx="2352294"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AI-Powered Procurement</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Platform</a:t>
            </a:r>
            <a:endParaRPr lang="en-US" sz="1200" dirty="0"/>
          </a:p>
        </p:txBody>
      </p:sp>
      <p:sp>
        <p:nvSpPr>
          <p:cNvPr id="21" name="Shape 19"/>
          <p:cNvSpPr/>
          <p:nvPr/>
        </p:nvSpPr>
        <p:spPr>
          <a:xfrm>
            <a:off x="457200" y="2880360"/>
            <a:ext cx="2103120" cy="1874520"/>
          </a:xfrm>
          <a:prstGeom prst="roundRect">
            <a:avLst>
              <a:gd name="adj" fmla="val 3902"/>
            </a:avLst>
          </a:prstGeom>
          <a:solidFill>
            <a:srgbClr val="132A54"/>
          </a:solidFill>
          <a:ln w="12700">
            <a:solidFill>
              <a:srgbClr val="2A4A86"/>
            </a:solidFill>
            <a:prstDash val="solid"/>
          </a:ln>
        </p:spPr>
      </p:sp>
      <p:sp>
        <p:nvSpPr>
          <p:cNvPr id="22" name="Shape 20"/>
          <p:cNvSpPr/>
          <p:nvPr/>
        </p:nvSpPr>
        <p:spPr>
          <a:xfrm>
            <a:off x="1216152" y="3081528"/>
            <a:ext cx="585216" cy="585216"/>
          </a:xfrm>
          <a:prstGeom prst="ellipse">
            <a:avLst/>
          </a:prstGeom>
          <a:solidFill>
            <a:srgbClr val="2F6FED"/>
          </a:solidFill>
          <a:ln/>
        </p:spPr>
      </p:sp>
      <p:pic>
        <p:nvPicPr>
          <p:cNvPr id="23" name="Image 0" descr="/home/claude/electromart/icons/search.png"/>
          <p:cNvPicPr>
            <a:picLocks noChangeAspect="1"/>
          </p:cNvPicPr>
          <p:nvPr/>
        </p:nvPicPr>
        <p:blipFill>
          <a:blip r:embed="rId3"/>
          <a:stretch>
            <a:fillRect/>
          </a:stretch>
        </p:blipFill>
        <p:spPr>
          <a:xfrm>
            <a:off x="1368308" y="3233684"/>
            <a:ext cx="280904" cy="280904"/>
          </a:xfrm>
          <a:prstGeom prst="rect">
            <a:avLst/>
          </a:prstGeom>
        </p:spPr>
      </p:pic>
      <p:sp>
        <p:nvSpPr>
          <p:cNvPr id="24" name="Text 21"/>
          <p:cNvSpPr/>
          <p:nvPr/>
        </p:nvSpPr>
        <p:spPr>
          <a:xfrm>
            <a:off x="512064" y="3813048"/>
            <a:ext cx="1993392" cy="256032"/>
          </a:xfrm>
          <a:prstGeom prst="rect">
            <a:avLst/>
          </a:prstGeom>
          <a:noFill/>
          <a:ln/>
        </p:spPr>
        <p:txBody>
          <a:bodyPr wrap="square" rtlCol="0" anchor="ctr"/>
          <a:lstStyle/>
          <a:p>
            <a:pPr marL="0" indent="0" algn="ctr">
              <a:buNone/>
            </a:pPr>
            <a:r>
              <a:rPr lang="en-US" sz="1400" b="1" kern="0" spc="50" dirty="0">
                <a:solidFill>
                  <a:srgbClr val="FFFFFF"/>
                </a:solidFill>
                <a:latin typeface="Calibri" pitchFamily="34" charset="0"/>
                <a:ea typeface="Calibri" pitchFamily="34" charset="-122"/>
                <a:cs typeface="Calibri" pitchFamily="34" charset="-120"/>
              </a:rPr>
              <a:t>DISCOVER</a:t>
            </a:r>
            <a:endParaRPr lang="en-US" sz="1400" dirty="0"/>
          </a:p>
        </p:txBody>
      </p:sp>
      <p:sp>
        <p:nvSpPr>
          <p:cNvPr id="25" name="Text 22"/>
          <p:cNvSpPr/>
          <p:nvPr/>
        </p:nvSpPr>
        <p:spPr>
          <a:xfrm>
            <a:off x="576072" y="4105656"/>
            <a:ext cx="1865376" cy="594360"/>
          </a:xfrm>
          <a:prstGeom prst="rect">
            <a:avLst/>
          </a:prstGeom>
          <a:noFill/>
          <a:ln/>
        </p:spPr>
        <p:txBody>
          <a:bodyPr wrap="square" rtlCol="0" anchor="t"/>
          <a:lstStyle/>
          <a:p>
            <a:pPr marL="0" indent="0" algn="ctr">
              <a:buNone/>
            </a:pPr>
            <a:r>
              <a:rPr lang="en-US" sz="1200" dirty="0">
                <a:solidFill>
                  <a:srgbClr val="C7D6F5"/>
                </a:solidFill>
                <a:latin typeface="Calibri" pitchFamily="34" charset="0"/>
                <a:ea typeface="Calibri" pitchFamily="34" charset="-122"/>
                <a:cs typeface="Calibri" pitchFamily="34" charset="-120"/>
              </a:rPr>
              <a:t>Find components through intelligent parametric search.</a:t>
            </a:r>
            <a:endParaRPr lang="en-US" sz="1200" dirty="0"/>
          </a:p>
        </p:txBody>
      </p:sp>
      <p:sp>
        <p:nvSpPr>
          <p:cNvPr id="26" name="Shape 23"/>
          <p:cNvSpPr/>
          <p:nvPr/>
        </p:nvSpPr>
        <p:spPr>
          <a:xfrm>
            <a:off x="2743200" y="2880360"/>
            <a:ext cx="2103120" cy="1874520"/>
          </a:xfrm>
          <a:prstGeom prst="roundRect">
            <a:avLst>
              <a:gd name="adj" fmla="val 3902"/>
            </a:avLst>
          </a:prstGeom>
          <a:solidFill>
            <a:srgbClr val="132A54"/>
          </a:solidFill>
          <a:ln w="12700">
            <a:solidFill>
              <a:srgbClr val="2A4A86"/>
            </a:solidFill>
            <a:prstDash val="solid"/>
          </a:ln>
        </p:spPr>
      </p:sp>
      <p:sp>
        <p:nvSpPr>
          <p:cNvPr id="27" name="Shape 24"/>
          <p:cNvSpPr/>
          <p:nvPr/>
        </p:nvSpPr>
        <p:spPr>
          <a:xfrm>
            <a:off x="3502152" y="3081528"/>
            <a:ext cx="585216" cy="585216"/>
          </a:xfrm>
          <a:prstGeom prst="ellipse">
            <a:avLst/>
          </a:prstGeom>
          <a:solidFill>
            <a:srgbClr val="2F6FED"/>
          </a:solidFill>
          <a:ln/>
        </p:spPr>
      </p:sp>
      <p:pic>
        <p:nvPicPr>
          <p:cNvPr id="28" name="Image 1" descr="/home/claude/electromart/icons/shield.png"/>
          <p:cNvPicPr>
            <a:picLocks noChangeAspect="1"/>
          </p:cNvPicPr>
          <p:nvPr/>
        </p:nvPicPr>
        <p:blipFill>
          <a:blip r:embed="rId4"/>
          <a:stretch>
            <a:fillRect/>
          </a:stretch>
        </p:blipFill>
        <p:spPr>
          <a:xfrm>
            <a:off x="3654308" y="3233684"/>
            <a:ext cx="280904" cy="280904"/>
          </a:xfrm>
          <a:prstGeom prst="rect">
            <a:avLst/>
          </a:prstGeom>
        </p:spPr>
      </p:pic>
      <p:sp>
        <p:nvSpPr>
          <p:cNvPr id="29" name="Text 25"/>
          <p:cNvSpPr/>
          <p:nvPr/>
        </p:nvSpPr>
        <p:spPr>
          <a:xfrm>
            <a:off x="2798064" y="3813048"/>
            <a:ext cx="1993392" cy="256032"/>
          </a:xfrm>
          <a:prstGeom prst="rect">
            <a:avLst/>
          </a:prstGeom>
          <a:noFill/>
          <a:ln/>
        </p:spPr>
        <p:txBody>
          <a:bodyPr wrap="square" rtlCol="0" anchor="ctr"/>
          <a:lstStyle/>
          <a:p>
            <a:pPr marL="0" indent="0" algn="ctr">
              <a:buNone/>
            </a:pPr>
            <a:r>
              <a:rPr lang="en-US" sz="1400" b="1" kern="0" spc="50" dirty="0">
                <a:solidFill>
                  <a:srgbClr val="FFFFFF"/>
                </a:solidFill>
                <a:latin typeface="Calibri" pitchFamily="34" charset="0"/>
                <a:ea typeface="Calibri" pitchFamily="34" charset="-122"/>
                <a:cs typeface="Calibri" pitchFamily="34" charset="-120"/>
              </a:rPr>
              <a:t>VERIFY</a:t>
            </a:r>
            <a:endParaRPr lang="en-US" sz="1400" dirty="0"/>
          </a:p>
        </p:txBody>
      </p:sp>
      <p:sp>
        <p:nvSpPr>
          <p:cNvPr id="30" name="Text 26"/>
          <p:cNvSpPr/>
          <p:nvPr/>
        </p:nvSpPr>
        <p:spPr>
          <a:xfrm>
            <a:off x="2862072" y="4105656"/>
            <a:ext cx="1865376" cy="594360"/>
          </a:xfrm>
          <a:prstGeom prst="rect">
            <a:avLst/>
          </a:prstGeom>
          <a:noFill/>
          <a:ln/>
        </p:spPr>
        <p:txBody>
          <a:bodyPr wrap="square" rtlCol="0" anchor="t"/>
          <a:lstStyle/>
          <a:p>
            <a:pPr marL="0" indent="0" algn="ctr">
              <a:buNone/>
            </a:pPr>
            <a:r>
              <a:rPr lang="en-US" sz="1200" dirty="0">
                <a:solidFill>
                  <a:srgbClr val="C7D6F5"/>
                </a:solidFill>
                <a:latin typeface="Calibri" pitchFamily="34" charset="0"/>
                <a:ea typeface="Calibri" pitchFamily="34" charset="-122"/>
                <a:cs typeface="Calibri" pitchFamily="34" charset="-120"/>
              </a:rPr>
              <a:t>See certifications, credentials &amp; verified Point of Contact.</a:t>
            </a:r>
            <a:endParaRPr lang="en-US" sz="1200" dirty="0"/>
          </a:p>
        </p:txBody>
      </p:sp>
      <p:sp>
        <p:nvSpPr>
          <p:cNvPr id="31" name="Shape 27"/>
          <p:cNvSpPr/>
          <p:nvPr/>
        </p:nvSpPr>
        <p:spPr>
          <a:xfrm>
            <a:off x="5029200" y="2880360"/>
            <a:ext cx="2103120" cy="1874520"/>
          </a:xfrm>
          <a:prstGeom prst="roundRect">
            <a:avLst>
              <a:gd name="adj" fmla="val 3902"/>
            </a:avLst>
          </a:prstGeom>
          <a:solidFill>
            <a:srgbClr val="132A54"/>
          </a:solidFill>
          <a:ln w="12700">
            <a:solidFill>
              <a:srgbClr val="2A4A86"/>
            </a:solidFill>
            <a:prstDash val="solid"/>
          </a:ln>
        </p:spPr>
      </p:sp>
      <p:sp>
        <p:nvSpPr>
          <p:cNvPr id="32" name="Shape 28"/>
          <p:cNvSpPr/>
          <p:nvPr/>
        </p:nvSpPr>
        <p:spPr>
          <a:xfrm>
            <a:off x="5788152" y="3081528"/>
            <a:ext cx="585216" cy="585216"/>
          </a:xfrm>
          <a:prstGeom prst="ellipse">
            <a:avLst/>
          </a:prstGeom>
          <a:solidFill>
            <a:srgbClr val="2F6FED"/>
          </a:solidFill>
          <a:ln/>
        </p:spPr>
      </p:sp>
      <p:pic>
        <p:nvPicPr>
          <p:cNvPr id="33" name="Image 2" descr="/home/claude/electromart/icons/compare.png"/>
          <p:cNvPicPr>
            <a:picLocks noChangeAspect="1"/>
          </p:cNvPicPr>
          <p:nvPr/>
        </p:nvPicPr>
        <p:blipFill>
          <a:blip r:embed="rId5"/>
          <a:stretch>
            <a:fillRect/>
          </a:stretch>
        </p:blipFill>
        <p:spPr>
          <a:xfrm>
            <a:off x="5940308" y="3233684"/>
            <a:ext cx="280904" cy="280904"/>
          </a:xfrm>
          <a:prstGeom prst="rect">
            <a:avLst/>
          </a:prstGeom>
        </p:spPr>
      </p:pic>
      <p:sp>
        <p:nvSpPr>
          <p:cNvPr id="34" name="Text 29"/>
          <p:cNvSpPr/>
          <p:nvPr/>
        </p:nvSpPr>
        <p:spPr>
          <a:xfrm>
            <a:off x="5084064" y="3813048"/>
            <a:ext cx="1993392" cy="256032"/>
          </a:xfrm>
          <a:prstGeom prst="rect">
            <a:avLst/>
          </a:prstGeom>
          <a:noFill/>
          <a:ln/>
        </p:spPr>
        <p:txBody>
          <a:bodyPr wrap="square" rtlCol="0" anchor="ctr"/>
          <a:lstStyle/>
          <a:p>
            <a:pPr marL="0" indent="0" algn="ctr">
              <a:buNone/>
            </a:pPr>
            <a:r>
              <a:rPr lang="en-US" sz="1400" b="1" kern="0" spc="50" dirty="0">
                <a:solidFill>
                  <a:srgbClr val="FFFFFF"/>
                </a:solidFill>
                <a:latin typeface="Calibri" pitchFamily="34" charset="0"/>
                <a:ea typeface="Calibri" pitchFamily="34" charset="-122"/>
                <a:cs typeface="Calibri" pitchFamily="34" charset="-120"/>
              </a:rPr>
              <a:t>COMPARE</a:t>
            </a:r>
            <a:endParaRPr lang="en-US" sz="1400" dirty="0"/>
          </a:p>
        </p:txBody>
      </p:sp>
      <p:sp>
        <p:nvSpPr>
          <p:cNvPr id="35" name="Text 30"/>
          <p:cNvSpPr/>
          <p:nvPr/>
        </p:nvSpPr>
        <p:spPr>
          <a:xfrm>
            <a:off x="5148072" y="4105656"/>
            <a:ext cx="1865376" cy="594360"/>
          </a:xfrm>
          <a:prstGeom prst="rect">
            <a:avLst/>
          </a:prstGeom>
          <a:noFill/>
          <a:ln/>
        </p:spPr>
        <p:txBody>
          <a:bodyPr wrap="square" rtlCol="0" anchor="t"/>
          <a:lstStyle/>
          <a:p>
            <a:pPr marL="0" indent="0" algn="ctr">
              <a:buNone/>
            </a:pPr>
            <a:r>
              <a:rPr lang="en-US" sz="1200" dirty="0">
                <a:solidFill>
                  <a:srgbClr val="C7D6F5"/>
                </a:solidFill>
                <a:latin typeface="Calibri" pitchFamily="34" charset="0"/>
                <a:ea typeface="Calibri" pitchFamily="34" charset="-122"/>
                <a:cs typeface="Calibri" pitchFamily="34" charset="-120"/>
              </a:rPr>
              <a:t>Specifications, price, MOQ, lead time &amp; supplier quality.</a:t>
            </a:r>
            <a:endParaRPr lang="en-US" sz="1200" dirty="0"/>
          </a:p>
        </p:txBody>
      </p:sp>
      <p:sp>
        <p:nvSpPr>
          <p:cNvPr id="36" name="Shape 31"/>
          <p:cNvSpPr/>
          <p:nvPr/>
        </p:nvSpPr>
        <p:spPr>
          <a:xfrm>
            <a:off x="7315200" y="2880360"/>
            <a:ext cx="2103120" cy="1874520"/>
          </a:xfrm>
          <a:prstGeom prst="roundRect">
            <a:avLst>
              <a:gd name="adj" fmla="val 3902"/>
            </a:avLst>
          </a:prstGeom>
          <a:solidFill>
            <a:srgbClr val="132A54"/>
          </a:solidFill>
          <a:ln w="12700">
            <a:solidFill>
              <a:srgbClr val="2A4A86"/>
            </a:solidFill>
            <a:prstDash val="solid"/>
          </a:ln>
        </p:spPr>
      </p:sp>
      <p:sp>
        <p:nvSpPr>
          <p:cNvPr id="37" name="Shape 32"/>
          <p:cNvSpPr/>
          <p:nvPr/>
        </p:nvSpPr>
        <p:spPr>
          <a:xfrm>
            <a:off x="8074152" y="3081528"/>
            <a:ext cx="585216" cy="585216"/>
          </a:xfrm>
          <a:prstGeom prst="ellipse">
            <a:avLst/>
          </a:prstGeom>
          <a:solidFill>
            <a:srgbClr val="2F6FED"/>
          </a:solidFill>
          <a:ln/>
        </p:spPr>
      </p:sp>
      <p:pic>
        <p:nvPicPr>
          <p:cNvPr id="38" name="Image 3" descr="/home/claude/electromart/icons/users.png"/>
          <p:cNvPicPr>
            <a:picLocks noChangeAspect="1"/>
          </p:cNvPicPr>
          <p:nvPr/>
        </p:nvPicPr>
        <p:blipFill>
          <a:blip r:embed="rId6"/>
          <a:stretch>
            <a:fillRect/>
          </a:stretch>
        </p:blipFill>
        <p:spPr>
          <a:xfrm>
            <a:off x="8226308" y="3233684"/>
            <a:ext cx="280904" cy="280904"/>
          </a:xfrm>
          <a:prstGeom prst="rect">
            <a:avLst/>
          </a:prstGeom>
        </p:spPr>
      </p:pic>
      <p:sp>
        <p:nvSpPr>
          <p:cNvPr id="39" name="Text 33"/>
          <p:cNvSpPr/>
          <p:nvPr/>
        </p:nvSpPr>
        <p:spPr>
          <a:xfrm>
            <a:off x="7370064" y="3813048"/>
            <a:ext cx="1993392" cy="256032"/>
          </a:xfrm>
          <a:prstGeom prst="rect">
            <a:avLst/>
          </a:prstGeom>
          <a:noFill/>
          <a:ln/>
        </p:spPr>
        <p:txBody>
          <a:bodyPr wrap="square" rtlCol="0" anchor="ctr"/>
          <a:lstStyle/>
          <a:p>
            <a:pPr marL="0" indent="0" algn="ctr">
              <a:buNone/>
            </a:pPr>
            <a:r>
              <a:rPr lang="en-US" sz="1400" b="1" kern="0" spc="50" dirty="0">
                <a:solidFill>
                  <a:srgbClr val="FFFFFF"/>
                </a:solidFill>
                <a:latin typeface="Calibri" pitchFamily="34" charset="0"/>
                <a:ea typeface="Calibri" pitchFamily="34" charset="-122"/>
                <a:cs typeface="Calibri" pitchFamily="34" charset="-120"/>
              </a:rPr>
              <a:t>COLLABORATE</a:t>
            </a:r>
            <a:endParaRPr lang="en-US" sz="1400" dirty="0"/>
          </a:p>
        </p:txBody>
      </p:sp>
      <p:sp>
        <p:nvSpPr>
          <p:cNvPr id="40" name="Text 34"/>
          <p:cNvSpPr/>
          <p:nvPr/>
        </p:nvSpPr>
        <p:spPr>
          <a:xfrm>
            <a:off x="7434072" y="4105656"/>
            <a:ext cx="1865376" cy="594360"/>
          </a:xfrm>
          <a:prstGeom prst="rect">
            <a:avLst/>
          </a:prstGeom>
          <a:noFill/>
          <a:ln/>
        </p:spPr>
        <p:txBody>
          <a:bodyPr wrap="square" rtlCol="0" anchor="t"/>
          <a:lstStyle/>
          <a:p>
            <a:pPr marL="0" indent="0" algn="ctr">
              <a:buNone/>
            </a:pPr>
            <a:r>
              <a:rPr lang="en-US" sz="1200" dirty="0">
                <a:solidFill>
                  <a:srgbClr val="C7D6F5"/>
                </a:solidFill>
                <a:latin typeface="Calibri" pitchFamily="34" charset="0"/>
                <a:ea typeface="Calibri" pitchFamily="34" charset="-122"/>
                <a:cs typeface="Calibri" pitchFamily="34" charset="-120"/>
              </a:rPr>
              <a:t>Community + supplier interaction solves sourcing problems.</a:t>
            </a:r>
            <a:endParaRPr lang="en-US" sz="1200" dirty="0"/>
          </a:p>
        </p:txBody>
      </p:sp>
      <p:sp>
        <p:nvSpPr>
          <p:cNvPr id="41" name="Shape 35"/>
          <p:cNvSpPr/>
          <p:nvPr/>
        </p:nvSpPr>
        <p:spPr>
          <a:xfrm>
            <a:off x="9601200" y="2880360"/>
            <a:ext cx="2103120" cy="1874520"/>
          </a:xfrm>
          <a:prstGeom prst="roundRect">
            <a:avLst>
              <a:gd name="adj" fmla="val 3902"/>
            </a:avLst>
          </a:prstGeom>
          <a:solidFill>
            <a:srgbClr val="132A54"/>
          </a:solidFill>
          <a:ln w="12700">
            <a:solidFill>
              <a:srgbClr val="2A4A86"/>
            </a:solidFill>
            <a:prstDash val="solid"/>
          </a:ln>
        </p:spPr>
      </p:sp>
      <p:sp>
        <p:nvSpPr>
          <p:cNvPr id="42" name="Shape 36"/>
          <p:cNvSpPr/>
          <p:nvPr/>
        </p:nvSpPr>
        <p:spPr>
          <a:xfrm>
            <a:off x="10360152" y="3081528"/>
            <a:ext cx="585216" cy="585216"/>
          </a:xfrm>
          <a:prstGeom prst="ellipse">
            <a:avLst/>
          </a:prstGeom>
          <a:solidFill>
            <a:srgbClr val="2F6FED"/>
          </a:solidFill>
          <a:ln/>
        </p:spPr>
      </p:sp>
      <p:pic>
        <p:nvPicPr>
          <p:cNvPr id="43" name="Image 4" descr="/home/claude/electromart/icons/send.png"/>
          <p:cNvPicPr>
            <a:picLocks noChangeAspect="1"/>
          </p:cNvPicPr>
          <p:nvPr/>
        </p:nvPicPr>
        <p:blipFill>
          <a:blip r:embed="rId7"/>
          <a:stretch>
            <a:fillRect/>
          </a:stretch>
        </p:blipFill>
        <p:spPr>
          <a:xfrm>
            <a:off x="10512308" y="3233684"/>
            <a:ext cx="280904" cy="280904"/>
          </a:xfrm>
          <a:prstGeom prst="rect">
            <a:avLst/>
          </a:prstGeom>
        </p:spPr>
      </p:pic>
      <p:sp>
        <p:nvSpPr>
          <p:cNvPr id="44" name="Text 37"/>
          <p:cNvSpPr/>
          <p:nvPr/>
        </p:nvSpPr>
        <p:spPr>
          <a:xfrm>
            <a:off x="9656064" y="3813048"/>
            <a:ext cx="1993392" cy="256032"/>
          </a:xfrm>
          <a:prstGeom prst="rect">
            <a:avLst/>
          </a:prstGeom>
          <a:noFill/>
          <a:ln/>
        </p:spPr>
        <p:txBody>
          <a:bodyPr wrap="square" rtlCol="0" anchor="ctr"/>
          <a:lstStyle/>
          <a:p>
            <a:pPr marL="0" indent="0" algn="ctr">
              <a:buNone/>
            </a:pPr>
            <a:r>
              <a:rPr lang="en-US" sz="1400" b="1" kern="0" spc="50" dirty="0">
                <a:solidFill>
                  <a:srgbClr val="FFFFFF"/>
                </a:solidFill>
                <a:latin typeface="Calibri" pitchFamily="34" charset="0"/>
                <a:ea typeface="Calibri" pitchFamily="34" charset="-122"/>
                <a:cs typeface="Calibri" pitchFamily="34" charset="-120"/>
              </a:rPr>
              <a:t>PROCURE</a:t>
            </a:r>
            <a:endParaRPr lang="en-US" sz="1400" dirty="0"/>
          </a:p>
        </p:txBody>
      </p:sp>
      <p:sp>
        <p:nvSpPr>
          <p:cNvPr id="45" name="Text 38"/>
          <p:cNvSpPr/>
          <p:nvPr/>
        </p:nvSpPr>
        <p:spPr>
          <a:xfrm>
            <a:off x="9720072" y="4105656"/>
            <a:ext cx="1865376" cy="594360"/>
          </a:xfrm>
          <a:prstGeom prst="rect">
            <a:avLst/>
          </a:prstGeom>
          <a:noFill/>
          <a:ln/>
        </p:spPr>
        <p:txBody>
          <a:bodyPr wrap="square" rtlCol="0" anchor="t"/>
          <a:lstStyle/>
          <a:p>
            <a:pPr marL="0" indent="0" algn="ctr">
              <a:buNone/>
            </a:pPr>
            <a:r>
              <a:rPr lang="en-US" sz="1200" dirty="0">
                <a:solidFill>
                  <a:srgbClr val="C7D6F5"/>
                </a:solidFill>
                <a:latin typeface="Calibri" pitchFamily="34" charset="0"/>
                <a:ea typeface="Calibri" pitchFamily="34" charset="-122"/>
                <a:cs typeface="Calibri" pitchFamily="34" charset="-120"/>
              </a:rPr>
              <a:t>Requirement → RFQ → quotation → supplier selection.</a:t>
            </a:r>
            <a:endParaRPr lang="en-US" sz="1200" dirty="0"/>
          </a:p>
        </p:txBody>
      </p:sp>
      <p:sp>
        <p:nvSpPr>
          <p:cNvPr id="46" name="Shape 39"/>
          <p:cNvSpPr/>
          <p:nvPr/>
        </p:nvSpPr>
        <p:spPr>
          <a:xfrm>
            <a:off x="822960" y="4983480"/>
            <a:ext cx="10515600" cy="777240"/>
          </a:xfrm>
          <a:prstGeom prst="roundRect">
            <a:avLst>
              <a:gd name="adj" fmla="val 9412"/>
            </a:avLst>
          </a:prstGeom>
          <a:solidFill>
            <a:srgbClr val="2F6FED"/>
          </a:solidFill>
          <a:ln/>
        </p:spPr>
      </p:sp>
      <p:sp>
        <p:nvSpPr>
          <p:cNvPr id="47" name="Text 40"/>
          <p:cNvSpPr/>
          <p:nvPr/>
        </p:nvSpPr>
        <p:spPr>
          <a:xfrm>
            <a:off x="1005840" y="4983480"/>
            <a:ext cx="10149840" cy="777240"/>
          </a:xfrm>
          <a:prstGeom prst="rect">
            <a:avLst/>
          </a:prstGeom>
          <a:noFill/>
          <a:ln/>
        </p:spPr>
        <p:txBody>
          <a:bodyPr wrap="square"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“ElectroMart aims to become the trusted digital layer connecting India’s electronics component ecosystem.”</a:t>
            </a:r>
            <a:endParaRPr lang="en-US" sz="1400" dirty="0"/>
          </a:p>
        </p:txBody>
      </p:sp>
      <p:sp>
        <p:nvSpPr>
          <p:cNvPr id="48" name="Shape 41"/>
          <p:cNvSpPr/>
          <p:nvPr/>
        </p:nvSpPr>
        <p:spPr>
          <a:xfrm>
            <a:off x="2666848" y="5989320"/>
            <a:ext cx="1508760" cy="365760"/>
          </a:xfrm>
          <a:prstGeom prst="roundRect">
            <a:avLst>
              <a:gd name="adj" fmla="val 15000"/>
            </a:avLst>
          </a:prstGeom>
          <a:solidFill>
            <a:srgbClr val="2F6FED"/>
          </a:solidFill>
          <a:ln w="12700">
            <a:solidFill>
              <a:srgbClr val="2A4A86"/>
            </a:solidFill>
            <a:prstDash val="solid"/>
          </a:ln>
        </p:spPr>
      </p:sp>
      <p:sp>
        <p:nvSpPr>
          <p:cNvPr id="49" name="Text 42"/>
          <p:cNvSpPr/>
          <p:nvPr/>
        </p:nvSpPr>
        <p:spPr>
          <a:xfrm>
            <a:off x="2666848" y="5989320"/>
            <a:ext cx="15087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Concept</a:t>
            </a:r>
            <a:endParaRPr lang="en-US" sz="1050" dirty="0"/>
          </a:p>
        </p:txBody>
      </p:sp>
      <p:sp>
        <p:nvSpPr>
          <p:cNvPr id="50" name="Text 43"/>
          <p:cNvSpPr/>
          <p:nvPr/>
        </p:nvSpPr>
        <p:spPr>
          <a:xfrm>
            <a:off x="4175608" y="5989320"/>
            <a:ext cx="274320" cy="365760"/>
          </a:xfrm>
          <a:prstGeom prst="rect">
            <a:avLst/>
          </a:prstGeom>
          <a:noFill/>
          <a:ln/>
        </p:spPr>
        <p:txBody>
          <a:bodyPr wrap="square" rtlCol="0" anchor="ctr"/>
          <a:lstStyle/>
          <a:p>
            <a:pPr marL="0" indent="0" algn="ctr">
              <a:buNone/>
            </a:pPr>
            <a:r>
              <a:rPr lang="en-US" sz="1300" dirty="0">
                <a:solidFill>
                  <a:srgbClr val="7FA6FF"/>
                </a:solidFill>
                <a:latin typeface="Calibri" pitchFamily="34" charset="0"/>
                <a:ea typeface="Calibri" pitchFamily="34" charset="-122"/>
                <a:cs typeface="Calibri" pitchFamily="34" charset="-120"/>
              </a:rPr>
              <a:t>›</a:t>
            </a:r>
            <a:endParaRPr lang="en-US" sz="1300" dirty="0"/>
          </a:p>
        </p:txBody>
      </p:sp>
      <p:sp>
        <p:nvSpPr>
          <p:cNvPr id="51" name="Shape 44"/>
          <p:cNvSpPr/>
          <p:nvPr/>
        </p:nvSpPr>
        <p:spPr>
          <a:xfrm>
            <a:off x="4449928" y="5989320"/>
            <a:ext cx="1508760" cy="365760"/>
          </a:xfrm>
          <a:prstGeom prst="roundRect">
            <a:avLst>
              <a:gd name="adj" fmla="val 15000"/>
            </a:avLst>
          </a:prstGeom>
          <a:solidFill>
            <a:srgbClr val="132A54"/>
          </a:solidFill>
          <a:ln w="12700">
            <a:solidFill>
              <a:srgbClr val="2A4A86"/>
            </a:solidFill>
            <a:prstDash val="solid"/>
          </a:ln>
        </p:spPr>
      </p:sp>
      <p:sp>
        <p:nvSpPr>
          <p:cNvPr id="52" name="Text 45"/>
          <p:cNvSpPr/>
          <p:nvPr/>
        </p:nvSpPr>
        <p:spPr>
          <a:xfrm>
            <a:off x="4449928" y="5989320"/>
            <a:ext cx="15087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Prototype</a:t>
            </a:r>
            <a:endParaRPr lang="en-US" sz="1050" dirty="0"/>
          </a:p>
        </p:txBody>
      </p:sp>
      <p:sp>
        <p:nvSpPr>
          <p:cNvPr id="53" name="Text 46"/>
          <p:cNvSpPr/>
          <p:nvPr/>
        </p:nvSpPr>
        <p:spPr>
          <a:xfrm>
            <a:off x="5958688" y="5989320"/>
            <a:ext cx="274320" cy="365760"/>
          </a:xfrm>
          <a:prstGeom prst="rect">
            <a:avLst/>
          </a:prstGeom>
          <a:noFill/>
          <a:ln/>
        </p:spPr>
        <p:txBody>
          <a:bodyPr wrap="square" rtlCol="0" anchor="ctr"/>
          <a:lstStyle/>
          <a:p>
            <a:pPr marL="0" indent="0" algn="ctr">
              <a:buNone/>
            </a:pPr>
            <a:r>
              <a:rPr lang="en-US" sz="1300" dirty="0">
                <a:solidFill>
                  <a:srgbClr val="7FA6FF"/>
                </a:solidFill>
                <a:latin typeface="Calibri" pitchFamily="34" charset="0"/>
                <a:ea typeface="Calibri" pitchFamily="34" charset="-122"/>
                <a:cs typeface="Calibri" pitchFamily="34" charset="-120"/>
              </a:rPr>
              <a:t>›</a:t>
            </a:r>
            <a:endParaRPr lang="en-US" sz="1300" dirty="0"/>
          </a:p>
        </p:txBody>
      </p:sp>
      <p:sp>
        <p:nvSpPr>
          <p:cNvPr id="54" name="Shape 47"/>
          <p:cNvSpPr/>
          <p:nvPr/>
        </p:nvSpPr>
        <p:spPr>
          <a:xfrm>
            <a:off x="6233008" y="5989320"/>
            <a:ext cx="1508760" cy="365760"/>
          </a:xfrm>
          <a:prstGeom prst="roundRect">
            <a:avLst>
              <a:gd name="adj" fmla="val 15000"/>
            </a:avLst>
          </a:prstGeom>
          <a:solidFill>
            <a:srgbClr val="132A54"/>
          </a:solidFill>
          <a:ln w="12700">
            <a:solidFill>
              <a:srgbClr val="2A4A86"/>
            </a:solidFill>
            <a:prstDash val="solid"/>
          </a:ln>
        </p:spPr>
      </p:sp>
      <p:sp>
        <p:nvSpPr>
          <p:cNvPr id="55" name="Text 48"/>
          <p:cNvSpPr/>
          <p:nvPr/>
        </p:nvSpPr>
        <p:spPr>
          <a:xfrm>
            <a:off x="6233008" y="5989320"/>
            <a:ext cx="15087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Pilot</a:t>
            </a:r>
            <a:endParaRPr lang="en-US" sz="1050" dirty="0"/>
          </a:p>
        </p:txBody>
      </p:sp>
      <p:sp>
        <p:nvSpPr>
          <p:cNvPr id="56" name="Text 49"/>
          <p:cNvSpPr/>
          <p:nvPr/>
        </p:nvSpPr>
        <p:spPr>
          <a:xfrm>
            <a:off x="7741768" y="5989320"/>
            <a:ext cx="274320" cy="365760"/>
          </a:xfrm>
          <a:prstGeom prst="rect">
            <a:avLst/>
          </a:prstGeom>
          <a:noFill/>
          <a:ln/>
        </p:spPr>
        <p:txBody>
          <a:bodyPr wrap="square" rtlCol="0" anchor="ctr"/>
          <a:lstStyle/>
          <a:p>
            <a:pPr marL="0" indent="0" algn="ctr">
              <a:buNone/>
            </a:pPr>
            <a:r>
              <a:rPr lang="en-US" sz="1300" dirty="0">
                <a:solidFill>
                  <a:srgbClr val="7FA6FF"/>
                </a:solidFill>
                <a:latin typeface="Calibri" pitchFamily="34" charset="0"/>
                <a:ea typeface="Calibri" pitchFamily="34" charset="-122"/>
                <a:cs typeface="Calibri" pitchFamily="34" charset="-120"/>
              </a:rPr>
              <a:t>›</a:t>
            </a:r>
            <a:endParaRPr lang="en-US" sz="1300" dirty="0"/>
          </a:p>
        </p:txBody>
      </p:sp>
      <p:sp>
        <p:nvSpPr>
          <p:cNvPr id="57" name="Shape 50"/>
          <p:cNvSpPr/>
          <p:nvPr/>
        </p:nvSpPr>
        <p:spPr>
          <a:xfrm>
            <a:off x="8016088" y="5989320"/>
            <a:ext cx="1508760" cy="365760"/>
          </a:xfrm>
          <a:prstGeom prst="roundRect">
            <a:avLst>
              <a:gd name="adj" fmla="val 15000"/>
            </a:avLst>
          </a:prstGeom>
          <a:solidFill>
            <a:srgbClr val="132A54"/>
          </a:solidFill>
          <a:ln w="12700">
            <a:solidFill>
              <a:srgbClr val="2A4A86"/>
            </a:solidFill>
            <a:prstDash val="solid"/>
          </a:ln>
        </p:spPr>
      </p:sp>
      <p:sp>
        <p:nvSpPr>
          <p:cNvPr id="58" name="Text 51"/>
          <p:cNvSpPr/>
          <p:nvPr/>
        </p:nvSpPr>
        <p:spPr>
          <a:xfrm>
            <a:off x="8016088" y="5989320"/>
            <a:ext cx="15087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Scale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2976</Words>
  <Application>Microsoft Office PowerPoint</Application>
  <PresentationFormat>Widescreen</PresentationFormat>
  <Paragraphs>451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SURYANSHI CHAUHAN</cp:lastModifiedBy>
  <cp:revision>3</cp:revision>
  <dcterms:created xsi:type="dcterms:W3CDTF">2026-08-11T19:00:54Z</dcterms:created>
  <dcterms:modified xsi:type="dcterms:W3CDTF">2026-08-12T19:21:06Z</dcterms:modified>
</cp:coreProperties>
</file>